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mice are the dominant preclinical model, but their predictive value is contested and the literature is contradictory. Crucially, previous comparisons were descriptive and disconnected from genomic architecture — nobody linked conservation to sequence evolution or cis-regulation.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Design: three stimulus categories — vaccination, acute infection and injury — each with matched mouse and human blood transcriptomes. DMD (mdx) is our biological negative control. Everything is harmonised: limma with empirical Bayes, covariate adjustment, and iterative downsampling of human subjects to n = 5 over 200 iterations to remove pseudo-significance.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result: granularity matters. Individual orthologous genes correlate only moderately, but when we collapse the transcriptome into Blood Transcription Modules the correlation jumps to 0.89–0.97 (trauma being the exception). Shared leading-edge genes account for 67.5–79% of mouse LEGs — the translational signal lives in the leading edge, not in all 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result: translatability scales with the strength of the perturbation. Acute bacterial infection and severe injury engage conserved core mammalian programs (rho 0.41–0.59), whereas single-dose subunit/inactivated vaccines stay near baseline (rho −0.32 to 0.27). And timing rarely matches chronologically: mouse 2–6 h aligns with the human days 1–3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result: prediction. Mouse signatures classify the direction of human gene regulation, but module-level models clearly beat gene-level ones — 0.84–0.98 ROC-AUC versus 0.64–0.74 — and both beat the DMD negative control (0.48–0.61). Downregulation is easier to predict than upregulation at early time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result: why individual genes diverge. Coding-sequence constraint and trans-regulatory availability reduce expression divergence, while enhancer multiplicity and CRE turnover increase it. The association is small in magnitude but highly significant, and it is directional: sequence constraint ↔︎ stability; regulatory plasticity ↔︎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Fifth result: the multilayer model. Mouse rank and direction alone do not transfer at all — R² = 0.001 and ROC-AUC 0.511. Adding the biological layers raises the random forest to R² = 0.234 for human rank and 0.849 for directional concordance. Shared-LEG classification stays hard; the lasso is only marginally best there (0.617/0.627). Everything is evaluated by leave-one-condition-out cross-validation, so every gene is scored by a model that never saw its pathogen.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Take-aways: translatability is not a fixed property of the mouse; it is a function of granularity, stimulus intensity and temporal alignment. The model outputs four complementary scores that can be used to prioritise genes. Be honest about the limitations: small murine cohorts, two inbred strains, single-dose vaccines, blood only, and one-to-one orthologs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pointing to the deliverables: the full open-source pipeline, the project site that documents the methodology and the notebook map, and the step-by-step notebook that applies the trained models to a new mouse dataset — runnable in the browser via Binder. Everything is open so the community can audit and 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000000"/>
                </a:solidFill>
                <a:latin typeface="Source Serif 4"/>
              </a:rPr>
              <a:t>From mice to humans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377"/>
                </a:solidFill>
                <a:latin typeface="IBM Plex Sans"/>
              </a:rPr>
              <a:t>A multi-omic predictive framework for translational immunology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3116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IBM Plex Mono"/>
              </a:rPr>
              <a:t>Wasim Aluísio Prates-Syed · Lira AA · Cortes N · Silva JDQ · Hamaguchi B · Carvalho E · Castillo-Chávez A · Durães-Carvalho R · Cabral-Marques O · Sabino EC · Krieger JE · Hagan T · Cabral-Miranda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95243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377"/>
                </a:solidFill>
                <a:latin typeface="IBM Plex Mono"/>
              </a:rPr>
              <a:t>Laboratory of Genetics and Molecular Cardiology, InCor — FMUSP</a:t>
            </a:r>
            <a:r>
              <a:rPr sz="900" b="0" i="0">
                <a:solidFill>
                  <a:srgbClr val="5B6377"/>
                </a:solidFill>
                <a:latin typeface="IBM Plex Mono"/>
              </a:rPr>
              <a:t>
</a:t>
            </a:r>
            <a:r>
              <a:rPr sz="900" b="0" i="0">
                <a:solidFill>
                  <a:srgbClr val="5B6377"/>
                </a:solidFill>
                <a:latin typeface="IBM Plex Mono"/>
              </a:rPr>
              <a:t>September 2026</a:t>
            </a:r>
          </a:p>
        </p:txBody>
      </p:sp>
      <p:pic>
        <p:nvPicPr>
          <p:cNvPr id="11" name="Picture 10" descr="01-graphical-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1234440"/>
            <a:ext cx="5277459" cy="3243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01 ·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Source Serif 4"/>
              </a:rPr>
              <a:t>Mice are the workhorse — but how well do they </a:t>
            </a:r>
            <a:r>
              <a:rPr sz="2600" b="0" i="1">
                <a:solidFill>
                  <a:srgbClr val="000000"/>
                </a:solidFill>
                <a:latin typeface="Source Serif 4"/>
              </a:rPr>
              <a:t>actually</a:t>
            </a:r>
            <a:r>
              <a:rPr sz="2600" b="0" i="0">
                <a:solidFill>
                  <a:srgbClr val="000000"/>
                </a:solidFill>
                <a:latin typeface="Source Serif 4"/>
              </a:rPr>
              <a:t> predict human immunity?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37564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Murine models underpin preclinical vaccine research, yet their translational value remains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contested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, contributing to clinical trial failures.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Prior cross-species comparisons were largely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descriptive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: gene-centric, linear, and disconnected from sequence evolution and cis-regulatory architecture.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The consequence: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contradictory reports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and no practical framework to prioritise targets for human translation.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84704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4361EE"/>
                </a:solidFill>
                <a:latin typeface="Source Serif 4"/>
              </a:rPr>
              <a:t>201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73552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5B6377"/>
                </a:solidFill>
                <a:latin typeface="IBM Plex Mono"/>
              </a:rPr>
              <a:t>MOUSE IMMUNIZATION DATASETS SCREENED FROM GEO (FIG. 1A)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2584704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000000"/>
                </a:solidFill>
                <a:latin typeface="Source Serif 4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273552"/>
            <a:ext cx="525459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5B6377"/>
                </a:solidFill>
                <a:latin typeface="IBM Plex Mono"/>
              </a:rPr>
              <a:t>MATCHED MOUSE–HUMAN CONDITIONS CARRIED FORWARD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02 · STUDY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Source Serif 4"/>
              </a:rPr>
              <a:t>One framework, three stimulus categories, matched across species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2567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Vaccination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— Fluad® (influenza), Engerix B® (hepatitis B)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Infection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— </a:t>
            </a:r>
            <a:r>
              <a:rPr sz="1200" b="0" i="1">
                <a:solidFill>
                  <a:srgbClr val="1B2130"/>
                </a:solidFill>
                <a:latin typeface="IBM Plex Sans"/>
              </a:rPr>
              <a:t>S. aureus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, </a:t>
            </a:r>
            <a:r>
              <a:rPr sz="1200" b="0" i="1">
                <a:solidFill>
                  <a:srgbClr val="1B2130"/>
                </a:solidFill>
                <a:latin typeface="IBM Plex Sans"/>
              </a:rPr>
              <a:t>E. coli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Injury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— burn, trauma-haemorrhage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+ DMD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(mdx mouse) as a biological negative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5343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IBM Plex Sans"/>
              </a:rPr>
              <a:t>Blood transcriptomes · GEO / BioProject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
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limma + empirical Bayes · covariates (age, sex, ethnicity)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
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human downsampled to n = 5, 200 iterations, median statistics</a:t>
            </a:r>
          </a:p>
        </p:txBody>
      </p:sp>
      <p:pic>
        <p:nvPicPr>
          <p:cNvPr id="11" name="Picture 10" descr="fig1b-tim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521" y="960120"/>
            <a:ext cx="524903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47307" y="559612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IBM Plex Mono"/>
              </a:rPr>
              <a:t>Fig. 1b — experimental timelines for matched mouse and human datasets across vaccination, infection and injury (GSE120661 · GSE124689 · GSE19668 · GSE33341 · GSE7404 · GSE37069 · GSE36809).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03 · RESULT — ANALYTICAL GRANULARITY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Source Serif 4"/>
              </a:rPr>
              <a:t>Cells disagree. Pathways </a:t>
            </a:r>
            <a:r>
              <a:rPr sz="2300" b="0" i="1">
                <a:solidFill>
                  <a:srgbClr val="000000"/>
                </a:solidFill>
                <a:latin typeface="Source Serif 4"/>
              </a:rPr>
              <a:t>agree</a:t>
            </a:r>
            <a:r>
              <a:rPr sz="2300" b="0" i="0">
                <a:solidFill>
                  <a:srgbClr val="000000"/>
                </a:solidFill>
                <a:latin typeface="Source Serif 4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6050"/>
            <a:ext cx="50031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4361EE"/>
                </a:solidFill>
                <a:latin typeface="Source Serif 4"/>
              </a:rPr>
              <a:t>0.89–0.97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19986"/>
            <a:ext cx="50031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5B6377"/>
                </a:solidFill>
                <a:latin typeface="IBM Plex Mono"/>
              </a:rPr>
              <a:t>MODULE-LEVEL (BTM NES) PEARSON CORRELATION BETWEEN SPECIES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4967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Gene-level effect sizes correlate only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moderately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; module activation is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highly conserved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Shared leading-edge genes =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67.5–79%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of mouse LEGs in enriched modules (70.5% pooled).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Collapsing dimensionality into BTMs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reduces noise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and exposes a robust translational signature.</a:t>
            </a:r>
          </a:p>
        </p:txBody>
      </p:sp>
      <p:pic>
        <p:nvPicPr>
          <p:cNvPr id="12" name="Picture 11" descr="fig4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960120"/>
            <a:ext cx="5277459" cy="33491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7307" y="4419005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IBM Plex Mono"/>
              </a:rPr>
              <a:t>Fig. 4a–c — BTM module-level correlation (a) and classification performance (b, c) across conditions. · Fig. 5a — shared leading-edge genes across BTM process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04 · RESULT — STIMULUS INTENSITY &amp;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Source Serif 4"/>
              </a:rPr>
              <a:t>Translatability scales with the </a:t>
            </a:r>
            <a:r>
              <a:rPr sz="2600" b="0" i="1">
                <a:solidFill>
                  <a:srgbClr val="000000"/>
                </a:solidFill>
                <a:latin typeface="Source Serif 4"/>
              </a:rPr>
              <a:t>strength</a:t>
            </a:r>
            <a:r>
              <a:rPr sz="2600" b="0" i="0">
                <a:solidFill>
                  <a:srgbClr val="000000"/>
                </a:solidFill>
                <a:latin typeface="Source Serif 4"/>
              </a:rPr>
              <a:t> of the perturbation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83284"/>
            <a:ext cx="5277459" cy="20116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130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IBM Plex Mono"/>
              </a:rPr>
              <a:t>INFECTION &amp; INJURY — CONSERVED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3075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4361EE"/>
                </a:solidFill>
                <a:latin typeface="Source Serif 4"/>
              </a:rPr>
              <a:t>ρ = 0.41–0.59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3309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IBM Plex Sans"/>
              </a:rPr>
              <a:t>Acute S. aureus , E. coli and burn engage evolutionarily stable, highly conserved programs.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8089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IBM Plex Sans"/>
              </a:rPr>
              <a:t>Effect-size difference (|ΔLog2FC|) significantly smaller than negative controls — WMW adjusted P &lt; 1 × 10⁻¹⁵.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7307" y="1383284"/>
            <a:ext cx="5277459" cy="20116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151130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IBM Plex Mono"/>
              </a:rPr>
              <a:t>SINGLE-DOSE VACCINATION — DIVERGES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3075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E9DB7"/>
                </a:solidFill>
                <a:latin typeface="Source Serif 4"/>
              </a:rPr>
              <a:t>ρ = −0.32–0.27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133092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IBM Plex Sans"/>
              </a:rPr>
              <a:t>Fluad® and Engerix B® fail to reach the systemic activation threshold, remaining near baseline controls.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58089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130"/>
                </a:solidFill>
                <a:latin typeface="IBM Plex Sans"/>
              </a:rPr>
              <a:t>Preclinical immunogenicity may require boosters or stronger adjuvants to emerge from species-specific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48152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377"/>
                </a:solidFill>
                <a:latin typeface="IBM Plex Mono"/>
              </a:rPr>
              <a:t>Timing ≠ chronology · mouse 2–6 h matches the human peak inflammatory window (days 1–3) → align by biological equivalence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05 · RESULT — CLASSIFICATION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Source Serif 4"/>
              </a:rPr>
              <a:t>Mouse signatures call human direction — best at </a:t>
            </a:r>
            <a:r>
              <a:rPr sz="2300" b="0" i="1">
                <a:solidFill>
                  <a:srgbClr val="000000"/>
                </a:solidFill>
                <a:latin typeface="Source Serif 4"/>
              </a:rPr>
              <a:t>module</a:t>
            </a:r>
            <a:r>
              <a:rPr sz="2300" b="0" i="0">
                <a:solidFill>
                  <a:srgbClr val="000000"/>
                </a:solidFill>
                <a:latin typeface="Source Serif 4"/>
              </a:rPr>
              <a:t>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25676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4361EE"/>
                </a:solidFill>
                <a:latin typeface="Source Serif 4"/>
              </a:rPr>
              <a:t>0.84–0.98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29612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5B6377"/>
                </a:solidFill>
                <a:latin typeface="IBM Plex Mono"/>
              </a:rPr>
              <a:t>ROC-AUC · MOUSE BTM SIGNATURES CLASSIFYING HUMAN MODULE 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5657" y="1725676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Source Serif 4"/>
              </a:rPr>
              <a:t>0.64–0.74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5657" y="2229612"/>
            <a:ext cx="236440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5B6377"/>
                </a:solidFill>
                <a:latin typeface="IBM Plex Mono"/>
              </a:rPr>
              <a:t>ROC-AUC · GENE-LEVEL MOUSE SIGNATURES IN INFECTION &amp; INJURY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2440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IBM Plex Sans"/>
              </a:rPr>
              <a:t>Biological negative control (DMD): ROC-AUC 0.48–0.61 — near random</a:t>
            </a:r>
          </a:p>
        </p:txBody>
      </p:sp>
      <p:pic>
        <p:nvPicPr>
          <p:cNvPr id="14" name="Picture 13" descr="fig3-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960120"/>
            <a:ext cx="5277459" cy="3117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47307" y="418760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IBM Plex Mono"/>
              </a:rPr>
              <a:t>Fig. 3a–b — ROC-AUC and PR-AUC matrices for mouse signatures classifying up- and downregulated human genes, with human self-prediction and the DMD negative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06 · RESULT — EVOLUTION &amp; 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Source Serif 4"/>
              </a:rPr>
              <a:t>Why genes </a:t>
            </a:r>
            <a:r>
              <a:rPr sz="2300" b="0" i="1">
                <a:solidFill>
                  <a:srgbClr val="000000"/>
                </a:solidFill>
                <a:latin typeface="Source Serif 4"/>
              </a:rPr>
              <a:t>diverge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605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IBM Plex Sans"/>
              </a:rPr>
              <a:t>Small per-gene effects, but a consistent direction: sequence constraint tracks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stability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; regulatory plasticity tracks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divergence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6778"/>
            <a:ext cx="5277459" cy="20116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3479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IBM Plex Mono"/>
              </a:rPr>
              <a:t>ASSOCIATED WITH LOWER |ΔLOG2FC|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5425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Higher protein sequence identity rho = −0.08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Greater TF availability and TF sharing rho = −0.017 / −0.013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Conserved promoter-like (PLS) signatures n.s.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80258"/>
            <a:ext cx="5277459" cy="20116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08274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IBM Plex Mono"/>
              </a:rPr>
              <a:t>ASSOCIATED WITH HIGHER |ΔLOG2FC|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2773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Greater Kimura (K80) evolutionary distance rho = 0.10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Enhancer multiplicity — pELS / dELS counts rho = 0.036 / 0.039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CRE turnover and CTCF-bound pELS bound rho = 0.042</a:t>
            </a:r>
          </a:p>
        </p:txBody>
      </p:sp>
      <p:pic>
        <p:nvPicPr>
          <p:cNvPr id="16" name="Picture 15" descr="fig6-evolution-re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353" y="960120"/>
            <a:ext cx="4223367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7307" y="559612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IBM Plex Mono"/>
              </a:rPr>
              <a:t>Fig. 6a–e — protein sequence identity and Kimura distance (a), transcription factor availability (b), cis-regulatory element abundance (c), CRE conservation and turnover (d) and CTCF binding (e) against |ΔLog2FC|.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07 · RESULT — MULTILAYER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Source Serif 4"/>
              </a:rPr>
              <a:t>Layers turn near-chance transfer into </a:t>
            </a:r>
            <a:r>
              <a:rPr sz="2300" b="0" i="1">
                <a:solidFill>
                  <a:srgbClr val="000000"/>
                </a:solidFill>
                <a:latin typeface="Source Serif 4"/>
              </a:rPr>
              <a:t>useful</a:t>
            </a:r>
            <a:r>
              <a:rPr sz="2300" b="0" i="0">
                <a:solidFill>
                  <a:srgbClr val="000000"/>
                </a:solidFill>
                <a:latin typeface="Source Serif 4"/>
              </a:rPr>
              <a:t>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605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Mouse rank alone: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R² = 0.001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· mouse direction alone: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ROC-AUC 0.511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— no transfer.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evolution, TF, CRE and BTM layers → random forest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R² = 0.234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for human rank and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ROC-AUC = 0.849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for direction.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1B0F7"/>
                </a:solidFill>
                <a:latin typeface="IBM Plex Sans"/>
              </a:rPr>
              <a:t>–  </a:t>
            </a:r>
            <a:r>
              <a:rPr sz="1100" b="0" i="0">
                <a:solidFill>
                  <a:srgbClr val="1B2130"/>
                </a:solidFill>
                <a:latin typeface="IBM Plex Sans"/>
              </a:rPr>
              <a:t>evolution, TF, CRE and BTM layers → random forest R² = 0.234 for human rank and ROC-AUC = 0.849 for direction.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Shared vs mouse-only LEGs stay hard: lasso best by a whisker (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0.617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predictive / </a:t>
            </a:r>
            <a:r>
              <a:rPr sz="1200" b="1" i="0">
                <a:solidFill>
                  <a:srgbClr val="1B2130"/>
                </a:solidFill>
                <a:latin typeface="IBM Plex Sans"/>
              </a:rPr>
              <a:t>0.627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explanatory).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2895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130"/>
                </a:solidFill>
                <a:latin typeface="IBM Plex Sans"/>
              </a:rPr>
              <a:t>LOCO-CV (4 folds) · nested layers: DGE Baseline → Full + BTM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
</a:t>
            </a:r>
            <a:r>
              <a:rPr sz="1200" b="0" i="0">
                <a:solidFill>
                  <a:srgbClr val="1B2130"/>
                </a:solidFill>
                <a:latin typeface="IBM Plex Sans"/>
              </a:rPr>
              <a:t> 4 algorithms: linear/logistic · lasso · random forest · neural network</a:t>
            </a:r>
          </a:p>
        </p:txBody>
      </p:sp>
      <p:pic>
        <p:nvPicPr>
          <p:cNvPr id="11" name="Picture 10" descr="fig7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960120"/>
            <a:ext cx="5277459" cy="2732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47307" y="3801948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7"/>
                </a:solidFill>
                <a:latin typeface="IBM Plex Mono"/>
              </a:rPr>
              <a:t>Fig. 7 — multilayer modelling: (a) layer integration workflow, (b) shared-LEG classification, (c) directional concordance and (d) human rank regression, across algorithms and feature layers.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5B6377"/>
                </a:solidFill>
                <a:latin typeface="IBM Plex Mono"/>
              </a:rPr>
              <a:t>08 · TAKE-AWAYS &amp;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Source Serif 4"/>
              </a:rPr>
              <a:t>Translatability is a function of </a:t>
            </a:r>
            <a:r>
              <a:rPr sz="2600" b="0" i="1">
                <a:solidFill>
                  <a:srgbClr val="000000"/>
                </a:solidFill>
                <a:latin typeface="Source Serif 4"/>
              </a:rPr>
              <a:t>granularity</a:t>
            </a:r>
            <a:r>
              <a:rPr sz="2600" b="0" i="0">
                <a:solidFill>
                  <a:srgbClr val="000000"/>
                </a:solidFill>
                <a:latin typeface="Source Serif 4"/>
              </a:rPr>
              <a:t>, </a:t>
            </a:r>
            <a:r>
              <a:rPr sz="2600" b="0" i="1">
                <a:solidFill>
                  <a:srgbClr val="000000"/>
                </a:solidFill>
                <a:latin typeface="Source Serif 4"/>
              </a:rPr>
              <a:t>intensity</a:t>
            </a:r>
            <a:r>
              <a:rPr sz="2600" b="0" i="0">
                <a:solidFill>
                  <a:srgbClr val="000000"/>
                </a:solidFill>
                <a:latin typeface="Source Serif 4"/>
              </a:rPr>
              <a:t> and </a:t>
            </a:r>
            <a:r>
              <a:rPr sz="2600" b="0" i="1">
                <a:solidFill>
                  <a:srgbClr val="000000"/>
                </a:solidFill>
                <a:latin typeface="Source Serif 4"/>
              </a:rPr>
              <a:t>timing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83284"/>
            <a:ext cx="5277459" cy="20116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130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IBM Plex Mono"/>
              </a:rPr>
              <a:t>WHAT THE STUDY ESTABLISHES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3075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Module-level analysis beats gene-level analysis for cross-species concordance.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Acute infection and injury translate; single-dose vaccination does not.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Evolutionary and regulatory layers carry a conserved signal beyond mouse DGE.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Four out-of-fold scores — score_shared , score_rank , score_direction , score_translational — prioritise candidate genes.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1383284"/>
            <a:ext cx="5277459" cy="20116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1511300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5B6377"/>
                </a:solidFill>
                <a:latin typeface="IBM Plex Mono"/>
              </a:rPr>
              <a:t>LIMITATIONS TO KEEP IN 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1730756"/>
            <a:ext cx="527745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Small murine cohorts; scarce harmonised metadata.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Two inbred strains only (C57BL/6, CB6F1) — strain choice shapes translatability.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Single-dose mouse vaccination vs. human prime-boost regimens.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A1B0F7"/>
                </a:solidFill>
                <a:latin typeface="IBM Plex Sans"/>
              </a:rPr>
              <a:t>•  </a:t>
            </a:r>
            <a:r>
              <a:rPr sz="1150" b="0" i="0">
                <a:solidFill>
                  <a:srgbClr val="1B2130"/>
                </a:solidFill>
                <a:latin typeface="IBM Plex Sans"/>
              </a:rPr>
              <a:t>Blood-based BTMs and one-to-one Ensembl orthologs — needs testing in other tissues and gene 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91440" cy="50292"/>
          </a:xfrm>
          <a:prstGeom prst="rect">
            <a:avLst/>
          </a:prstGeom>
          <a:solidFill>
            <a:srgbClr val="4DB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91440" cy="50292"/>
          </a:xfrm>
          <a:prstGeom prst="rect">
            <a:avLst/>
          </a:prstGeom>
          <a:solidFill>
            <a:srgbClr val="436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310896"/>
            <a:ext cx="91440" cy="50292"/>
          </a:xfrm>
          <a:prstGeom prst="rect">
            <a:avLst/>
          </a:prstGeom>
          <a:solidFill>
            <a:srgbClr val="A1B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Mouse2Human · Lab meeting · September 2026 · Genes and Immunity (under 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40">
                <a:solidFill>
                  <a:srgbClr val="5B6377"/>
                </a:solidFill>
                <a:latin typeface="IBM Plex Mono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1057839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Source Serif 4"/>
              </a:rPr>
              <a:t>Open code, trained models, and a notebook to </a:t>
            </a:r>
            <a:r>
              <a:rPr sz="2600" b="0" i="1">
                <a:solidFill>
                  <a:srgbClr val="000000"/>
                </a:solidFill>
                <a:latin typeface="Source Serif 4"/>
              </a:rPr>
              <a:t>apply</a:t>
            </a:r>
            <a:r>
              <a:rPr sz="2600" b="0" i="0">
                <a:solidFill>
                  <a:srgbClr val="000000"/>
                </a:solidFill>
                <a:latin typeface="Source Serif 4"/>
              </a:rPr>
              <a:t>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74723"/>
            <a:ext cx="350306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75891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50">
                <a:solidFill>
                  <a:srgbClr val="4DBBD5"/>
                </a:solidFill>
                <a:latin typeface="IBM Plex Mono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50212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Source Serif 4"/>
              </a:rPr>
              <a:t>mousetohuman_multilayer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61107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27173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Full R Markdown pipeline — curation, QC, limma DGE, GSEA, evolutionary and regulatory analyses, and the LOCO modelling script. Pinned with renv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17113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github.com/wapsyed/mousetohuman_multilayer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25315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361EE"/>
                </a:solidFill>
                <a:latin typeface="IBM Plex Mono"/>
              </a:rPr>
              <a:t>github.com/wapsyed/mousetohuman_multilayer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4314" y="1474723"/>
            <a:ext cx="350306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7194" y="1675891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50">
                <a:solidFill>
                  <a:srgbClr val="4DBBD5"/>
                </a:solidFill>
                <a:latin typeface="IBM Plex Mono"/>
              </a:rPr>
              <a:t>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194" y="1950212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Source Serif 4"/>
              </a:rPr>
              <a:t>Project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7194" y="2261107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7194" y="2527173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Overview, complete methodology — including the multilayer modelling pipeline — and the notebook map, in one 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194" y="3142488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wapsyed.github.io/mousetohuman_multilayer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7194" y="3925315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361EE"/>
                </a:solidFill>
                <a:latin typeface="IBM Plex Mono"/>
              </a:rPr>
              <a:t>wapsyed.github.io/mousetohuman_multilayer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1700" y="1474723"/>
            <a:ext cx="350306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4580" y="1675891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50">
                <a:solidFill>
                  <a:srgbClr val="4DBBD5"/>
                </a:solidFill>
                <a:latin typeface="IBM Plex Mono"/>
              </a:rPr>
              <a:t>APPLY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4580" y="1950212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Source Serif 4"/>
              </a:rPr>
              <a:t>mousetohuman_predict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4580" y="2261107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Apply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580" y="2527173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Step-by-step notebook: from DGE input to GSEA, model prediction and visualisation of the four translational scores. Runs in RStudio via Binder.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4580" y="3317113"/>
            <a:ext cx="3137306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130"/>
                </a:solidFill>
                <a:latin typeface="IBM Plex Sans"/>
              </a:rPr>
              <a:t>github.com/wapsyed/mousetohuman_predict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4580" y="3925315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361EE"/>
                </a:solidFill>
                <a:latin typeface="IBM Plex Mono"/>
              </a:rPr>
              <a:t>github.com/wapsyed/mousetohuman_predict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12283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Source Serif 4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mice to humans — project overview</dc:title>
  <dc:subject>Multi-omic predictive framework for translational immunology — lab meeting</dc:subject>
  <dc:creator>Wasim Aluísio Prates-Syed · Cabral-Miranda Lab</dc:creator>
  <cp:keywords/>
  <dc:description>Editable PowerPoint built from the deck (build_pptx.py).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