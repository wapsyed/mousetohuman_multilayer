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problem: mice are the dominant preclinical model, but their predictive value is contested and the literature is contradictory. Crucially, previous comparisons were descriptive and disconnected from genomic architecture — nobody linked conservation to sequence evolution or cis-regulation.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Design: three stimulus categories — vaccination, acute infection and injury — each with matched mouse and human blood transcriptomes. DMD (mdx) is our biological negative control. Everything is harmonised: limma with empirical Bayes, covariate adjustment, and iterative downsampling of human subjects to n = 5 over 200 iterations to remove pseudo-significance.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result: granularity matters. Individual orthologous genes correlate only moderately, but when we collapse the transcriptome into Blood Transcription Modules the correlation jumps to 0.89–0.97 (trauma being the exception). Shared leading-edge genes account for 67.5–79% of mouse LEGs — the translational signal lives in the leading edge, not in all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result: translatability scales with the strength of the perturbation. Acute bacterial infection and severe injury engage conserved core mammalian programs (rho 0.41–0.59), whereas single-dose subunit/inactivated vaccines stay near baseline (rho −0.32 to 0.27). And timing rarely matches chronologically: mouse 2–6 h aligns with the human days 1–3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Third result: prediction. Mouse signatures classify the direction of human gene regulation, but module-level models clearly beat gene-level ones — 0.84–0.98 ROC-AUC versus 0.64–0.74 — and both beat the DMD negative control (0.48–0.61). Downregulation is easier to predict than upregulation at early time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Fourth result: why individual genes diverge. Coding-sequence constraint and trans-regulatory availability reduce expression divergence, while enhancer multiplicity and CRE turnover increase it. The association is small in magnitude but highly significant, and it is directional: sequence constraint ↔ stability; regulatory plasticity ↔ divergence.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Fifth result: the multilayer model. Mouse rank and direction alone do not transfer at all — R² = 0.001 and ROC-AUC 0.511. Adding the biological layers raises the random forest to R² = 0.234 for human rank and 0.849 for directional concordance. Shared-LEG classification stays hard; the lasso is only marginally best there (0.617/0.627). Everything is evaluated by leave-one-condition-out cross-validation, so every gene is scored by a model that never saw its pathogen.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Take-aways: translatability is not a fixed property of the mouse; it is a function of granularity, stimulus intensity and temporal alignment. The model outputs four complementary scores that can be used to prioritise genes. Be honest about the limitations: small murine cohorts, two inbred strains, single-dose vaccines, blood only, and one-to-one orthologs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by pointing to the deliverables: the full open-source pipeline, the project site that documents the methodology and the notebook map, and the step-by-step notebook that applies the trained models to a new mouse dataset — runnable in the browser via Binder. Everything is open so the community can audit and retrain.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mice to humans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multi-omic predictive framework for translational immunology</a:t>
            </a:r>
          </a:p>
          <a:p>
            <a:pPr lvl="0" indent="0" marL="0">
              <a:buNone/>
            </a:pPr>
            <a:r>
              <a:rPr/>
              <a:t>Wasim Aluísio Prates-Syed · Lira AA · Cortes N · Silva JDQ · Hamaguchi B · Carvalho E · Castillo-Chávez A · Durães-Carvalho R · Cabral-Marques O · Sabino EC · Krieger JE · Hagan T · Cabral-Miranda G</a:t>
            </a:r>
          </a:p>
          <a:p>
            <a:pPr lvl="0" indent="0" marL="0">
              <a:buNone/>
            </a:pPr>
            <a:r>
              <a:rPr/>
              <a:t>Laboratory of Genetics and Molecular Cardiology, InCor — FMUSPSeptember 2026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 ·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Mice are the workhorse — but how well do they </a:t>
            </a:r>
            <a:r>
              <a:rPr i="1"/>
              <a:t>actually</a:t>
            </a:r>
            <a:r>
              <a:rPr/>
              <a:t> predict human immunity?</a:t>
            </a:r>
          </a:p>
          <a:p>
            <a:pPr lvl="0"/>
            <a:r>
              <a:rPr/>
              <a:t>Murine models underpin preclinical vaccine research, yet their translational value remains </a:t>
            </a:r>
            <a:r>
              <a:rPr b="1"/>
              <a:t>contested</a:t>
            </a:r>
            <a:r>
              <a:rPr/>
              <a:t>, contributing to clinical trial failures.</a:t>
            </a:r>
          </a:p>
          <a:p>
            <a:pPr lvl="0"/>
            <a:r>
              <a:rPr/>
              <a:t>Prior cross-species comparisons were largely </a:t>
            </a:r>
            <a:r>
              <a:rPr b="1"/>
              <a:t>descriptive</a:t>
            </a:r>
            <a:r>
              <a:rPr/>
              <a:t>: gene-centric, linear, and disconnected from sequence evolution and cis-regulatory architecture.</a:t>
            </a:r>
          </a:p>
          <a:p>
            <a:pPr lvl="0"/>
            <a:r>
              <a:rPr/>
              <a:t>The consequence: </a:t>
            </a:r>
            <a:r>
              <a:rPr b="1"/>
              <a:t>contradictory reports</a:t>
            </a:r>
            <a:r>
              <a:rPr/>
              <a:t> and no practical framework to prioritise targets for human translation.</a:t>
            </a:r>
          </a:p>
          <a:p>
            <a:pPr lvl="0" indent="0" marL="0">
              <a:buNone/>
            </a:pPr>
            <a:r>
              <a:rPr/>
              <a:t>201mouse immunization datasets screened from GEO (Fig. 1a)</a:t>
            </a:r>
          </a:p>
          <a:p>
            <a:pPr lvl="0" indent="0" marL="0">
              <a:buNone/>
            </a:pPr>
            <a:r>
              <a:rPr/>
              <a:t>6matched mouse–human conditions carried forward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02 · Study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framework, three stimulus categories, matched across species</a:t>
            </a:r>
          </a:p>
          <a:p>
            <a:pPr lvl="0"/>
            <a:r>
              <a:rPr b="1"/>
              <a:t>Vaccination</a:t>
            </a:r>
            <a:r>
              <a:rPr/>
              <a:t> — Fluad® (influenza), Engerix B® (hepatitis B)</a:t>
            </a:r>
          </a:p>
          <a:p>
            <a:pPr lvl="0"/>
            <a:r>
              <a:rPr b="1"/>
              <a:t>Infection</a:t>
            </a:r>
            <a:r>
              <a:rPr/>
              <a:t> — </a:t>
            </a:r>
            <a:r>
              <a:rPr i="1"/>
              <a:t>S. aureus</a:t>
            </a:r>
            <a:r>
              <a:rPr/>
              <a:t>, </a:t>
            </a:r>
            <a:r>
              <a:rPr i="1"/>
              <a:t>E. coli</a:t>
            </a:r>
          </a:p>
          <a:p>
            <a:pPr lvl="0"/>
            <a:r>
              <a:rPr b="1"/>
              <a:t>Injury</a:t>
            </a:r>
            <a:r>
              <a:rPr/>
              <a:t> — burn, trauma-haemorrhage</a:t>
            </a:r>
          </a:p>
          <a:p>
            <a:pPr lvl="0"/>
            <a:r>
              <a:rPr b="1"/>
              <a:t>+ DMD</a:t>
            </a:r>
            <a:r>
              <a:rPr/>
              <a:t> (mdx mouse) as a biological negative control</a:t>
            </a:r>
          </a:p>
          <a:p>
            <a:pPr lvl="0" indent="0" marL="0">
              <a:buNone/>
            </a:pPr>
            <a:r>
              <a:rPr/>
              <a:t>Blood transcriptomes · GEO / BioProject limma + empirical Bayes · covariates (age, sex, ethnicity) human downsampled to n = 5, 200 iterations, median statistics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Fig. 1b — experimental timelines for matched mouse and human datasets across vaccination, infection and injury (GSE120661 · GSE124689 · GSE19668 · GSE33341 · GSE7404 · GSE37069 · GSE36809).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 · Result — analytical granularity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Cells disagree. Pathways </a:t>
            </a:r>
            <a:r>
              <a:rPr i="1"/>
              <a:t>agree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0.89–0.97module-level (BTM NES) Pearson correlation between species</a:t>
            </a:r>
          </a:p>
          <a:p>
            <a:pPr lvl="0"/>
            <a:r>
              <a:rPr/>
              <a:t>Gene-level effect sizes correlate only </a:t>
            </a:r>
            <a:r>
              <a:rPr b="1"/>
              <a:t>moderately</a:t>
            </a:r>
            <a:r>
              <a:rPr/>
              <a:t>; module activation is </a:t>
            </a:r>
            <a:r>
              <a:rPr b="1"/>
              <a:t>highly conserved</a:t>
            </a:r>
            <a:r>
              <a:rPr/>
              <a:t>.</a:t>
            </a:r>
          </a:p>
          <a:p>
            <a:pPr lvl="0"/>
            <a:r>
              <a:rPr/>
              <a:t>Shared leading-edge genes = </a:t>
            </a:r>
            <a:r>
              <a:rPr b="1"/>
              <a:t>67.5–79%</a:t>
            </a:r>
            <a:r>
              <a:rPr/>
              <a:t> of mouse LEGs in enriched modules (70.5% pooled).</a:t>
            </a:r>
          </a:p>
          <a:p>
            <a:pPr lvl="0"/>
            <a:r>
              <a:rPr/>
              <a:t>Collapsing dimensionality into BTMs </a:t>
            </a:r>
            <a:r>
              <a:rPr b="1"/>
              <a:t>reduces noise</a:t>
            </a:r>
            <a:r>
              <a:rPr/>
              <a:t> and exposes a robust translational signature.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Fig. 4a–c — BTM module-level correlation (a) and classification performance (b, c) across conditions. · Fig. 5a — shared leading-edge genes across BTM process categories.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 · Result — stimulus intensity &amp; kinetics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Translatability scales with the </a:t>
            </a:r>
            <a:r>
              <a:rPr i="1"/>
              <a:t>strength</a:t>
            </a:r>
            <a:r>
              <a:rPr/>
              <a:t> of the perturbation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Infection &amp; injury — conserved</a:t>
            </a:r>
          </a:p>
          <a:p>
            <a:pPr lvl="0" indent="0" marL="0">
              <a:buNone/>
            </a:pPr>
            <a:r>
              <a:rPr/>
              <a:t>ρ = 0.41–0.59</a:t>
            </a:r>
          </a:p>
          <a:p>
            <a:pPr lvl="0" indent="0" marL="0">
              <a:buNone/>
            </a:pPr>
            <a:r>
              <a:rPr/>
              <a:t>Acute </a:t>
            </a:r>
            <a:r>
              <a:rPr i="1"/>
              <a:t>S. aureus</a:t>
            </a:r>
            <a:r>
              <a:rPr/>
              <a:t>, </a:t>
            </a:r>
            <a:r>
              <a:rPr i="1"/>
              <a:t>E. coli</a:t>
            </a:r>
            <a:r>
              <a:rPr/>
              <a:t> and burn engage evolutionarily stable, highly conserved programs.</a:t>
            </a:r>
          </a:p>
          <a:p>
            <a:pPr lvl="0" indent="0" marL="0">
              <a:buNone/>
            </a:pPr>
            <a:r>
              <a:rPr/>
              <a:t>Effect-size difference (|ΔLog2FC|) significantly smaller than negative controls — WMW adjusted P &lt; 1 × 10⁻¹⁵.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Single-dose vaccination — diverges</a:t>
            </a:r>
          </a:p>
          <a:p>
            <a:pPr lvl="0" indent="0" marL="0">
              <a:buNone/>
            </a:pPr>
            <a:r>
              <a:rPr/>
              <a:t>ρ = −0.32–0.27</a:t>
            </a:r>
          </a:p>
          <a:p>
            <a:pPr lvl="0" indent="0" marL="0">
              <a:buNone/>
            </a:pPr>
            <a:r>
              <a:rPr/>
              <a:t>Fluad® and Engerix B® fail to reach the systemic activation threshold, remaining near baseline controls.</a:t>
            </a:r>
          </a:p>
          <a:p>
            <a:pPr lvl="0" indent="0" marL="0">
              <a:buNone/>
            </a:pPr>
            <a:r>
              <a:rPr/>
              <a:t>Preclinical immunogenicity may require </a:t>
            </a:r>
            <a:r>
              <a:rPr b="1"/>
              <a:t>boosters or stronger adjuvants</a:t>
            </a:r>
            <a:r>
              <a:rPr/>
              <a:t> to emerge from species-specific noise.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 ≠ chronology · mouse 2–6 h matches the human peak inflammatory window (days 1–3) → align by biological equivalence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 · Result — classification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Mouse signatures call human direction — best at </a:t>
            </a:r>
            <a:r>
              <a:rPr i="1"/>
              <a:t>module</a:t>
            </a:r>
            <a:r>
              <a:rPr/>
              <a:t> level</a:t>
            </a:r>
          </a:p>
          <a:p>
            <a:pPr lvl="0" indent="0" marL="0">
              <a:buNone/>
            </a:pPr>
            <a:r>
              <a:rPr/>
              <a:t>0.84–0.98ROC-AUC · mouse BTM signatures classifying human module regulation</a:t>
            </a:r>
          </a:p>
          <a:p>
            <a:pPr lvl="0" indent="0" marL="0">
              <a:buNone/>
            </a:pPr>
            <a:r>
              <a:rPr/>
              <a:t>0.64–0.74ROC-AUC · gene-level mouse signatures in infection &amp; injury</a:t>
            </a:r>
          </a:p>
          <a:p>
            <a:pPr lvl="0" indent="0" marL="0">
              <a:buNone/>
            </a:pPr>
            <a:r>
              <a:rPr/>
              <a:t>Biological negative control (DMD): ROC-AUC 0.48–0.61 — near random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Fig. 3a–b — ROC-AUC and PR-AUC matrices for mouse signatures classifying up- and downregulated human genes, with human self-prediction and the DMD negative control.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 · Result — evolution &amp; regulation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genes </a:t>
            </a:r>
            <a:r>
              <a:rPr i="1"/>
              <a:t>diverge</a:t>
            </a:r>
          </a:p>
          <a:p>
            <a:pPr lvl="0" indent="0" marL="0">
              <a:buNone/>
            </a:pPr>
            <a:r>
              <a:rPr/>
              <a:t>Small per-gene effects, but a consistent direction: sequence constraint tracks </a:t>
            </a:r>
            <a:r>
              <a:rPr b="1"/>
              <a:t>stability</a:t>
            </a:r>
            <a:r>
              <a:rPr/>
              <a:t>; regulatory plasticity tracks </a:t>
            </a:r>
            <a:r>
              <a:rPr b="1"/>
              <a:t>divergence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Associated with lower |ΔLog2FC|</a:t>
            </a:r>
          </a:p>
          <a:p>
            <a:pPr lvl="0"/>
            <a:r>
              <a:rPr/>
              <a:t>Higher protein sequence identity rho = −0.08</a:t>
            </a:r>
          </a:p>
          <a:p>
            <a:pPr lvl="0"/>
            <a:r>
              <a:rPr/>
              <a:t>Greater TF availability and TF sharing rho = −0.017 / −0.013</a:t>
            </a:r>
          </a:p>
          <a:p>
            <a:pPr lvl="0"/>
            <a:r>
              <a:rPr/>
              <a:t>Conserved promoter-like (PLS) signatures n.s.</a:t>
            </a:r>
          </a:p>
          <a:p>
            <a:pPr lvl="0" indent="0" marL="0">
              <a:buNone/>
            </a:pPr>
            <a:r>
              <a:rPr/>
              <a:t>Associated with higher |ΔLog2FC|</a:t>
            </a:r>
          </a:p>
          <a:p>
            <a:pPr lvl="0"/>
            <a:r>
              <a:rPr/>
              <a:t>Greater Kimura (K80) evolutionary distance rho = 0.10</a:t>
            </a:r>
          </a:p>
          <a:p>
            <a:pPr lvl="0"/>
            <a:r>
              <a:rPr/>
              <a:t>Enhancer multiplicity — pELS / dELS counts rho = 0.036 / 0.039</a:t>
            </a:r>
          </a:p>
          <a:p>
            <a:pPr lvl="0"/>
            <a:r>
              <a:rPr/>
              <a:t>CRE turnover and CTCF-bound pELS bound rho = 0.042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Fig. 6a–e — protein sequence identity and Kimura distance (a), transcription factor availability (b), cis-regulatory element abundance (c), CRE conservation and turnover (d) and CTCF binding (e) against |ΔLog2FC|.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07 · Result — multilayer modelling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Layers turn near-chance transfer into </a:t>
            </a:r>
            <a:r>
              <a:rPr i="1"/>
              <a:t>useful</a:t>
            </a:r>
            <a:r>
              <a:rPr/>
              <a:t> prediction</a:t>
            </a:r>
          </a:p>
          <a:p>
            <a:pPr lvl="0"/>
            <a:r>
              <a:rPr/>
              <a:t>Mouse rank alone: </a:t>
            </a:r>
            <a:r>
              <a:rPr b="1"/>
              <a:t>R² = 0.001</a:t>
            </a:r>
            <a:r>
              <a:rPr/>
              <a:t> · mouse direction alone: </a:t>
            </a:r>
            <a:r>
              <a:rPr b="1"/>
              <a:t>ROC-AUC 0.511</a:t>
            </a:r>
            <a:r>
              <a:rPr/>
              <a:t> — no transfer.</a:t>
            </a:r>
          </a:p>
          <a:p>
            <a:pPr lvl="0"/>
            <a:r>
              <a:rPr/>
              <a:t>evolution, TF, CRE and BTM layers → random forest </a:t>
            </a:r>
            <a:r>
              <a:rPr b="1"/>
              <a:t>R² = 0.234</a:t>
            </a:r>
            <a:r>
              <a:rPr/>
              <a:t> for human rank and </a:t>
            </a:r>
            <a:r>
              <a:rPr b="1"/>
              <a:t>ROC-AUC = 0.849</a:t>
            </a:r>
            <a:r>
              <a:rPr/>
              <a:t> for direction.</a:t>
            </a:r>
          </a:p>
          <a:p>
            <a:pPr lvl="0"/>
            <a:r>
              <a:rPr/>
              <a:t>Shared vs mouse-only LEGs stay hard: lasso best by a whisker (</a:t>
            </a:r>
            <a:r>
              <a:rPr b="1"/>
              <a:t>0.617</a:t>
            </a:r>
            <a:r>
              <a:rPr/>
              <a:t> predictive / </a:t>
            </a:r>
            <a:r>
              <a:rPr b="1"/>
              <a:t>0.627</a:t>
            </a:r>
            <a:r>
              <a:rPr/>
              <a:t> explanatory).</a:t>
            </a:r>
          </a:p>
          <a:p>
            <a:pPr lvl="0" indent="0" marL="0">
              <a:buNone/>
            </a:pPr>
            <a:r>
              <a:rPr/>
              <a:t>LOCO-CV (4 folds) · nested layers: DGE Baseline → Full + BTM 4 algorithms: linear/logistic · lasso · random forest · neural network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Fig. 7 — multilayer modelling: (a) layer integration workflow, (b) shared-LEG classification, (c) directional concordance and (d) human rank regression, across algorithms and feature layers.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 · Take-aways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Translatability is a function of </a:t>
            </a:r>
            <a:r>
              <a:rPr i="1"/>
              <a:t>granularity</a:t>
            </a:r>
            <a:r>
              <a:rPr/>
              <a:t>, </a:t>
            </a:r>
            <a:r>
              <a:rPr i="1"/>
              <a:t>intensity</a:t>
            </a:r>
            <a:r>
              <a:rPr/>
              <a:t> and </a:t>
            </a:r>
            <a:r>
              <a:rPr i="1"/>
              <a:t>timing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study establishes</a:t>
            </a:r>
          </a:p>
          <a:p>
            <a:pPr lvl="0"/>
            <a:r>
              <a:rPr/>
              <a:t>Module-level analysis beats gene-level analysis for cross-species concordance.</a:t>
            </a:r>
          </a:p>
          <a:p>
            <a:pPr lvl="0"/>
            <a:r>
              <a:rPr/>
              <a:t>Acute infection and injury translate; single-dose vaccination does not.</a:t>
            </a:r>
          </a:p>
          <a:p>
            <a:pPr lvl="0"/>
            <a:r>
              <a:rPr/>
              <a:t>Evolutionary and regulatory layers carry a conserved signal beyond mouse DGE.</a:t>
            </a:r>
          </a:p>
          <a:p>
            <a:pPr lvl="0"/>
            <a:r>
              <a:rPr/>
              <a:t>Four out-of-fold scores — score_shared, score_rank, score_direction, score_translational — prioritise candidate genes.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to keep in mind</a:t>
            </a:r>
          </a:p>
          <a:p>
            <a:pPr lvl="0"/>
            <a:r>
              <a:rPr/>
              <a:t>Small murine cohorts; scarce harmonised metadata.</a:t>
            </a:r>
          </a:p>
          <a:p>
            <a:pPr lvl="0"/>
            <a:r>
              <a:rPr/>
              <a:t>Two inbred strains only (C57BL/6, CB6F1) — strain choice shapes translatability.</a:t>
            </a:r>
          </a:p>
          <a:p>
            <a:pPr lvl="0"/>
            <a:r>
              <a:rPr/>
              <a:t>Single-dose mouse vaccination vs. human prime-boost regimens.</a:t>
            </a:r>
          </a:p>
          <a:p>
            <a:pPr lvl="0"/>
            <a:r>
              <a:rPr/>
              <a:t>Blood-based BTMs and one-to-one Ensembl orthologs — needs testing in other tissues and gene sets.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 ·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code, trained models, and a notebook to </a:t>
            </a:r>
            <a:r>
              <a:rPr i="1"/>
              <a:t>apply</a:t>
            </a:r>
            <a:r>
              <a:rPr/>
              <a:t> them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  <a:p>
            <a:pPr lvl="0" indent="0" marL="0">
              <a:buNone/>
            </a:pPr>
            <a:r>
              <a:rPr/>
              <a:t>mousetohuman_multilayer</a:t>
            </a:r>
          </a:p>
          <a:p>
            <a:pPr lvl="0" indent="0" marL="0">
              <a:buNone/>
            </a:pPr>
            <a:r>
              <a:rPr/>
              <a:t>Full R Markdown pipeline — curation, QC, limma DGE, GSEA, evolutionary and regulatory analyses, and the LOCO modelling script. Pinned with </a:t>
            </a:r>
            <a:r>
              <a:rPr>
                <a:latin typeface="Courier"/>
              </a:rPr>
              <a:t>renv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github.com/wapsyed/mousetohuman_multilayer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</a:t>
            </a:r>
          </a:p>
          <a:p>
            <a:pPr lvl="0" indent="0" marL="0">
              <a:buNone/>
            </a:pPr>
            <a:r>
              <a:rPr/>
              <a:t>Project site</a:t>
            </a:r>
          </a:p>
          <a:p>
            <a:pPr lvl="0" indent="0" marL="0">
              <a:buNone/>
            </a:pPr>
            <a:r>
              <a:rPr/>
              <a:t>Overview, complete methodology — including the multilayer modelling pipeline — and the notebook map, in one place.</a:t>
            </a:r>
          </a:p>
          <a:p>
            <a:pPr lvl="0" indent="0" marL="0">
              <a:buNone/>
            </a:pPr>
            <a:r>
              <a:rPr/>
              <a:t>wapsyed.github.io/mousetohuman_multilayer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 — questions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2026-09-22T19:45:23Z</dcterms:created>
  <dcterms:modified xsi:type="dcterms:W3CDTF">2026-09-22T19:45:23Z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/>
  </property>
  <property fmtid="{D5CDD505-2E9C-101B-9397-08002B2CF9AE}" pid="4" name="engines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agetitle">
    <vt:lpwstr>From mice to humans — lab meeting</vt:lpwstr>
  </property>
  <property fmtid="{D5CDD505-2E9C-101B-9397-08002B2CF9AE}" pid="10" name="toc-title">
    <vt:lpwstr>Table of contents</vt:lpwstr>
  </property>
</Properties>
</file>