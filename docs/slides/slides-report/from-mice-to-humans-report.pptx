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report-style version of the Mouse2Human deck: it keeps the same paper palette, Merriweather headings and Arial body as the lab-meeting deck but carries far more text, one topic per slide, and a full speaker-note block on every slide. It is meant to be read, not presented live. The graphical abstract on the right summarises the three stimulus categories, the multilayer model and the four translational scores. Everything in this deck is drawn from the manuscript and project documentation — no new numbers are introduced.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orient the reader before the substance begins. The deck is organised in the same order as the methods: the question and design, the cohort construction and harmonisation, the granularity and intensity results, the classification benchmark, the evolutionary and regulatory layers, the multilayer model, and finally availability and limitations. The visual grammar is copied verbatim from the lab-meeting deck so the two decks feel like one family.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single slide is the whole paper compressed. The two headline numbers are the module-level correlation between species (0.89–0.97, with trauma the exception) and the random-forest directional ROC-AUC of 0.85 under leave-one-condition-out cross-validation. The narrative between them is that granularity, stimulus intensity and timing determine how well a mouse study predicts a human one, and that the biological layers recover a conserved signal that mouse effect sizes alone do not carry.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column is the manuscript’s section order; the right column is the executable notebook order documented on the project site. They map onto each other but are not identical: the manuscript groups the results thematically, whereas the pipeline is strictly sequential. Keeping both in view helps a reader move from a result back to the exact script that produced it. The eight-stage ribbon on the code-planning page is the same trajectory.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mice are the dominant preclinical model, but their predictive value is contested and the literature is contradictory. Crucially, previous comparisons were descriptive and disconnected from genomic architecture — nobody linked conservation to sequence evolution or cis-regulation. The scale of the screening exercise matters: 201 mouse immunization datasets were retrieved, but only a handful matched human data well enough to compare directly.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states the question, the hypothesis and the four findings the rest of the deck will unpack. The logic is deliberately staged: first show that the signal lives at module level, then show it depends on stimulus strength, then show which additional biological layers recover it, and finally localise the source of divergence to the regulatory rather than the coding genome. Each of the four findings gets its own section later.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three stimulus categories — vaccination, acute infection and injury — each with matched mouse and human blood transcriptomes. DMD (mdx) is the biological negative control. Everything is harmonised: limma with empirical Bayes, covariate adjustment, and iterative downsampling of human subjects to n = 5 over 200 iterations to remove pseudo-significance. The timelines in Fig. 1b show why timing alignment is not automatic — the sampling schedules differ between species.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documents the provenance of the data so the pipeline is auditable. The search deliberately excluded human records in the first pass to find mouse cohorts, then restricted to Mus musculus and to expression-profiling assays. The manual annotation step is where most curation effort went, because adjuvants, doses, routes and time points had to be recovered from publications and reconciled with the GEO records. GEO was treated as authoritative when the two disagreed.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201 mouse immunization datasets, only two microarray datasets matched the human vaccination data by tissue, antigen, vaccine type, target condition, time points and adjuvants. GSE120661 covered influenza and hepatitis B and was carried forward. GSE182858, which studied influenza vaccination in “dirty” mice, was excluded because its sampling schedule — three hours either side of immunisation — could not be aligned with the human days 1, 3 and 7. This slide is the honest bottleneck of the study: the matched set is small because the metadata rarely line up.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six matched conditions plus the negative control. Note the tissue matrix: the vaccination and infection cohorts are blood or PBMC, while DMD is muscle, which is exactly why it works as a specificity control rather than a comparison of like with like. The platforms differ too — Agilent, Affymetrix Human Gene 1.0 ST, U133 Plus 2.0 — which is why platform-specific normalisation is needed before any comparison. The E. coli mouse and human blocks both come from GSE33341, a caveat discussed later.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gives the vaccination cohort in full because it is the arm that turns out to be the hardest to translate. Six time points from four hours to one week let the study follow early innate dynamics, but only a single dose was given in mice. The four arms are valuable because they vary adjuvant and vaccine type independently, which is how the analysis can attribute the divergence to weak systemic activation rather than to species identity alone. GSE182858 and GSE224584 are shown as examples of datasets that passed the screen but could not be aligned with the human atlases.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DMD is not a fair cross-species comparison and is not meant to be: it is a muscle disease in a mouse, so it should fail to predict human blood immune responses. The value is diagnostic — if the DMD-based classifier also scored well, the pipeline would be picking up a technical artefact rather than biology. Alongside DMD, the ROC framework uses a perfect model as the ceiling and permutation nulls as an additional reference, so every AUC has a clear scale.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explains a decision that looks inconsistent but is deliberate: different normalisation for different platforms. Affymetrix data go through RMA because that is the appropriate multi-array model, while Illumina and Agilent arrays get between-array quantile normalisation. The point is to make distributions comparable across samples within a cohort before any cross-species comparison. Effect sizes are kept continuous at this stage to preserve power for the rank-based pathway tests later.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collapsing decisions matter signal-wise. First, when several probes report the same gene, the most responsive one is kept rather than the average, which would blur a strong signal with silent probes. Second, mapping is restricted to one-to-one MGI orthologs so that every human gene has at most one mouse partner, keeping the cross-species comparison unambiguous. That restriction is a known limitation: it excludes multi-ortholog families and could bias the gene set toward well-annotated, conserved genes.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control here is not cosmetic: it removed human trauma samples whose separation could not be explained by any recorded covariate. That is a scientifically cautious choice, because including them would inflate between-sample variance and weaken the cross-species comparison, but it is also a limitation because unreported severity remains a hidden confounder. PCA and RLE play complementary roles — PCA is multivariate and catches structure, RLE is per-sample and catches scale divergence. All diagnostics are archived for reproducibility.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Differential expression is modelled independently for each condition and species. The empirical Bayes step is what makes the design viable with small groups: it borrows strength across genes so that a five-sample arm still yields stable variance estimates. The trend and robust options make the prior intensity-aware and less sensitive to individual outliers. The contrasts are always against the matched baseline, which matters for the time-course comparisons in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human and mouse worlds are made statistically comparable. Clinical cohorts vary in age, sex and ancestry, so those covariates enter the design; longitudinal subjects are treated as random effects; and where a dataset has known batch structure, as in the E. coli series, weights are stratified accordingly. Array weights then down-weight noisy samples rather than deleting them. The honest caveat is that unmeasured clinical variables — especially injury severity — cannot be adjusted for.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because the vaccination result is negative, and it would be easy to mistake a statistical artefact for a biological one. Paired t-tests found essentially nothing in the vaccinated mouse cohorts; limma, with moderation and covariate control, found weak but coherent signatures. Without the comparison, a reader might conclude that mice simply do not conserve vaccine responses, when in fact the earlier methods were under-powered. It is a reminder that detection sensitivity is part of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Downsampling is the single most important harmonisation step for fairness between species. Human cohorts often have tens of subjects while the mouse arm has five, and an unmatched comparison would reward the human side with statistical power it would not have in a matched design. Repeatedly drawing five human subjects, running the model, and taking the median statistic puts the two species on the same footing. It also gives a measure of sampling stability, which is used as a quality signal downstream.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different thresholds are used on purpose. Gene-level calls use a strict BH FDR of 0.05, while module-level GSEA uses padj ≤ 0.25 to avoid discarding weak but coordinated pathway signals, which is standard for exploratory enrichment. The p-value diagnostics are reported because they expose where the data are thin: burn and trauma are cross-sectional and noisy, so their near-uniform adjusted distributions are a warning about power, not a failure of the biology.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analytical pivot of the paper. Instead of comparing thousands of individual genes, the study compares a few hundred immune modules, each an ensemble of co-regulated genes. Pre-ranking by the product of effect size and significance means both magnitude and confidence contribute to a gene’s position, and GSEA normalises for module size. The weighted correlations then ask whether the same modules move in the same direction in both species — the test that produced the headline 0.89–0.97 range.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result: granularity matters. Individual orthologous genes correlate only moderately, but when the transcriptome is collapsed into Blood Transcription Modules the correlation jumps to 0.89–0.97, with trauma the exception. Shared leading-edge genes account for 67.5–79% of mouse LEGs, or 70.5% when pooled, so the translational signal lives in the leading edge of a module rather than in all of its members. The practical implication is that a mouse study is best read at pathway level, not gene by gene.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zooms into the leading edge, the subset of a module that actually drives its enrichment score. Across conditions, roughly seven in ten mouse LEGs are also human LEGs, and shared LEGs tend to be more highly expressed and more precisely estimated, which is reassuring rather than surprising. The M37.0 module — a generic immune activation cluster — is then used as a worked example of intra-module rank conservation, showing how gene prioritisation within a module lines up across species.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result: translatability scales with the strength of the perturbation. Acute bacterial infection and severe injury engage conserved core mammalian programs (ρ = 0.41–0.59), whereas single-dose subunit and inactivated vaccines stay near baseline (ρ = −0.32 to 0.27). The effect-size divergence for infection and injury is significantly smaller than for the negative controls, with a WMW adjusted P below 1 × 10⁻¹⁵. The message is that a weak stimulus simply does not rise above species-specific noise, so boosting signal strength should improve translation.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conceptual point with practical consequences: the murine innate response unfolds within hours, while the human sampling schedule often starts at day one. Aligning 6 h with day 3 is not a fudge, it reflects that both represent the peak of the early inflammatory response. The discretisation table on the right shows the bins used to align human injury times to mouse collection points, and it is also why the performance notebook tests different timepoint pairings rather than assuming one canonical match.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classification framework converts differential expression into a discrimination task: given a mouse signature, how well does it rank the human genes that are truly up- or down-regulated? One-sided p-values are needed because the direction of the effect is part of the prediction, and the probability is defined so that higher values mean stronger evidence for the labelled direction. The perfect and DMD models bracket the achievable range, and the same machinery is re-used at module level so genes and pathways are directly comparable.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result: prediction. Mouse signatures classify the direction of human gene regulation, but module-level models clearly beat gene-level ones — 0.84–0.98 ROC-AUC versus 0.64–0.74 — and both beat the DMD negative control (0.48–0.61). Downregulation is easier to predict than upregulation at early timepoints, which is consistent with the idea that conserved shut-down of core programs is a stronger signal than induced genes. The gap between module and gene AUC is the quantitative version of the granularity result.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half of the mechanism question: does coding-sequence evolution explain expression divergence? The answer is only weakly — higher protein identity goes with smaller cross-species differences and greater Kimura distance with larger ones, but the correlations are around 0.08–0.10, which is why the study keeps looking for the strong explanatory signal elsewhere. The five-panel evolution/regulation figure collects all of these relationships, so this slide and the next should be read against it. Coding constraint is real but modest; regulatory architecture carries more of the signal.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other half of the mechanism question, and it is the one that carries the signal. Transcription-factor availability and sharing reduce expression divergence, while enhancer multiplicity and cis-regulatory turnover increase it — and promoter-like elements show no relationship at all. The magnitudes are small, but they are consistent and, unlike coding identity, they tell a coherent story: regulatory architecture, not the protein sequence, governs how far orthologous responses drift apart. The ENCODE SCREEN catalogue provides the element classes and CTCF status on both genomes.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interpretation that ties the two previous ones together. The per-gene effects are all small, so the claim is not that any one feature predicts divergence; the claim is directional and consistent. Features that constrain a gene — conserved protein sequence, available and shared transcription factors, intact promoters — pull expression toward stability. Features that allow rewiring — accumulated coding distance, many enhancers, enhancer turnover and CTCF-bound proximal enhancers — pull it toward divergence. Regulatory architecture, not the coding sequence, is the stronger axis.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new modelling work. The pipeline does not treat six independent feature groups; it nests them so that the question “does biology add signal beyond mouse effect size?” can be asked cleanly. The DGE Baseline contains only what a mouse experiment gives you directly; Full + BTM adds evolution, regulation, transcription factors and module membership. The two framings then separate prediction (keep the mouse magnitude) from explanation (remove it), which is why the same model can answer both “how well can we predict?” and “which biological features actually carry the transferable signal?”.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LOCO is what makes the performance numbers honest. A conventional random split would let genes from the same pathogen appear in both training and test sets, inflating the score because those conditions share coordinated signatures. By holding out an entire condition, the model must generalise to an unseen perturbation. Four algorithms are compared under identical preprocessing so that differences can be attributed to the model class rather than to feature handling, and feature importance is extracted in a way native to each algorithm.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Fifth result: the multilayer model. Mouse rank and direction alone do not transfer at all — R² = 0.001 and ROC-AUC 0.511, essentially chance. Adding the biological layers raises the random forest to R² = 0.2345 for human rank and ROC-AUC = 0.8488 for directional concordance. Shared-LEG classification stays hard, and the lasso is only marginally best there (0.6173 predictive / 0.6271 explanatory). The contrast between the two task families is the key: rank and direction need the multivariate, non-linear layers, while LEG sharing is largely a linear, modular signal.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tempting to read the performance table as “random forest wins”, but the more informative reading is that different tasks have different signal geometries. Rank and direction depend on interactions between mouse effect size, evolutionary distance, regulatory architecture and module membership, which trees capture and linear models cannot. Shared-LEG membership is closer to a linear threshold on a few modular features, so a lasso suffices. The fact that mouse-only features drop every algorithm to chance confirms that the added biological layers, not model capacity, produce the gain.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scores are the practical output of the whole pipeline. score_shared and score_direction express confidence about discrete outcomes; score_rank is a continuous prediction of where a gene will fall in the human response; and score_translational combines the two into a single forward-looking priority. The observed prioritisation score is the retrospective counterpart, using measured rather than predicted concordance, so the two can be compared. Because all scores are out-of-fold, they are not inflated by a gene having contributed to its own model.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is a first-class output here: every metric, coefficient, importance vector and out-of-fold prediction is written to disk, and the fitted workflows are butchered so they are small enough to ship and reload. Butchering strips the training data and other heavy components from the model object while preserving predict(). The two-line R snippet is the whole application story: load a model, predict on a feature table assembled the same way as in training. The companion notebook walks through assembling that feature table from a new DGE result.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deliverables are the full open-source pipeline, the project site that documents the methodology and notebook map, and the step-by-step notebook that applies the trained models to a new mouse dataset, runnable in the browser via Binder. Everything is released under an MIT licence so it can be audited, adapted and retrained with additional perturbation models, booster regimens and new multi-omic layers. The pinned renv environment is what makes the results reproducible rather than merely re-runnable.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are stated plainly because they bound every claim. The cohort is small and the strains are only two, so some low module correlations may say more about strain choice than about species, and the vaccination comparison is weakened by single-dose mice against prime-boost humans. The genomic resolution is one-to-one orthologs and the scores are blood-only, so they still need testing beyond blood and beyond BTMs. Finally, the Escherichia coli comparison is a special caveat — mouse and human blocks share the GSE33341 series, so it is not an independent accession even though the analysis stratifies by batch. Future work should therefore test prime-boost and adjuvanted regimens, refine regulatory annotation and align timepoints by biological equivalence.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Take-aways: translatability is not a fixed property of the mouse; it is a function of granularity, stimulus intensity and temporal alignment. Module-level comparisons are the most robust, strong acute stimuli translate while single-dose vaccines do not, and the evolutionary and regulatory layers add a conserved signal beyond mouse differential expression. The model outputs four complementary scores that can be used to prioritise genes, and the whole pipeline is open so the community can retrain it. Be candid about the limits: small cohorts, two inbred strains, single-dose vaccines, blood only, one-to-one orthologs and the shared E. coli accession.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1 / 39</a:t>
            </a:r>
          </a:p>
        </p:txBody>
      </p:sp>
      <p:sp>
        <p:nvSpPr>
          <p:cNvPr id="7" name="TextBox 6"/>
          <p:cNvSpPr txBox="1"/>
          <p:nvPr/>
        </p:nvSpPr>
        <p:spPr>
          <a:xfrm>
            <a:off x="566928" y="1234440"/>
            <a:ext cx="5277459" cy="91440"/>
          </a:xfrm>
          <a:prstGeom prst="rect">
            <a:avLst/>
          </a:prstGeom>
          <a:noFill/>
        </p:spPr>
        <p:txBody>
          <a:bodyPr wrap="square" lIns="0" rIns="0" tIns="0" bIns="0">
            <a:spAutoFit/>
          </a:bodyPr>
          <a:lstStyle/>
          <a:p>
            <a:pPr algn="l">
              <a:lnSpc>
                <a:spcPct val="104000"/>
              </a:lnSpc>
              <a:spcBef>
                <a:spcPts val="0"/>
              </a:spcBef>
              <a:spcAft>
                <a:spcPts val="0"/>
              </a:spcAft>
            </a:pPr>
            <a:r>
              <a:rPr sz="4000" b="0" i="0">
                <a:solidFill>
                  <a:srgbClr val="000000"/>
                </a:solidFill>
                <a:latin typeface="Merriweather"/>
              </a:rPr>
              <a:t>From mice to humans</a:t>
            </a:r>
          </a:p>
        </p:txBody>
      </p:sp>
      <p:sp>
        <p:nvSpPr>
          <p:cNvPr id="8" name="TextBox 7"/>
          <p:cNvSpPr txBox="1"/>
          <p:nvPr/>
        </p:nvSpPr>
        <p:spPr>
          <a:xfrm>
            <a:off x="566928" y="2148840"/>
            <a:ext cx="5277459" cy="91440"/>
          </a:xfrm>
          <a:prstGeom prst="rect">
            <a:avLst/>
          </a:prstGeom>
          <a:noFill/>
        </p:spPr>
        <p:txBody>
          <a:bodyPr wrap="square" lIns="0" rIns="0" tIns="0" bIns="0">
            <a:spAutoFit/>
          </a:bodyPr>
          <a:lstStyle/>
          <a:p>
            <a:pPr algn="l">
              <a:lnSpc>
                <a:spcPct val="125000"/>
              </a:lnSpc>
              <a:spcBef>
                <a:spcPts val="0"/>
              </a:spcBef>
              <a:spcAft>
                <a:spcPts val="0"/>
              </a:spcAft>
            </a:pPr>
            <a:r>
              <a:rPr sz="1600" b="0" i="0">
                <a:solidFill>
                  <a:srgbClr val="5B6377"/>
                </a:solidFill>
                <a:latin typeface="Arial"/>
              </a:rPr>
              <a:t>A multi-omic predictive framework for translational immunology — </a:t>
            </a:r>
            <a:r>
              <a:rPr sz="1600" b="1" i="0">
                <a:solidFill>
                  <a:srgbClr val="5B6377"/>
                </a:solidFill>
                <a:latin typeface="Arial"/>
              </a:rPr>
              <a:t>detailed report version</a:t>
            </a:r>
            <a:r>
              <a:rPr sz="1600" b="0" i="0">
                <a:solidFill>
                  <a:srgbClr val="5B6377"/>
                </a:solidFill>
                <a:latin typeface="Arial"/>
              </a:rPr>
              <a:t>, prepared for reading rather than live presentation</a:t>
            </a:r>
          </a:p>
        </p:txBody>
      </p:sp>
      <p:sp>
        <p:nvSpPr>
          <p:cNvPr id="9" name="TextBox 8"/>
          <p:cNvSpPr txBox="1"/>
          <p:nvPr/>
        </p:nvSpPr>
        <p:spPr>
          <a:xfrm>
            <a:off x="566928" y="3439160"/>
            <a:ext cx="5277459" cy="91440"/>
          </a:xfrm>
          <a:prstGeom prst="rect">
            <a:avLst/>
          </a:prstGeom>
          <a:noFill/>
        </p:spPr>
        <p:txBody>
          <a:bodyPr wrap="square" lIns="0" rIns="0" tIns="0" bIns="0">
            <a:spAutoFit/>
          </a:bodyPr>
          <a:lstStyle/>
          <a:p>
            <a:pPr algn="l">
              <a:lnSpc>
                <a:spcPct val="135000"/>
              </a:lnSpc>
              <a:spcBef>
                <a:spcPts val="0"/>
              </a:spcBef>
              <a:spcAft>
                <a:spcPts val="0"/>
              </a:spcAft>
            </a:pPr>
            <a:r>
              <a:rPr sz="900" b="0" i="0">
                <a:solidFill>
                  <a:srgbClr val="000000"/>
                </a:solidFill>
                <a:latin typeface="Arial"/>
              </a:rPr>
              <a:t>Wasim Aluísio Prates-Syed · Lira AA · Cortes N · Silva JDQ · Hamaguchi B · Carvalho E · Castillo-Chávez A · Durães-Carvalho R · Cabral-Marques O · Sabino EC · Krieger JE · Hagan T · Cabral-Miranda G</a:t>
            </a:r>
          </a:p>
        </p:txBody>
      </p:sp>
      <p:sp>
        <p:nvSpPr>
          <p:cNvPr id="10" name="TextBox 9"/>
          <p:cNvSpPr txBox="1"/>
          <p:nvPr/>
        </p:nvSpPr>
        <p:spPr>
          <a:xfrm>
            <a:off x="566928" y="4103243"/>
            <a:ext cx="5277459" cy="91440"/>
          </a:xfrm>
          <a:prstGeom prst="rect">
            <a:avLst/>
          </a:prstGeom>
          <a:noFill/>
        </p:spPr>
        <p:txBody>
          <a:bodyPr wrap="square" lIns="0" rIns="0" tIns="0" bIns="0">
            <a:spAutoFit/>
          </a:bodyPr>
          <a:lstStyle/>
          <a:p>
            <a:pPr algn="l">
              <a:lnSpc>
                <a:spcPct val="135000"/>
              </a:lnSpc>
              <a:spcBef>
                <a:spcPts val="0"/>
              </a:spcBef>
              <a:spcAft>
                <a:spcPts val="0"/>
              </a:spcAft>
            </a:pPr>
            <a:r>
              <a:rPr sz="900" b="0" i="0">
                <a:solidFill>
                  <a:srgbClr val="5B6377"/>
                </a:solidFill>
                <a:latin typeface="Arial"/>
              </a:rPr>
              <a:t>Laboratory of Genetics and Molecular Cardiology, InCor — FMUSP</a:t>
            </a:r>
            <a:r>
              <a:rPr sz="900" b="0" i="0">
                <a:solidFill>
                  <a:srgbClr val="5B6377"/>
                </a:solidFill>
                <a:latin typeface="Arial"/>
              </a:rPr>
              <a:t>
</a:t>
            </a:r>
            <a:r>
              <a:rPr sz="900" b="0" i="0">
                <a:solidFill>
                  <a:srgbClr val="5B6377"/>
                </a:solidFill>
                <a:latin typeface="Arial"/>
              </a:rPr>
              <a:t>September 2026</a:t>
            </a:r>
          </a:p>
        </p:txBody>
      </p:sp>
      <p:pic>
        <p:nvPicPr>
          <p:cNvPr id="11" name="Picture 10" descr="01-graphical-abstract.png"/>
          <p:cNvPicPr>
            <a:picLocks noChangeAspect="1"/>
          </p:cNvPicPr>
          <p:nvPr/>
        </p:nvPicPr>
        <p:blipFill>
          <a:blip r:embed="rId2"/>
          <a:stretch>
            <a:fillRect/>
          </a:stretch>
        </p:blipFill>
        <p:spPr>
          <a:xfrm>
            <a:off x="6347307" y="1234440"/>
            <a:ext cx="5277459" cy="324360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2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ABOUT THIS REPORT</a:t>
            </a:r>
          </a:p>
        </p:txBody>
      </p:sp>
      <p:sp>
        <p:nvSpPr>
          <p:cNvPr id="8" name="TextBox 7"/>
          <p:cNvSpPr txBox="1"/>
          <p:nvPr/>
        </p:nvSpPr>
        <p:spPr>
          <a:xfrm>
            <a:off x="566928"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Palette #4DBBD5 · #000000 · #4361ee · #A1B0F7</a:t>
            </a:r>
            <a:r>
              <a:rPr sz="1200" b="0" i="0">
                <a:solidFill>
                  <a:srgbClr val="1B2130"/>
                </a:solidFill>
                <a:latin typeface="Arial"/>
              </a:rPr>
              <a:t>
</a:t>
            </a:r>
            <a:r>
              <a:rPr sz="1200" b="0" i="0">
                <a:solidFill>
                  <a:srgbClr val="1B2130"/>
                </a:solidFill>
                <a:latin typeface="Arial"/>
              </a:rPr>
              <a:t>Merriweather headings · Arial body · monospace only for code and accessions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3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ABSTRACT — EXECUTIVE SUMMARY</a:t>
            </a:r>
          </a:p>
        </p:txBody>
      </p:sp>
      <p:sp>
        <p:nvSpPr>
          <p:cNvPr id="8" name="TextBox 7"/>
          <p:cNvSpPr txBox="1"/>
          <p:nvPr/>
        </p:nvSpPr>
        <p:spPr>
          <a:xfrm>
            <a:off x="566928" y="841248"/>
            <a:ext cx="11057839" cy="91440"/>
          </a:xfrm>
          <a:prstGeom prst="rect">
            <a:avLst/>
          </a:prstGeom>
          <a:noFill/>
        </p:spPr>
        <p:txBody>
          <a:bodyPr wrap="square" lIns="0" rIns="0" tIns="0" bIns="0">
            <a:spAutoFit/>
          </a:bodyPr>
          <a:lstStyle/>
          <a:p>
            <a:pPr algn="l">
              <a:lnSpc>
                <a:spcPct val="106000"/>
              </a:lnSpc>
              <a:spcBef>
                <a:spcPts val="0"/>
              </a:spcBef>
              <a:spcAft>
                <a:spcPts val="0"/>
              </a:spcAft>
            </a:pPr>
            <a:r>
              <a:rPr sz="2600" b="0" i="0">
                <a:solidFill>
                  <a:srgbClr val="000000"/>
                </a:solidFill>
                <a:latin typeface="Merriweather"/>
              </a:rPr>
              <a:t>Modules travel; genes do not.</a:t>
            </a:r>
          </a:p>
        </p:txBody>
      </p:sp>
      <p:sp>
        <p:nvSpPr>
          <p:cNvPr id="9" name="TextBox 8"/>
          <p:cNvSpPr txBox="1"/>
          <p:nvPr/>
        </p:nvSpPr>
        <p:spPr>
          <a:xfrm>
            <a:off x="566928" y="1374140"/>
            <a:ext cx="1105783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Blood transcriptomes from matched mouse and human challenge studies were compared across vaccination, acute bacterial infection and sterile injury. At the level of individual orthologous genes the agreement was only moderate, but once the transcriptome was collapsed into Blood Transcription Modules the cross-species signal became strong and stable. Translational accuracy then scaled with the </a:t>
            </a:r>
            <a:r>
              <a:rPr sz="1200" b="1" i="0">
                <a:solidFill>
                  <a:srgbClr val="1B2130"/>
                </a:solidFill>
                <a:latin typeface="Arial"/>
              </a:rPr>
              <a:t>strength of the perturbation</a:t>
            </a:r>
            <a:r>
              <a:rPr sz="1200" b="0" i="0">
                <a:solidFill>
                  <a:srgbClr val="1B2130"/>
                </a:solidFill>
                <a:latin typeface="Arial"/>
              </a:rPr>
              <a:t>, and adding </a:t>
            </a:r>
            <a:r>
              <a:rPr sz="1200" b="1" i="0">
                <a:solidFill>
                  <a:srgbClr val="1B2130"/>
                </a:solidFill>
                <a:latin typeface="Arial"/>
              </a:rPr>
              <a:t>sequence-evolution, transcription-factor and cis-regulatory layers</a:t>
            </a:r>
            <a:r>
              <a:rPr sz="1200" b="0" i="0">
                <a:solidFill>
                  <a:srgbClr val="1B2130"/>
                </a:solidFill>
                <a:latin typeface="Arial"/>
              </a:rPr>
              <a:t> turned a near-chance mouse baseline into useful prediction.</a:t>
            </a:r>
          </a:p>
        </p:txBody>
      </p:sp>
      <p:sp>
        <p:nvSpPr>
          <p:cNvPr id="10" name="TextBox 9"/>
          <p:cNvSpPr txBox="1"/>
          <p:nvPr/>
        </p:nvSpPr>
        <p:spPr>
          <a:xfrm>
            <a:off x="566928" y="2422652"/>
            <a:ext cx="5254599" cy="91440"/>
          </a:xfrm>
          <a:prstGeom prst="rect">
            <a:avLst/>
          </a:prstGeom>
          <a:noFill/>
        </p:spPr>
        <p:txBody>
          <a:bodyPr wrap="square" lIns="0" rIns="0" tIns="0" bIns="0">
            <a:spAutoFit/>
          </a:bodyPr>
          <a:lstStyle/>
          <a:p>
            <a:pPr algn="l">
              <a:lnSpc>
                <a:spcPct val="100000"/>
              </a:lnSpc>
              <a:spcBef>
                <a:spcPts val="0"/>
              </a:spcBef>
              <a:spcAft>
                <a:spcPts val="0"/>
              </a:spcAft>
            </a:pPr>
            <a:r>
              <a:rPr sz="4800" b="0" i="0">
                <a:solidFill>
                  <a:srgbClr val="4361EE"/>
                </a:solidFill>
                <a:latin typeface="Merriweather"/>
              </a:rPr>
              <a:t>0.89–0.97</a:t>
            </a:r>
          </a:p>
        </p:txBody>
      </p:sp>
      <p:sp>
        <p:nvSpPr>
          <p:cNvPr id="11" name="TextBox 10"/>
          <p:cNvSpPr txBox="1"/>
          <p:nvPr/>
        </p:nvSpPr>
        <p:spPr>
          <a:xfrm>
            <a:off x="566928" y="3111500"/>
            <a:ext cx="5254599" cy="91440"/>
          </a:xfrm>
          <a:prstGeom prst="rect">
            <a:avLst/>
          </a:prstGeom>
          <a:noFill/>
        </p:spPr>
        <p:txBody>
          <a:bodyPr wrap="square" lIns="0" rIns="0" tIns="0" bIns="0">
            <a:spAutoFit/>
          </a:bodyPr>
          <a:lstStyle/>
          <a:p>
            <a:pPr algn="l">
              <a:lnSpc>
                <a:spcPct val="130000"/>
              </a:lnSpc>
              <a:spcBef>
                <a:spcPts val="0"/>
              </a:spcBef>
              <a:spcAft>
                <a:spcPts val="0"/>
              </a:spcAft>
            </a:pPr>
            <a:r>
              <a:rPr sz="1000" b="0" i="0" spc="120">
                <a:solidFill>
                  <a:srgbClr val="5B6377"/>
                </a:solidFill>
                <a:latin typeface="Arial"/>
              </a:rPr>
              <a:t>MODULE-LEVEL (BTM NES) CROSS-SPECIES PEARSON CORRELATION</a:t>
            </a:r>
          </a:p>
        </p:txBody>
      </p:sp>
      <p:sp>
        <p:nvSpPr>
          <p:cNvPr id="12" name="TextBox 11"/>
          <p:cNvSpPr txBox="1"/>
          <p:nvPr/>
        </p:nvSpPr>
        <p:spPr>
          <a:xfrm>
            <a:off x="6095847" y="2422652"/>
            <a:ext cx="5254599" cy="91440"/>
          </a:xfrm>
          <a:prstGeom prst="rect">
            <a:avLst/>
          </a:prstGeom>
          <a:noFill/>
        </p:spPr>
        <p:txBody>
          <a:bodyPr wrap="square" lIns="0" rIns="0" tIns="0" bIns="0">
            <a:spAutoFit/>
          </a:bodyPr>
          <a:lstStyle/>
          <a:p>
            <a:pPr algn="l">
              <a:lnSpc>
                <a:spcPct val="100000"/>
              </a:lnSpc>
              <a:spcBef>
                <a:spcPts val="0"/>
              </a:spcBef>
              <a:spcAft>
                <a:spcPts val="0"/>
              </a:spcAft>
            </a:pPr>
            <a:r>
              <a:rPr sz="4800" b="0" i="0">
                <a:solidFill>
                  <a:srgbClr val="000000"/>
                </a:solidFill>
                <a:latin typeface="Merriweather"/>
              </a:rPr>
              <a:t>0.85</a:t>
            </a:r>
          </a:p>
        </p:txBody>
      </p:sp>
      <p:sp>
        <p:nvSpPr>
          <p:cNvPr id="13" name="TextBox 12"/>
          <p:cNvSpPr txBox="1"/>
          <p:nvPr/>
        </p:nvSpPr>
        <p:spPr>
          <a:xfrm>
            <a:off x="6095847" y="3111500"/>
            <a:ext cx="5254599" cy="91440"/>
          </a:xfrm>
          <a:prstGeom prst="rect">
            <a:avLst/>
          </a:prstGeom>
          <a:noFill/>
        </p:spPr>
        <p:txBody>
          <a:bodyPr wrap="square" lIns="0" rIns="0" tIns="0" bIns="0">
            <a:spAutoFit/>
          </a:bodyPr>
          <a:lstStyle/>
          <a:p>
            <a:pPr algn="l">
              <a:lnSpc>
                <a:spcPct val="130000"/>
              </a:lnSpc>
              <a:spcBef>
                <a:spcPts val="0"/>
              </a:spcBef>
              <a:spcAft>
                <a:spcPts val="0"/>
              </a:spcAft>
            </a:pPr>
            <a:r>
              <a:rPr sz="1000" b="0" i="0" spc="120">
                <a:solidFill>
                  <a:srgbClr val="5B6377"/>
                </a:solidFill>
                <a:latin typeface="Arial"/>
              </a:rPr>
              <a:t>RANDOM-FOREST ROC-AUC FOR DIRECTIONAL CONCORDANCE, LOCO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4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ROADMAP &amp; ANALYTICAL TRAJECTORY</a:t>
            </a:r>
          </a:p>
        </p:txBody>
      </p:sp>
      <p:sp>
        <p:nvSpPr>
          <p:cNvPr id="8" name="TextBox 7"/>
          <p:cNvSpPr txBox="1"/>
          <p:nvPr/>
        </p:nvSpPr>
        <p:spPr>
          <a:xfrm>
            <a:off x="6347307"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Notebook order: 0, 1, 1.1, 2, 3.1, 3.2, 3.3, 4, 5.1, 5.2, 6 · support: </a:t>
            </a:r>
            <a:r>
              <a:rPr sz="1100" b="0" i="0">
                <a:solidFill>
                  <a:srgbClr val="5B6377"/>
                </a:solidFill>
                <a:latin typeface="Arial"/>
              </a:rPr>
              <a:t>required.R</a:t>
            </a:r>
            <a:r>
              <a:rPr sz="1200" b="0" i="0">
                <a:solidFill>
                  <a:srgbClr val="1B2130"/>
                </a:solidFill>
                <a:latin typeface="Arial"/>
              </a:rPr>
              <a:t>, </a:t>
            </a:r>
            <a:r>
              <a:rPr sz="1100" b="0" i="0">
                <a:solidFill>
                  <a:srgbClr val="5B6377"/>
                </a:solidFill>
                <a:latin typeface="Arial"/>
              </a:rPr>
              <a:t>FIT_Exploration_Prediction.Rmd</a:t>
            </a:r>
            <a:r>
              <a:rPr sz="1200" b="0" i="0">
                <a:solidFill>
                  <a:srgbClr val="1B2130"/>
                </a:solidFill>
                <a:latin typeface="Arial"/>
              </a:rPr>
              <a:t>, </a:t>
            </a:r>
            <a:r>
              <a:rPr sz="1100" b="0" i="0">
                <a:solidFill>
                  <a:srgbClr val="5B6377"/>
                </a:solidFill>
                <a:latin typeface="Arial"/>
              </a:rPr>
              <a:t>ImmuneGO_Mouse.Rmd</a:t>
            </a:r>
            <a:r>
              <a:rPr sz="1200" b="0" i="0">
                <a:solidFill>
                  <a:srgbClr val="1B2130"/>
                </a:solidFill>
                <a:latin typeface="Arial"/>
              </a:rPr>
              <a:t>, </a:t>
            </a:r>
            <a:r>
              <a:rPr sz="1100" b="0" i="0">
                <a:solidFill>
                  <a:srgbClr val="5B6377"/>
                </a:solidFill>
                <a:latin typeface="Arial"/>
              </a:rPr>
              <a:t>Tests.Rmd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5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01 · THE TRANSLATIONAL CONUNDRUM</a:t>
            </a:r>
          </a:p>
        </p:txBody>
      </p:sp>
      <p:sp>
        <p:nvSpPr>
          <p:cNvPr id="8" name="TextBox 7"/>
          <p:cNvSpPr txBox="1"/>
          <p:nvPr/>
        </p:nvSpPr>
        <p:spPr>
          <a:xfrm>
            <a:off x="566928" y="841248"/>
            <a:ext cx="11057839" cy="91440"/>
          </a:xfrm>
          <a:prstGeom prst="rect">
            <a:avLst/>
          </a:prstGeom>
          <a:noFill/>
        </p:spPr>
        <p:txBody>
          <a:bodyPr wrap="square" lIns="0" rIns="0" tIns="0" bIns="0">
            <a:spAutoFit/>
          </a:bodyPr>
          <a:lstStyle/>
          <a:p>
            <a:pPr algn="l">
              <a:lnSpc>
                <a:spcPct val="106000"/>
              </a:lnSpc>
              <a:spcBef>
                <a:spcPts val="0"/>
              </a:spcBef>
              <a:spcAft>
                <a:spcPts val="0"/>
              </a:spcAft>
            </a:pPr>
            <a:r>
              <a:rPr sz="2600" b="0" i="0">
                <a:solidFill>
                  <a:srgbClr val="000000"/>
                </a:solidFill>
                <a:latin typeface="Merriweather"/>
              </a:rPr>
              <a:t>Mice are the workhorse — but how well do they </a:t>
            </a:r>
            <a:r>
              <a:rPr sz="2600" b="0" i="1">
                <a:solidFill>
                  <a:srgbClr val="000000"/>
                </a:solidFill>
                <a:latin typeface="Merriweather"/>
              </a:rPr>
              <a:t>actually</a:t>
            </a:r>
            <a:r>
              <a:rPr sz="2600" b="0" i="0">
                <a:solidFill>
                  <a:srgbClr val="000000"/>
                </a:solidFill>
                <a:latin typeface="Merriweather"/>
              </a:rPr>
              <a:t> predict human immunity?</a:t>
            </a:r>
          </a:p>
        </p:txBody>
      </p:sp>
      <p:sp>
        <p:nvSpPr>
          <p:cNvPr id="9" name="TextBox 8"/>
          <p:cNvSpPr txBox="1"/>
          <p:nvPr/>
        </p:nvSpPr>
        <p:spPr>
          <a:xfrm>
            <a:off x="566928" y="1724152"/>
            <a:ext cx="11057839" cy="91440"/>
          </a:xfrm>
          <a:prstGeom prst="rect">
            <a:avLst/>
          </a:prstGeom>
          <a:noFill/>
        </p:spPr>
        <p:txBody>
          <a:bodyPr wrap="square" lIns="0" rIns="0" tIns="0" bIns="0">
            <a:spAutoFit/>
          </a:bodyPr>
          <a:lstStyle/>
          <a:p>
            <a:pPr algn="l">
              <a:lnSpc>
                <a:spcPct val="120000"/>
              </a:lnSpc>
              <a:spcBef>
                <a:spcPts val="0"/>
              </a:spcBef>
              <a:spcAft>
                <a:spcPts val="500"/>
              </a:spcAft>
            </a:pPr>
            <a:r>
              <a:rPr sz="1200" b="1" i="0">
                <a:solidFill>
                  <a:srgbClr val="A1B0F7"/>
                </a:solidFill>
                <a:latin typeface="Arial"/>
              </a:rPr>
              <a:t>•  </a:t>
            </a:r>
            <a:r>
              <a:rPr sz="1200" b="0" i="0">
                <a:solidFill>
                  <a:srgbClr val="1B2130"/>
                </a:solidFill>
                <a:latin typeface="Arial"/>
              </a:rPr>
              <a:t>Murine models underpin preclinical vaccine research, yet their translational value remains </a:t>
            </a:r>
            <a:r>
              <a:rPr sz="1200" b="0" i="0">
                <a:solidFill>
                  <a:srgbClr val="1B2130"/>
                </a:solidFill>
                <a:latin typeface="Arial"/>
              </a:rPr>
              <a:t>contested</a:t>
            </a:r>
            <a:r>
              <a:rPr sz="1200" b="0" i="0">
                <a:solidFill>
                  <a:srgbClr val="1B2130"/>
                </a:solidFill>
                <a:latin typeface="Arial"/>
              </a:rPr>
              <a:t>, contributing to clinical trial failures.</a:t>
            </a:r>
          </a:p>
          <a:p>
            <a:pPr algn="l">
              <a:lnSpc>
                <a:spcPct val="120000"/>
              </a:lnSpc>
              <a:spcBef>
                <a:spcPts val="0"/>
              </a:spcBef>
              <a:spcAft>
                <a:spcPts val="500"/>
              </a:spcAft>
            </a:pPr>
            <a:r>
              <a:rPr sz="1200" b="1" i="0">
                <a:solidFill>
                  <a:srgbClr val="A1B0F7"/>
                </a:solidFill>
                <a:latin typeface="Arial"/>
              </a:rPr>
              <a:t>•  </a:t>
            </a:r>
            <a:r>
              <a:rPr sz="1200" b="0" i="0">
                <a:solidFill>
                  <a:srgbClr val="1B2130"/>
                </a:solidFill>
                <a:latin typeface="Arial"/>
              </a:rPr>
              <a:t>Prior cross-species comparisons were largely </a:t>
            </a:r>
            <a:r>
              <a:rPr sz="1200" b="0" i="0">
                <a:solidFill>
                  <a:srgbClr val="1B2130"/>
                </a:solidFill>
                <a:latin typeface="Arial"/>
              </a:rPr>
              <a:t>descriptive</a:t>
            </a:r>
            <a:r>
              <a:rPr sz="1200" b="0" i="0">
                <a:solidFill>
                  <a:srgbClr val="1B2130"/>
                </a:solidFill>
                <a:latin typeface="Arial"/>
              </a:rPr>
              <a:t>: gene-centric, linear, and disconnected from sequence evolution and cis-regulatory architecture.</a:t>
            </a:r>
          </a:p>
          <a:p>
            <a:pPr algn="l">
              <a:lnSpc>
                <a:spcPct val="120000"/>
              </a:lnSpc>
              <a:spcBef>
                <a:spcPts val="0"/>
              </a:spcBef>
              <a:spcAft>
                <a:spcPts val="500"/>
              </a:spcAft>
            </a:pPr>
            <a:r>
              <a:rPr sz="1200" b="1" i="0">
                <a:solidFill>
                  <a:srgbClr val="A1B0F7"/>
                </a:solidFill>
                <a:latin typeface="Arial"/>
              </a:rPr>
              <a:t>•  </a:t>
            </a:r>
            <a:r>
              <a:rPr sz="1200" b="0" i="0">
                <a:solidFill>
                  <a:srgbClr val="1B2130"/>
                </a:solidFill>
                <a:latin typeface="Arial"/>
              </a:rPr>
              <a:t>The consequence: </a:t>
            </a:r>
            <a:r>
              <a:rPr sz="1200" b="0" i="0">
                <a:solidFill>
                  <a:srgbClr val="1B2130"/>
                </a:solidFill>
                <a:latin typeface="Arial"/>
              </a:rPr>
              <a:t>contradictory reports</a:t>
            </a:r>
            <a:r>
              <a:rPr sz="1200" b="0" i="0">
                <a:solidFill>
                  <a:srgbClr val="1B2130"/>
                </a:solidFill>
                <a:latin typeface="Arial"/>
              </a:rPr>
              <a:t> and no practical framework to prioritise targets for human translation.</a:t>
            </a:r>
          </a:p>
        </p:txBody>
      </p:sp>
      <p:sp>
        <p:nvSpPr>
          <p:cNvPr id="10" name="TextBox 9"/>
          <p:cNvSpPr txBox="1"/>
          <p:nvPr/>
        </p:nvSpPr>
        <p:spPr>
          <a:xfrm>
            <a:off x="566928" y="2971292"/>
            <a:ext cx="5254599" cy="91440"/>
          </a:xfrm>
          <a:prstGeom prst="rect">
            <a:avLst/>
          </a:prstGeom>
          <a:noFill/>
        </p:spPr>
        <p:txBody>
          <a:bodyPr wrap="square" lIns="0" rIns="0" tIns="0" bIns="0">
            <a:spAutoFit/>
          </a:bodyPr>
          <a:lstStyle/>
          <a:p>
            <a:pPr algn="l">
              <a:lnSpc>
                <a:spcPct val="100000"/>
              </a:lnSpc>
              <a:spcBef>
                <a:spcPts val="0"/>
              </a:spcBef>
              <a:spcAft>
                <a:spcPts val="0"/>
              </a:spcAft>
            </a:pPr>
            <a:r>
              <a:rPr sz="3400" b="0" i="0">
                <a:solidFill>
                  <a:srgbClr val="4361EE"/>
                </a:solidFill>
                <a:latin typeface="Merriweather"/>
              </a:rPr>
              <a:t>201</a:t>
            </a:r>
          </a:p>
        </p:txBody>
      </p:sp>
      <p:sp>
        <p:nvSpPr>
          <p:cNvPr id="11" name="TextBox 10"/>
          <p:cNvSpPr txBox="1"/>
          <p:nvPr/>
        </p:nvSpPr>
        <p:spPr>
          <a:xfrm>
            <a:off x="566928" y="3475228"/>
            <a:ext cx="5254599" cy="91440"/>
          </a:xfrm>
          <a:prstGeom prst="rect">
            <a:avLst/>
          </a:prstGeom>
          <a:noFill/>
        </p:spPr>
        <p:txBody>
          <a:bodyPr wrap="square" lIns="0" rIns="0" tIns="0" bIns="0">
            <a:spAutoFit/>
          </a:bodyPr>
          <a:lstStyle/>
          <a:p>
            <a:pPr algn="l">
              <a:lnSpc>
                <a:spcPct val="130000"/>
              </a:lnSpc>
              <a:spcBef>
                <a:spcPts val="0"/>
              </a:spcBef>
              <a:spcAft>
                <a:spcPts val="0"/>
              </a:spcAft>
            </a:pPr>
            <a:r>
              <a:rPr sz="850" b="0" i="0" spc="120">
                <a:solidFill>
                  <a:srgbClr val="5B6377"/>
                </a:solidFill>
                <a:latin typeface="Arial"/>
              </a:rPr>
              <a:t>MOUSE IMMUNIZATION DATASETS SCREENED FROM GEO (FIG. 1A)</a:t>
            </a:r>
          </a:p>
        </p:txBody>
      </p:sp>
      <p:sp>
        <p:nvSpPr>
          <p:cNvPr id="12" name="TextBox 11"/>
          <p:cNvSpPr txBox="1"/>
          <p:nvPr/>
        </p:nvSpPr>
        <p:spPr>
          <a:xfrm>
            <a:off x="6095847" y="2971292"/>
            <a:ext cx="5254599" cy="91440"/>
          </a:xfrm>
          <a:prstGeom prst="rect">
            <a:avLst/>
          </a:prstGeom>
          <a:noFill/>
        </p:spPr>
        <p:txBody>
          <a:bodyPr wrap="square" lIns="0" rIns="0" tIns="0" bIns="0">
            <a:spAutoFit/>
          </a:bodyPr>
          <a:lstStyle/>
          <a:p>
            <a:pPr algn="l">
              <a:lnSpc>
                <a:spcPct val="100000"/>
              </a:lnSpc>
              <a:spcBef>
                <a:spcPts val="0"/>
              </a:spcBef>
              <a:spcAft>
                <a:spcPts val="0"/>
              </a:spcAft>
            </a:pPr>
            <a:r>
              <a:rPr sz="3400" b="0" i="0">
                <a:solidFill>
                  <a:srgbClr val="000000"/>
                </a:solidFill>
                <a:latin typeface="Merriweather"/>
              </a:rPr>
              <a:t>6</a:t>
            </a:r>
          </a:p>
        </p:txBody>
      </p:sp>
      <p:sp>
        <p:nvSpPr>
          <p:cNvPr id="13" name="TextBox 12"/>
          <p:cNvSpPr txBox="1"/>
          <p:nvPr/>
        </p:nvSpPr>
        <p:spPr>
          <a:xfrm>
            <a:off x="6095847" y="3475228"/>
            <a:ext cx="5254599" cy="91440"/>
          </a:xfrm>
          <a:prstGeom prst="rect">
            <a:avLst/>
          </a:prstGeom>
          <a:noFill/>
        </p:spPr>
        <p:txBody>
          <a:bodyPr wrap="square" lIns="0" rIns="0" tIns="0" bIns="0">
            <a:spAutoFit/>
          </a:bodyPr>
          <a:lstStyle/>
          <a:p>
            <a:pPr algn="l">
              <a:lnSpc>
                <a:spcPct val="130000"/>
              </a:lnSpc>
              <a:spcBef>
                <a:spcPts val="0"/>
              </a:spcBef>
              <a:spcAft>
                <a:spcPts val="0"/>
              </a:spcAft>
            </a:pPr>
            <a:r>
              <a:rPr sz="850" b="0" i="0" spc="120">
                <a:solidFill>
                  <a:srgbClr val="5B6377"/>
                </a:solidFill>
                <a:latin typeface="Arial"/>
              </a:rPr>
              <a:t>MATCHED MOUSE–HUMAN CONDITIONS CARRIED FORWARD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6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02 · HYPOTHESIS &amp; KEY FINDINGS</a:t>
            </a:r>
          </a:p>
        </p:txBody>
      </p:sp>
      <p:sp>
        <p:nvSpPr>
          <p:cNvPr id="8" name="TextBox 7"/>
          <p:cNvSpPr txBox="1"/>
          <p:nvPr/>
        </p:nvSpPr>
        <p:spPr>
          <a:xfrm>
            <a:off x="566928" y="841248"/>
            <a:ext cx="11057839" cy="91440"/>
          </a:xfrm>
          <a:prstGeom prst="rect">
            <a:avLst/>
          </a:prstGeom>
          <a:noFill/>
        </p:spPr>
        <p:txBody>
          <a:bodyPr wrap="square" lIns="0" rIns="0" tIns="0" bIns="0">
            <a:spAutoFit/>
          </a:bodyPr>
          <a:lstStyle/>
          <a:p>
            <a:pPr algn="l">
              <a:lnSpc>
                <a:spcPct val="106000"/>
              </a:lnSpc>
              <a:spcBef>
                <a:spcPts val="0"/>
              </a:spcBef>
              <a:spcAft>
                <a:spcPts val="0"/>
              </a:spcAft>
            </a:pPr>
            <a:r>
              <a:rPr sz="2600" b="0" i="0">
                <a:solidFill>
                  <a:srgbClr val="000000"/>
                </a:solidFill>
                <a:latin typeface="Merriweather"/>
              </a:rPr>
              <a:t>Higher-order structures are conserved even when single genes diverge</a:t>
            </a:r>
          </a:p>
        </p:txBody>
      </p:sp>
      <p:sp>
        <p:nvSpPr>
          <p:cNvPr id="9" name="TextBox 8"/>
          <p:cNvSpPr txBox="1"/>
          <p:nvPr/>
        </p:nvSpPr>
        <p:spPr>
          <a:xfrm>
            <a:off x="566928" y="1769872"/>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1" i="0">
                <a:solidFill>
                  <a:srgbClr val="1B2130"/>
                </a:solidFill>
                <a:latin typeface="Arial"/>
              </a:rPr>
              <a:t>Core question.</a:t>
            </a:r>
            <a:r>
              <a:rPr sz="1200" b="0" i="0">
                <a:solidFill>
                  <a:srgbClr val="1B2130"/>
                </a:solidFill>
                <a:latin typeface="Arial"/>
              </a:rPr>
              <a:t> To what degree do murine models accurately mirror human blood transcriptomic dynamics during vaccination, acute bacterial infection and systemic sterile injury?</a:t>
            </a:r>
          </a:p>
        </p:txBody>
      </p:sp>
      <p:sp>
        <p:nvSpPr>
          <p:cNvPr id="10" name="TextBox 9"/>
          <p:cNvSpPr txBox="1"/>
          <p:nvPr/>
        </p:nvSpPr>
        <p:spPr>
          <a:xfrm>
            <a:off x="566928" y="2446528"/>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1" i="0">
                <a:solidFill>
                  <a:srgbClr val="1B2130"/>
                </a:solidFill>
                <a:latin typeface="Arial"/>
              </a:rPr>
              <a:t>Central hypothesis.</a:t>
            </a:r>
            <a:r>
              <a:rPr sz="1200" b="0" i="0">
                <a:solidFill>
                  <a:srgbClr val="1B2130"/>
                </a:solidFill>
                <a:latin typeface="Arial"/>
              </a:rPr>
              <a:t> Functional pathways, Blood Transcription Modules and coordinated gene networks are evolutionarily conserved across species, retaining high predictive fidelity </a:t>
            </a:r>
            <a:r>
              <a:rPr sz="1200" b="1" i="0">
                <a:solidFill>
                  <a:srgbClr val="1B2130"/>
                </a:solidFill>
                <a:latin typeface="Arial"/>
              </a:rPr>
              <a:t>even when individual gene effect sizes diverge</a:t>
            </a:r>
            <a:r>
              <a:rPr sz="1200" b="0" i="0">
                <a:solidFill>
                  <a:srgbClr val="1B2130"/>
                </a:solidFill>
                <a:latin typeface="Arial"/>
              </a:rPr>
              <a:t>.</a:t>
            </a:r>
          </a:p>
        </p:txBody>
      </p:sp>
      <p:sp>
        <p:nvSpPr>
          <p:cNvPr id="11" name="TextBox 10"/>
          <p:cNvSpPr txBox="1"/>
          <p:nvPr/>
        </p:nvSpPr>
        <p:spPr>
          <a:xfrm>
            <a:off x="6347307" y="1769872"/>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1" i="0">
                <a:solidFill>
                  <a:srgbClr val="1B2130"/>
                </a:solidFill>
                <a:latin typeface="Arial"/>
              </a:rPr>
              <a:t>Four findings (as reported).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7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03 · STUDY DESIGN</a:t>
            </a:r>
          </a:p>
        </p:txBody>
      </p:sp>
      <p:sp>
        <p:nvSpPr>
          <p:cNvPr id="8" name="TextBox 7"/>
          <p:cNvSpPr txBox="1"/>
          <p:nvPr/>
        </p:nvSpPr>
        <p:spPr>
          <a:xfrm>
            <a:off x="566928" y="960120"/>
            <a:ext cx="5277459" cy="91440"/>
          </a:xfrm>
          <a:prstGeom prst="rect">
            <a:avLst/>
          </a:prstGeom>
          <a:noFill/>
        </p:spPr>
        <p:txBody>
          <a:bodyPr wrap="square" lIns="0" rIns="0" tIns="0" bIns="0">
            <a:spAutoFit/>
          </a:bodyPr>
          <a:lstStyle/>
          <a:p>
            <a:pPr algn="l">
              <a:lnSpc>
                <a:spcPct val="106000"/>
              </a:lnSpc>
              <a:spcBef>
                <a:spcPts val="0"/>
              </a:spcBef>
              <a:spcAft>
                <a:spcPts val="0"/>
              </a:spcAft>
            </a:pPr>
            <a:r>
              <a:rPr sz="2300" b="0" i="0">
                <a:solidFill>
                  <a:srgbClr val="000000"/>
                </a:solidFill>
                <a:latin typeface="Merriweather"/>
              </a:rPr>
              <a:t>One framework, three stimulus categories, matched across species</a:t>
            </a:r>
          </a:p>
        </p:txBody>
      </p:sp>
      <p:sp>
        <p:nvSpPr>
          <p:cNvPr id="9" name="TextBox 8"/>
          <p:cNvSpPr txBox="1"/>
          <p:nvPr/>
        </p:nvSpPr>
        <p:spPr>
          <a:xfrm>
            <a:off x="566928" y="1762252"/>
            <a:ext cx="5277459" cy="91440"/>
          </a:xfrm>
          <a:prstGeom prst="rect">
            <a:avLst/>
          </a:prstGeom>
          <a:noFill/>
        </p:spPr>
        <p:txBody>
          <a:bodyPr wrap="square" lIns="0" rIns="0" tIns="0" bIns="0">
            <a:spAutoFit/>
          </a:bodyPr>
          <a:lstStyle/>
          <a:p>
            <a:pPr algn="l">
              <a:lnSpc>
                <a:spcPct val="120000"/>
              </a:lnSpc>
              <a:spcBef>
                <a:spcPts val="0"/>
              </a:spcBef>
              <a:spcAft>
                <a:spcPts val="500"/>
              </a:spcAft>
            </a:pPr>
            <a:r>
              <a:rPr sz="1200" b="1" i="0">
                <a:solidFill>
                  <a:srgbClr val="A1B0F7"/>
                </a:solidFill>
                <a:latin typeface="Arial"/>
              </a:rPr>
              <a:t>•  </a:t>
            </a:r>
            <a:r>
              <a:rPr sz="1200" b="0" i="0">
                <a:solidFill>
                  <a:srgbClr val="1B2130"/>
                </a:solidFill>
                <a:latin typeface="Arial"/>
              </a:rPr>
              <a:t>Vaccination</a:t>
            </a:r>
            <a:r>
              <a:rPr sz="1200" b="0" i="0">
                <a:solidFill>
                  <a:srgbClr val="1B2130"/>
                </a:solidFill>
                <a:latin typeface="Arial"/>
              </a:rPr>
              <a:t> — Fluad® (influenza), Engerix B® (hepatitis B)</a:t>
            </a:r>
          </a:p>
          <a:p>
            <a:pPr algn="l">
              <a:lnSpc>
                <a:spcPct val="120000"/>
              </a:lnSpc>
              <a:spcBef>
                <a:spcPts val="0"/>
              </a:spcBef>
              <a:spcAft>
                <a:spcPts val="500"/>
              </a:spcAft>
            </a:pPr>
            <a:r>
              <a:rPr sz="1200" b="1" i="0">
                <a:solidFill>
                  <a:srgbClr val="A1B0F7"/>
                </a:solidFill>
                <a:latin typeface="Arial"/>
              </a:rPr>
              <a:t>•  </a:t>
            </a:r>
            <a:r>
              <a:rPr sz="1200" b="0" i="0">
                <a:solidFill>
                  <a:srgbClr val="1B2130"/>
                </a:solidFill>
                <a:latin typeface="Arial"/>
              </a:rPr>
              <a:t>Infection</a:t>
            </a:r>
            <a:r>
              <a:rPr sz="1200" b="0" i="0">
                <a:solidFill>
                  <a:srgbClr val="1B2130"/>
                </a:solidFill>
                <a:latin typeface="Arial"/>
              </a:rPr>
              <a:t> — </a:t>
            </a:r>
            <a:r>
              <a:rPr sz="1200" b="0" i="0">
                <a:solidFill>
                  <a:srgbClr val="1B2130"/>
                </a:solidFill>
                <a:latin typeface="Arial"/>
              </a:rPr>
              <a:t>S. aureus</a:t>
            </a:r>
            <a:r>
              <a:rPr sz="1200" b="0" i="0">
                <a:solidFill>
                  <a:srgbClr val="1B2130"/>
                </a:solidFill>
                <a:latin typeface="Arial"/>
              </a:rPr>
              <a:t>, </a:t>
            </a:r>
            <a:r>
              <a:rPr sz="1200" b="0" i="0">
                <a:solidFill>
                  <a:srgbClr val="1B2130"/>
                </a:solidFill>
                <a:latin typeface="Arial"/>
              </a:rPr>
              <a:t>E. coli</a:t>
            </a:r>
          </a:p>
          <a:p>
            <a:pPr algn="l">
              <a:lnSpc>
                <a:spcPct val="120000"/>
              </a:lnSpc>
              <a:spcBef>
                <a:spcPts val="0"/>
              </a:spcBef>
              <a:spcAft>
                <a:spcPts val="500"/>
              </a:spcAft>
            </a:pPr>
            <a:r>
              <a:rPr sz="1200" b="1" i="0">
                <a:solidFill>
                  <a:srgbClr val="A1B0F7"/>
                </a:solidFill>
                <a:latin typeface="Arial"/>
              </a:rPr>
              <a:t>•  </a:t>
            </a:r>
            <a:r>
              <a:rPr sz="1200" b="0" i="0">
                <a:solidFill>
                  <a:srgbClr val="1B2130"/>
                </a:solidFill>
                <a:latin typeface="Arial"/>
              </a:rPr>
              <a:t>Injury</a:t>
            </a:r>
            <a:r>
              <a:rPr sz="1200" b="0" i="0">
                <a:solidFill>
                  <a:srgbClr val="1B2130"/>
                </a:solidFill>
                <a:latin typeface="Arial"/>
              </a:rPr>
              <a:t> — burn, trauma-haemorrhage</a:t>
            </a:r>
          </a:p>
          <a:p>
            <a:pPr algn="l">
              <a:lnSpc>
                <a:spcPct val="120000"/>
              </a:lnSpc>
              <a:spcBef>
                <a:spcPts val="0"/>
              </a:spcBef>
              <a:spcAft>
                <a:spcPts val="500"/>
              </a:spcAft>
            </a:pPr>
            <a:r>
              <a:rPr sz="1200" b="1" i="0">
                <a:solidFill>
                  <a:srgbClr val="A1B0F7"/>
                </a:solidFill>
                <a:latin typeface="Arial"/>
              </a:rPr>
              <a:t>•  </a:t>
            </a:r>
            <a:r>
              <a:rPr sz="1200" b="0" i="0">
                <a:solidFill>
                  <a:srgbClr val="1B2130"/>
                </a:solidFill>
                <a:latin typeface="Arial"/>
              </a:rPr>
              <a:t>+ DMD</a:t>
            </a:r>
            <a:r>
              <a:rPr sz="1200" b="0" i="0">
                <a:solidFill>
                  <a:srgbClr val="1B2130"/>
                </a:solidFill>
                <a:latin typeface="Arial"/>
              </a:rPr>
              <a:t> (mdx mouse) as a biological negative control</a:t>
            </a:r>
          </a:p>
        </p:txBody>
      </p:sp>
      <p:sp>
        <p:nvSpPr>
          <p:cNvPr id="10" name="TextBox 9"/>
          <p:cNvSpPr txBox="1"/>
          <p:nvPr/>
        </p:nvSpPr>
        <p:spPr>
          <a:xfrm>
            <a:off x="566928" y="2890012"/>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Blood transcriptomes · GEO / BioProject</a:t>
            </a:r>
            <a:r>
              <a:rPr sz="1200" b="0" i="0">
                <a:solidFill>
                  <a:srgbClr val="1B2130"/>
                </a:solidFill>
                <a:latin typeface="Arial"/>
              </a:rPr>
              <a:t>
</a:t>
            </a:r>
            <a:r>
              <a:rPr sz="1200" b="0" i="0">
                <a:solidFill>
                  <a:srgbClr val="1B2130"/>
                </a:solidFill>
                <a:latin typeface="Arial"/>
              </a:rPr>
              <a:t> limma + empirical Bayes · covariates (age, sex, ethnicity)</a:t>
            </a:r>
            <a:r>
              <a:rPr sz="1200" b="0" i="0">
                <a:solidFill>
                  <a:srgbClr val="1B2130"/>
                </a:solidFill>
                <a:latin typeface="Arial"/>
              </a:rPr>
              <a:t>
</a:t>
            </a:r>
            <a:r>
              <a:rPr sz="1200" b="0" i="0">
                <a:solidFill>
                  <a:srgbClr val="1B2130"/>
                </a:solidFill>
                <a:latin typeface="Arial"/>
              </a:rPr>
              <a:t> human downsampled to n = 5, 200 iterations, median statistics</a:t>
            </a:r>
          </a:p>
        </p:txBody>
      </p:sp>
      <p:pic>
        <p:nvPicPr>
          <p:cNvPr id="11" name="Picture 10" descr="fig1b-timelines.png"/>
          <p:cNvPicPr>
            <a:picLocks noChangeAspect="1"/>
          </p:cNvPicPr>
          <p:nvPr/>
        </p:nvPicPr>
        <p:blipFill>
          <a:blip r:embed="rId2"/>
          <a:stretch>
            <a:fillRect/>
          </a:stretch>
        </p:blipFill>
        <p:spPr>
          <a:xfrm>
            <a:off x="6361521" y="960120"/>
            <a:ext cx="5249031" cy="4526280"/>
          </a:xfrm>
          <a:prstGeom prst="rect">
            <a:avLst/>
          </a:prstGeom>
        </p:spPr>
      </p:pic>
      <p:sp>
        <p:nvSpPr>
          <p:cNvPr id="12" name="TextBox 11"/>
          <p:cNvSpPr txBox="1"/>
          <p:nvPr/>
        </p:nvSpPr>
        <p:spPr>
          <a:xfrm>
            <a:off x="6347307" y="5596128"/>
            <a:ext cx="5277459" cy="91440"/>
          </a:xfrm>
          <a:prstGeom prst="rect">
            <a:avLst/>
          </a:prstGeom>
          <a:noFill/>
        </p:spPr>
        <p:txBody>
          <a:bodyPr wrap="square" lIns="0" rIns="0" tIns="0" bIns="0">
            <a:spAutoFit/>
          </a:bodyPr>
          <a:lstStyle/>
          <a:p>
            <a:pPr algn="l">
              <a:lnSpc>
                <a:spcPct val="135000"/>
              </a:lnSpc>
              <a:spcBef>
                <a:spcPts val="0"/>
              </a:spcBef>
              <a:spcAft>
                <a:spcPts val="0"/>
              </a:spcAft>
            </a:pPr>
            <a:r>
              <a:rPr sz="850" b="0" i="0">
                <a:solidFill>
                  <a:srgbClr val="5B6377"/>
                </a:solidFill>
                <a:latin typeface="Arial"/>
              </a:rPr>
              <a:t>Fig. 1b — experimental timelines for matched mouse and human datasets across vaccination, infection and injury (GSE120661 · GSE124689 · GSE19668 · GSE33341 · GSE7404 · GSE37069 · GSE36809).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8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04 · DATA SOURCES — REPOSITORY SEARCH STRATEGY</a:t>
            </a:r>
          </a:p>
        </p:txBody>
      </p:sp>
      <p:sp>
        <p:nvSpPr>
          <p:cNvPr id="8" name="TextBox 7"/>
          <p:cNvSpPr txBox="1"/>
          <p:nvPr/>
        </p:nvSpPr>
        <p:spPr>
          <a:xfrm>
            <a:off x="6347307"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Where records conflicted with the publication, the GEO record was prioritised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9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05 · FROM 201 DATASETS TO 6 MATCHED CONDITIONS</a:t>
            </a:r>
          </a:p>
        </p:txBody>
      </p:sp>
      <p:sp>
        <p:nvSpPr>
          <p:cNvPr id="8" name="TextBox 7"/>
          <p:cNvSpPr txBox="1"/>
          <p:nvPr/>
        </p:nvSpPr>
        <p:spPr>
          <a:xfrm>
            <a:off x="566928" y="841248"/>
            <a:ext cx="11057839" cy="91440"/>
          </a:xfrm>
          <a:prstGeom prst="rect">
            <a:avLst/>
          </a:prstGeom>
          <a:noFill/>
        </p:spPr>
        <p:txBody>
          <a:bodyPr wrap="square" lIns="0" rIns="0" tIns="0" bIns="0">
            <a:spAutoFit/>
          </a:bodyPr>
          <a:lstStyle/>
          <a:p>
            <a:pPr algn="l">
              <a:lnSpc>
                <a:spcPct val="106000"/>
              </a:lnSpc>
              <a:spcBef>
                <a:spcPts val="0"/>
              </a:spcBef>
              <a:spcAft>
                <a:spcPts val="0"/>
              </a:spcAft>
            </a:pPr>
            <a:r>
              <a:rPr sz="2600" b="0" i="0">
                <a:solidFill>
                  <a:srgbClr val="000000"/>
                </a:solidFill>
                <a:latin typeface="Merriweather"/>
              </a:rPr>
              <a:t>Only a handful of murine cohorts met the bar for a direct comparison</a:t>
            </a:r>
          </a:p>
        </p:txBody>
      </p:sp>
      <p:sp>
        <p:nvSpPr>
          <p:cNvPr id="9" name="TextBox 8"/>
          <p:cNvSpPr txBox="1"/>
          <p:nvPr/>
        </p:nvSpPr>
        <p:spPr>
          <a:xfrm>
            <a:off x="566928" y="1724152"/>
            <a:ext cx="5254599" cy="91440"/>
          </a:xfrm>
          <a:prstGeom prst="rect">
            <a:avLst/>
          </a:prstGeom>
          <a:noFill/>
        </p:spPr>
        <p:txBody>
          <a:bodyPr wrap="square" lIns="0" rIns="0" tIns="0" bIns="0">
            <a:spAutoFit/>
          </a:bodyPr>
          <a:lstStyle/>
          <a:p>
            <a:pPr algn="l">
              <a:lnSpc>
                <a:spcPct val="100000"/>
              </a:lnSpc>
              <a:spcBef>
                <a:spcPts val="0"/>
              </a:spcBef>
              <a:spcAft>
                <a:spcPts val="0"/>
              </a:spcAft>
            </a:pPr>
            <a:r>
              <a:rPr sz="4800" b="0" i="0">
                <a:solidFill>
                  <a:srgbClr val="4361EE"/>
                </a:solidFill>
                <a:latin typeface="Merriweather"/>
              </a:rPr>
              <a:t>201</a:t>
            </a:r>
          </a:p>
        </p:txBody>
      </p:sp>
      <p:sp>
        <p:nvSpPr>
          <p:cNvPr id="10" name="TextBox 9"/>
          <p:cNvSpPr txBox="1"/>
          <p:nvPr/>
        </p:nvSpPr>
        <p:spPr>
          <a:xfrm>
            <a:off x="566928" y="2413000"/>
            <a:ext cx="5254599" cy="91440"/>
          </a:xfrm>
          <a:prstGeom prst="rect">
            <a:avLst/>
          </a:prstGeom>
          <a:noFill/>
        </p:spPr>
        <p:txBody>
          <a:bodyPr wrap="square" lIns="0" rIns="0" tIns="0" bIns="0">
            <a:spAutoFit/>
          </a:bodyPr>
          <a:lstStyle/>
          <a:p>
            <a:pPr algn="l">
              <a:lnSpc>
                <a:spcPct val="130000"/>
              </a:lnSpc>
              <a:spcBef>
                <a:spcPts val="0"/>
              </a:spcBef>
              <a:spcAft>
                <a:spcPts val="0"/>
              </a:spcAft>
            </a:pPr>
            <a:r>
              <a:rPr sz="1000" b="0" i="0" spc="120">
                <a:solidFill>
                  <a:srgbClr val="5B6377"/>
                </a:solidFill>
                <a:latin typeface="Arial"/>
              </a:rPr>
              <a:t>MOUSE IMMUNIZATION DATASETS RETRIEVED FROM GEO</a:t>
            </a:r>
          </a:p>
        </p:txBody>
      </p:sp>
      <p:sp>
        <p:nvSpPr>
          <p:cNvPr id="11" name="TextBox 10"/>
          <p:cNvSpPr txBox="1"/>
          <p:nvPr/>
        </p:nvSpPr>
        <p:spPr>
          <a:xfrm>
            <a:off x="6095847" y="1724152"/>
            <a:ext cx="5254599" cy="91440"/>
          </a:xfrm>
          <a:prstGeom prst="rect">
            <a:avLst/>
          </a:prstGeom>
          <a:noFill/>
        </p:spPr>
        <p:txBody>
          <a:bodyPr wrap="square" lIns="0" rIns="0" tIns="0" bIns="0">
            <a:spAutoFit/>
          </a:bodyPr>
          <a:lstStyle/>
          <a:p>
            <a:pPr algn="l">
              <a:lnSpc>
                <a:spcPct val="100000"/>
              </a:lnSpc>
              <a:spcBef>
                <a:spcPts val="0"/>
              </a:spcBef>
              <a:spcAft>
                <a:spcPts val="0"/>
              </a:spcAft>
            </a:pPr>
            <a:r>
              <a:rPr sz="4800" b="0" i="0">
                <a:solidFill>
                  <a:srgbClr val="000000"/>
                </a:solidFill>
                <a:latin typeface="Merriweather"/>
              </a:rPr>
              <a:t>6</a:t>
            </a:r>
          </a:p>
        </p:txBody>
      </p:sp>
      <p:sp>
        <p:nvSpPr>
          <p:cNvPr id="12" name="TextBox 11"/>
          <p:cNvSpPr txBox="1"/>
          <p:nvPr/>
        </p:nvSpPr>
        <p:spPr>
          <a:xfrm>
            <a:off x="6095847" y="2413000"/>
            <a:ext cx="5254599" cy="91440"/>
          </a:xfrm>
          <a:prstGeom prst="rect">
            <a:avLst/>
          </a:prstGeom>
          <a:noFill/>
        </p:spPr>
        <p:txBody>
          <a:bodyPr wrap="square" lIns="0" rIns="0" tIns="0" bIns="0">
            <a:spAutoFit/>
          </a:bodyPr>
          <a:lstStyle/>
          <a:p>
            <a:pPr algn="l">
              <a:lnSpc>
                <a:spcPct val="130000"/>
              </a:lnSpc>
              <a:spcBef>
                <a:spcPts val="0"/>
              </a:spcBef>
              <a:spcAft>
                <a:spcPts val="0"/>
              </a:spcAft>
            </a:pPr>
            <a:r>
              <a:rPr sz="1000" b="0" i="0" spc="120">
                <a:solidFill>
                  <a:srgbClr val="5B6377"/>
                </a:solidFill>
                <a:latin typeface="Arial"/>
              </a:rPr>
              <a:t>MATCHED MOUSE–HUMAN CONDITIONS CARRIED FORWARD</a:t>
            </a:r>
          </a:p>
        </p:txBody>
      </p:sp>
      <p:sp>
        <p:nvSpPr>
          <p:cNvPr id="13" name="TextBox 12"/>
          <p:cNvSpPr txBox="1"/>
          <p:nvPr/>
        </p:nvSpPr>
        <p:spPr>
          <a:xfrm>
            <a:off x="566928" y="2742692"/>
            <a:ext cx="1105783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GSE120661 (influenza + hepatitis B) was carried forward; GSE182858 (influenza in “dirty” mice) could not be compared with the human cohort — sampling at 3 h before/after immunisation vs. days 1, 3 and 7 — and was not used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10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06 · THE SIX MATCHED MOUSE–HUMAN CONDITIONS</a:t>
            </a:r>
          </a:p>
        </p:txBody>
      </p:sp>
      <p:sp>
        <p:nvSpPr>
          <p:cNvPr id="8" name="Rectangle 7"/>
          <p:cNvSpPr/>
          <p:nvPr/>
        </p:nvSpPr>
        <p:spPr>
          <a:xfrm>
            <a:off x="566928" y="1005840"/>
            <a:ext cx="5277459" cy="20116"/>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133856"/>
            <a:ext cx="5277459" cy="91440"/>
          </a:xfrm>
          <a:prstGeom prst="rect">
            <a:avLst/>
          </a:prstGeom>
          <a:noFill/>
        </p:spPr>
        <p:txBody>
          <a:bodyPr wrap="square" lIns="0" rIns="0" tIns="0" bIns="0">
            <a:spAutoFit/>
          </a:bodyPr>
          <a:lstStyle/>
          <a:p>
            <a:pPr algn="l">
              <a:lnSpc>
                <a:spcPct val="100000"/>
              </a:lnSpc>
              <a:spcBef>
                <a:spcPts val="0"/>
              </a:spcBef>
              <a:spcAft>
                <a:spcPts val="0"/>
              </a:spcAft>
            </a:pPr>
            <a:r>
              <a:rPr sz="900" b="0" i="0" spc="140">
                <a:solidFill>
                  <a:srgbClr val="5B6377"/>
                </a:solidFill>
                <a:latin typeface="Arial"/>
              </a:rPr>
              <a:t>VACCINATION — SUBUNIT / INACTIVATED</a:t>
            </a:r>
          </a:p>
        </p:txBody>
      </p:sp>
      <p:sp>
        <p:nvSpPr>
          <p:cNvPr id="10" name="TextBox 9"/>
          <p:cNvSpPr txBox="1"/>
          <p:nvPr/>
        </p:nvSpPr>
        <p:spPr>
          <a:xfrm>
            <a:off x="566928" y="1353312"/>
            <a:ext cx="5277459" cy="91440"/>
          </a:xfrm>
          <a:prstGeom prst="rect">
            <a:avLst/>
          </a:prstGeom>
          <a:noFill/>
        </p:spPr>
        <p:txBody>
          <a:bodyPr wrap="square" lIns="0" rIns="0" tIns="0" bIns="0">
            <a:spAutoFit/>
          </a:bodyPr>
          <a:lstStyle/>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Influenza (Fluad®, TIV + MF59) — human GSE124689 · mouse GSE120661</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Hepatitis B (Engerix B®) — human GSE124533 · mouse GSE120661</a:t>
            </a:r>
          </a:p>
        </p:txBody>
      </p:sp>
      <p:sp>
        <p:nvSpPr>
          <p:cNvPr id="11" name="Rectangle 10"/>
          <p:cNvSpPr/>
          <p:nvPr/>
        </p:nvSpPr>
        <p:spPr>
          <a:xfrm>
            <a:off x="566928" y="2115820"/>
            <a:ext cx="5277459" cy="20116"/>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243836"/>
            <a:ext cx="5277459" cy="91440"/>
          </a:xfrm>
          <a:prstGeom prst="rect">
            <a:avLst/>
          </a:prstGeom>
          <a:noFill/>
        </p:spPr>
        <p:txBody>
          <a:bodyPr wrap="square" lIns="0" rIns="0" tIns="0" bIns="0">
            <a:spAutoFit/>
          </a:bodyPr>
          <a:lstStyle/>
          <a:p>
            <a:pPr algn="l">
              <a:lnSpc>
                <a:spcPct val="100000"/>
              </a:lnSpc>
              <a:spcBef>
                <a:spcPts val="0"/>
              </a:spcBef>
              <a:spcAft>
                <a:spcPts val="0"/>
              </a:spcAft>
            </a:pPr>
            <a:r>
              <a:rPr sz="900" b="0" i="0" spc="140">
                <a:solidFill>
                  <a:srgbClr val="5B6377"/>
                </a:solidFill>
                <a:latin typeface="Arial"/>
              </a:rPr>
              <a:t>ACUTE BACTERIAL INFECTION</a:t>
            </a:r>
          </a:p>
        </p:txBody>
      </p:sp>
      <p:sp>
        <p:nvSpPr>
          <p:cNvPr id="13" name="TextBox 12"/>
          <p:cNvSpPr txBox="1"/>
          <p:nvPr/>
        </p:nvSpPr>
        <p:spPr>
          <a:xfrm>
            <a:off x="566928" y="2463292"/>
            <a:ext cx="5277459" cy="91440"/>
          </a:xfrm>
          <a:prstGeom prst="rect">
            <a:avLst/>
          </a:prstGeom>
          <a:noFill/>
        </p:spPr>
        <p:txBody>
          <a:bodyPr wrap="square" lIns="0" rIns="0" tIns="0" bIns="0">
            <a:spAutoFit/>
          </a:bodyPr>
          <a:lstStyle/>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S. aureus bacteraemia — human GSE33341 · mouse GSE19668</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E. coli sepsis — human GSE33341 · mouse GSE33341</a:t>
            </a:r>
          </a:p>
        </p:txBody>
      </p:sp>
      <p:sp>
        <p:nvSpPr>
          <p:cNvPr id="14" name="Rectangle 13"/>
          <p:cNvSpPr/>
          <p:nvPr/>
        </p:nvSpPr>
        <p:spPr>
          <a:xfrm>
            <a:off x="6347307" y="1005840"/>
            <a:ext cx="5277459" cy="20116"/>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1133856"/>
            <a:ext cx="5277459" cy="91440"/>
          </a:xfrm>
          <a:prstGeom prst="rect">
            <a:avLst/>
          </a:prstGeom>
          <a:noFill/>
        </p:spPr>
        <p:txBody>
          <a:bodyPr wrap="square" lIns="0" rIns="0" tIns="0" bIns="0">
            <a:spAutoFit/>
          </a:bodyPr>
          <a:lstStyle/>
          <a:p>
            <a:pPr algn="l">
              <a:lnSpc>
                <a:spcPct val="100000"/>
              </a:lnSpc>
              <a:spcBef>
                <a:spcPts val="0"/>
              </a:spcBef>
              <a:spcAft>
                <a:spcPts val="0"/>
              </a:spcAft>
            </a:pPr>
            <a:r>
              <a:rPr sz="900" b="0" i="0" spc="140">
                <a:solidFill>
                  <a:srgbClr val="5B6377"/>
                </a:solidFill>
                <a:latin typeface="Arial"/>
              </a:rPr>
              <a:t>STERILE INJURY</a:t>
            </a:r>
          </a:p>
        </p:txBody>
      </p:sp>
      <p:sp>
        <p:nvSpPr>
          <p:cNvPr id="16" name="TextBox 15"/>
          <p:cNvSpPr txBox="1"/>
          <p:nvPr/>
        </p:nvSpPr>
        <p:spPr>
          <a:xfrm>
            <a:off x="6347307" y="1353312"/>
            <a:ext cx="5277459" cy="91440"/>
          </a:xfrm>
          <a:prstGeom prst="rect">
            <a:avLst/>
          </a:prstGeom>
          <a:noFill/>
        </p:spPr>
        <p:txBody>
          <a:bodyPr wrap="square" lIns="0" rIns="0" tIns="0" bIns="0">
            <a:spAutoFit/>
          </a:bodyPr>
          <a:lstStyle/>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Severe burn — human GSE37069 · mouse GSE7404</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Trauma-haemorrhage — human GSE36809 · mouse GSE7404</a:t>
            </a:r>
          </a:p>
        </p:txBody>
      </p:sp>
      <p:sp>
        <p:nvSpPr>
          <p:cNvPr id="17" name="Rectangle 16"/>
          <p:cNvSpPr/>
          <p:nvPr/>
        </p:nvSpPr>
        <p:spPr>
          <a:xfrm>
            <a:off x="6347307" y="1940560"/>
            <a:ext cx="5277459" cy="20116"/>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7307" y="2068576"/>
            <a:ext cx="5277459" cy="91440"/>
          </a:xfrm>
          <a:prstGeom prst="rect">
            <a:avLst/>
          </a:prstGeom>
          <a:noFill/>
        </p:spPr>
        <p:txBody>
          <a:bodyPr wrap="square" lIns="0" rIns="0" tIns="0" bIns="0">
            <a:spAutoFit/>
          </a:bodyPr>
          <a:lstStyle/>
          <a:p>
            <a:pPr algn="l">
              <a:lnSpc>
                <a:spcPct val="100000"/>
              </a:lnSpc>
              <a:spcBef>
                <a:spcPts val="0"/>
              </a:spcBef>
              <a:spcAft>
                <a:spcPts val="0"/>
              </a:spcAft>
            </a:pPr>
            <a:r>
              <a:rPr sz="900" b="0" i="0" spc="140">
                <a:solidFill>
                  <a:srgbClr val="5B6377"/>
                </a:solidFill>
                <a:latin typeface="Arial"/>
              </a:rPr>
              <a:t>BIOLOGICAL NEGATIVE CONTROL</a:t>
            </a:r>
          </a:p>
        </p:txBody>
      </p:sp>
      <p:sp>
        <p:nvSpPr>
          <p:cNvPr id="19" name="TextBox 18"/>
          <p:cNvSpPr txBox="1"/>
          <p:nvPr/>
        </p:nvSpPr>
        <p:spPr>
          <a:xfrm>
            <a:off x="6347307" y="2288032"/>
            <a:ext cx="5277459" cy="91440"/>
          </a:xfrm>
          <a:prstGeom prst="rect">
            <a:avLst/>
          </a:prstGeom>
          <a:noFill/>
        </p:spPr>
        <p:txBody>
          <a:bodyPr wrap="square" lIns="0" rIns="0" tIns="0" bIns="0">
            <a:spAutoFit/>
          </a:bodyPr>
          <a:lstStyle/>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Duchenne muscular dystrophy (mdx) — mouse GSE1025 , muscle tissue, peak pathological timepoint day 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11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07 · MOUSE VACCINATION COHORT METADATA</a:t>
            </a:r>
          </a:p>
        </p:txBody>
      </p:sp>
      <p:sp>
        <p:nvSpPr>
          <p:cNvPr id="8" name="TextBox 7"/>
          <p:cNvSpPr txBox="1"/>
          <p:nvPr/>
        </p:nvSpPr>
        <p:spPr>
          <a:xfrm>
            <a:off x="6347307"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GSE182858 (Quadri 2019-2020, IN route, ±Addavax) and GSE224584 (N. meningitidis ACWY, whole blood) illustrate the screened-but-unused periphery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12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08 · NEGATIVE CONTROL — DUCHENNE MUSCULAR DYSTROPHY</a:t>
            </a:r>
          </a:p>
        </p:txBody>
      </p:sp>
      <p:sp>
        <p:nvSpPr>
          <p:cNvPr id="8" name="TextBox 7"/>
          <p:cNvSpPr txBox="1"/>
          <p:nvPr/>
        </p:nvSpPr>
        <p:spPr>
          <a:xfrm>
            <a:off x="566928"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DMD ROC-AUC 0.48–0.61 — near random, as expected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13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09 · PLATFORM-SPECIFIC NORMALISATION</a:t>
            </a:r>
          </a:p>
        </p:txBody>
      </p:sp>
      <p:sp>
        <p:nvSpPr>
          <p:cNvPr id="8" name="TextBox 7"/>
          <p:cNvSpPr txBox="1"/>
          <p:nvPr/>
        </p:nvSpPr>
        <p:spPr>
          <a:xfrm>
            <a:off x="6347307"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log2 intensity retained; no arbitrary truncation of effect sizes before modelling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14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10 · PROBE COLLAPSING &amp; ORTHOLOG MAPPING</a:t>
            </a:r>
          </a:p>
        </p:txBody>
      </p:sp>
      <p:sp>
        <p:nvSpPr>
          <p:cNvPr id="8" name="TextBox 7"/>
          <p:cNvSpPr txBox="1"/>
          <p:nvPr/>
        </p:nvSpPr>
        <p:spPr>
          <a:xfrm>
            <a:off x="6347307"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Probes: highest median, not mean · Orthologs: MGI 1:1 only · Human ref: highest median Entrez</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15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11 · QUALITY CONTROL &amp; OUTLIER DETECTION</a:t>
            </a:r>
          </a:p>
        </p:txBody>
      </p:sp>
      <p:sp>
        <p:nvSpPr>
          <p:cNvPr id="8" name="TextBox 7"/>
          <p:cNvSpPr txBox="1"/>
          <p:nvPr/>
        </p:nvSpPr>
        <p:spPr>
          <a:xfrm>
            <a:off x="6347307"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\[\text{RLE}_{gi} = \log_2(E_{gi}) - \operatorname{median}_{j}\big(\log_2(E_{gj})\big)\]</a:t>
            </a:r>
          </a:p>
        </p:txBody>
      </p:sp>
      <p:sp>
        <p:nvSpPr>
          <p:cNvPr id="9" name="TextBox 8"/>
          <p:cNvSpPr txBox="1"/>
          <p:nvPr/>
        </p:nvSpPr>
        <p:spPr>
          <a:xfrm>
            <a:off x="6347307" y="1496568"/>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1.1_QualityControl.Rmd · SA and MA plots · before-vs-processed summaries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16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12 · DIFFERENTIAL EXPRESSION WITH LIMMA</a:t>
            </a:r>
          </a:p>
        </p:txBody>
      </p:sp>
      <p:sp>
        <p:nvSpPr>
          <p:cNvPr id="8" name="TextBox 7"/>
          <p:cNvSpPr txBox="1"/>
          <p:nvPr/>
        </p:nvSpPr>
        <p:spPr>
          <a:xfrm>
            <a:off x="6347307"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\[\tilde{s}_g^2 = \frac{d_0 s_0^2 + d_g s_g^2}{d_0 + d_g}\]</a:t>
            </a:r>
          </a:p>
        </p:txBody>
      </p:sp>
      <p:sp>
        <p:nvSpPr>
          <p:cNvPr id="9" name="TextBox 8"/>
          <p:cNvSpPr txBox="1"/>
          <p:nvPr/>
        </p:nvSpPr>
        <p:spPr>
          <a:xfrm>
            <a:off x="6347307" y="13106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DGE threshold: BH-adjusted P &lt; 0.05 · effect sizes retained continuously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17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13 · COVARIATES, BATCH EFFECTS &amp; SAMPLE WEIGHTS</a:t>
            </a:r>
          </a:p>
        </p:txBody>
      </p:sp>
      <p:sp>
        <p:nvSpPr>
          <p:cNvPr id="8" name="TextBox 7"/>
          <p:cNvSpPr txBox="1"/>
          <p:nvPr/>
        </p:nvSpPr>
        <p:spPr>
          <a:xfrm>
            <a:off x="6347307"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1">
                <a:solidFill>
                  <a:srgbClr val="1B2130"/>
                </a:solidFill>
                <a:latin typeface="Arial"/>
              </a:rPr>
              <a:t>E. coli</a:t>
            </a:r>
            <a:r>
              <a:rPr sz="1200" b="0" i="0">
                <a:solidFill>
                  <a:srgbClr val="1B2130"/>
                </a:solidFill>
                <a:latin typeface="Arial"/>
              </a:rPr>
              <a:t>: mouse and human blocks come from the same GEO series (GSE33341) → batch handled explicitly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18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14 · WHY LIMMA, NOT T-TESTS</a:t>
            </a:r>
          </a:p>
        </p:txBody>
      </p:sp>
      <p:sp>
        <p:nvSpPr>
          <p:cNvPr id="8" name="TextBox 7"/>
          <p:cNvSpPr txBox="1"/>
          <p:nvPr/>
        </p:nvSpPr>
        <p:spPr>
          <a:xfrm>
            <a:off x="6347307"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limma: Ritchie et al., Nucleic Acids Research 2015 · eBayes trend + robust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19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15 · SAMPLE-SIZE BALANCING — DOWNSAMPLING &amp; BOOTSTRAP</a:t>
            </a:r>
          </a:p>
        </p:txBody>
      </p:sp>
      <p:sp>
        <p:nvSpPr>
          <p:cNvPr id="8" name="TextBox 7"/>
          <p:cNvSpPr txBox="1"/>
          <p:nvPr/>
        </p:nvSpPr>
        <p:spPr>
          <a:xfrm>
            <a:off x="6347307"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n = 5 · 200 bootstrap iterations · median statistics · human downsampling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20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16 · SIGNIFICANCE THRESHOLDS &amp; DIAGNOSTICS</a:t>
            </a:r>
          </a:p>
        </p:txBody>
      </p:sp>
      <p:sp>
        <p:nvSpPr>
          <p:cNvPr id="8" name="TextBox 7"/>
          <p:cNvSpPr txBox="1"/>
          <p:nvPr/>
        </p:nvSpPr>
        <p:spPr>
          <a:xfrm>
            <a:off x="6347307"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Thresholds are analysis-level, not evidence-level: padj ≤ 0.25 is exploratory for modules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21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17 · BTMS AND PRE-RANKED GSEA</a:t>
            </a:r>
          </a:p>
        </p:txBody>
      </p:sp>
      <p:sp>
        <p:nvSpPr>
          <p:cNvPr id="8" name="TextBox 7"/>
          <p:cNvSpPr txBox="1"/>
          <p:nvPr/>
        </p:nvSpPr>
        <p:spPr>
          <a:xfrm>
            <a:off x="6347307"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100" b="0" i="0">
                <a:solidFill>
                  <a:srgbClr val="5B6377"/>
                </a:solidFill>
                <a:latin typeface="Arial"/>
              </a:rPr>
              <a:t>3.2_Compute_GSEA.Rmd</a:t>
            </a:r>
            <a:r>
              <a:rPr sz="1200" b="0" i="0">
                <a:solidFill>
                  <a:srgbClr val="1B2130"/>
                </a:solidFill>
                <a:latin typeface="Arial"/>
              </a:rPr>
              <a:t> · </a:t>
            </a:r>
            <a:r>
              <a:rPr sz="1100" b="0" i="0">
                <a:solidFill>
                  <a:srgbClr val="5B6377"/>
                </a:solidFill>
                <a:latin typeface="Arial"/>
              </a:rPr>
              <a:t>3.3_Functional_Analyses.Rmd</a:t>
            </a:r>
            <a:r>
              <a:rPr sz="1200" b="0" i="0">
                <a:solidFill>
                  <a:srgbClr val="1B2130"/>
                </a:solidFill>
                <a:latin typeface="Arial"/>
              </a:rPr>
              <a:t> · padj ≤ 0.25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22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18 · RESULT — ANALYTICAL GRANULARITY</a:t>
            </a:r>
          </a:p>
        </p:txBody>
      </p:sp>
      <p:sp>
        <p:nvSpPr>
          <p:cNvPr id="8" name="TextBox 7"/>
          <p:cNvSpPr txBox="1"/>
          <p:nvPr/>
        </p:nvSpPr>
        <p:spPr>
          <a:xfrm>
            <a:off x="566928" y="960120"/>
            <a:ext cx="5277459" cy="91440"/>
          </a:xfrm>
          <a:prstGeom prst="rect">
            <a:avLst/>
          </a:prstGeom>
          <a:noFill/>
        </p:spPr>
        <p:txBody>
          <a:bodyPr wrap="square" lIns="0" rIns="0" tIns="0" bIns="0">
            <a:spAutoFit/>
          </a:bodyPr>
          <a:lstStyle/>
          <a:p>
            <a:pPr algn="l">
              <a:lnSpc>
                <a:spcPct val="106000"/>
              </a:lnSpc>
              <a:spcBef>
                <a:spcPts val="0"/>
              </a:spcBef>
              <a:spcAft>
                <a:spcPts val="0"/>
              </a:spcAft>
            </a:pPr>
            <a:r>
              <a:rPr sz="2300" b="0" i="0">
                <a:solidFill>
                  <a:srgbClr val="000000"/>
                </a:solidFill>
                <a:latin typeface="Merriweather"/>
              </a:rPr>
              <a:t>Cells disagree. Pathways </a:t>
            </a:r>
            <a:r>
              <a:rPr sz="2300" b="0" i="1">
                <a:solidFill>
                  <a:srgbClr val="000000"/>
                </a:solidFill>
                <a:latin typeface="Merriweather"/>
              </a:rPr>
              <a:t>agree</a:t>
            </a:r>
            <a:r>
              <a:rPr sz="2300" b="0" i="0">
                <a:solidFill>
                  <a:srgbClr val="000000"/>
                </a:solidFill>
                <a:latin typeface="Merriweather"/>
              </a:rPr>
              <a:t>.</a:t>
            </a:r>
          </a:p>
        </p:txBody>
      </p:sp>
      <p:sp>
        <p:nvSpPr>
          <p:cNvPr id="9" name="TextBox 8"/>
          <p:cNvSpPr txBox="1"/>
          <p:nvPr/>
        </p:nvSpPr>
        <p:spPr>
          <a:xfrm>
            <a:off x="566928" y="1452626"/>
            <a:ext cx="5003139" cy="91440"/>
          </a:xfrm>
          <a:prstGeom prst="rect">
            <a:avLst/>
          </a:prstGeom>
          <a:noFill/>
        </p:spPr>
        <p:txBody>
          <a:bodyPr wrap="square" lIns="0" rIns="0" tIns="0" bIns="0">
            <a:spAutoFit/>
          </a:bodyPr>
          <a:lstStyle/>
          <a:p>
            <a:pPr algn="l">
              <a:lnSpc>
                <a:spcPct val="100000"/>
              </a:lnSpc>
              <a:spcBef>
                <a:spcPts val="0"/>
              </a:spcBef>
              <a:spcAft>
                <a:spcPts val="0"/>
              </a:spcAft>
            </a:pPr>
            <a:r>
              <a:rPr sz="3400" b="0" i="0">
                <a:solidFill>
                  <a:srgbClr val="4361EE"/>
                </a:solidFill>
                <a:latin typeface="Merriweather"/>
              </a:rPr>
              <a:t>0.89–0.97</a:t>
            </a:r>
          </a:p>
        </p:txBody>
      </p:sp>
      <p:sp>
        <p:nvSpPr>
          <p:cNvPr id="10" name="TextBox 9"/>
          <p:cNvSpPr txBox="1"/>
          <p:nvPr/>
        </p:nvSpPr>
        <p:spPr>
          <a:xfrm>
            <a:off x="566928" y="1956562"/>
            <a:ext cx="5003139" cy="91440"/>
          </a:xfrm>
          <a:prstGeom prst="rect">
            <a:avLst/>
          </a:prstGeom>
          <a:noFill/>
        </p:spPr>
        <p:txBody>
          <a:bodyPr wrap="square" lIns="0" rIns="0" tIns="0" bIns="0">
            <a:spAutoFit/>
          </a:bodyPr>
          <a:lstStyle/>
          <a:p>
            <a:pPr algn="l">
              <a:lnSpc>
                <a:spcPct val="130000"/>
              </a:lnSpc>
              <a:spcBef>
                <a:spcPts val="0"/>
              </a:spcBef>
              <a:spcAft>
                <a:spcPts val="0"/>
              </a:spcAft>
            </a:pPr>
            <a:r>
              <a:rPr sz="850" b="0" i="0" spc="120">
                <a:solidFill>
                  <a:srgbClr val="5B6377"/>
                </a:solidFill>
                <a:latin typeface="Arial"/>
              </a:rPr>
              <a:t>MODULE-LEVEL (BTM NES) PEARSON CORRELATION BETWEEN SPECIES</a:t>
            </a:r>
          </a:p>
        </p:txBody>
      </p:sp>
      <p:sp>
        <p:nvSpPr>
          <p:cNvPr id="11" name="TextBox 10"/>
          <p:cNvSpPr txBox="1"/>
          <p:nvPr/>
        </p:nvSpPr>
        <p:spPr>
          <a:xfrm>
            <a:off x="566928" y="2286254"/>
            <a:ext cx="5277459" cy="91440"/>
          </a:xfrm>
          <a:prstGeom prst="rect">
            <a:avLst/>
          </a:prstGeom>
          <a:noFill/>
        </p:spPr>
        <p:txBody>
          <a:bodyPr wrap="square" lIns="0" rIns="0" tIns="0" bIns="0">
            <a:spAutoFit/>
          </a:bodyPr>
          <a:lstStyle/>
          <a:p>
            <a:pPr algn="l">
              <a:lnSpc>
                <a:spcPct val="120000"/>
              </a:lnSpc>
              <a:spcBef>
                <a:spcPts val="0"/>
              </a:spcBef>
              <a:spcAft>
                <a:spcPts val="500"/>
              </a:spcAft>
            </a:pPr>
            <a:r>
              <a:rPr sz="1200" b="1" i="0">
                <a:solidFill>
                  <a:srgbClr val="A1B0F7"/>
                </a:solidFill>
                <a:latin typeface="Arial"/>
              </a:rPr>
              <a:t>•  </a:t>
            </a:r>
            <a:r>
              <a:rPr sz="1200" b="0" i="0">
                <a:solidFill>
                  <a:srgbClr val="1B2130"/>
                </a:solidFill>
                <a:latin typeface="Arial"/>
              </a:rPr>
              <a:t>Gene-level effect sizes correlate only </a:t>
            </a:r>
            <a:r>
              <a:rPr sz="1200" b="0" i="0">
                <a:solidFill>
                  <a:srgbClr val="1B2130"/>
                </a:solidFill>
                <a:latin typeface="Arial"/>
              </a:rPr>
              <a:t>moderately</a:t>
            </a:r>
            <a:r>
              <a:rPr sz="1200" b="0" i="0">
                <a:solidFill>
                  <a:srgbClr val="1B2130"/>
                </a:solidFill>
                <a:latin typeface="Arial"/>
              </a:rPr>
              <a:t>; module activation is </a:t>
            </a:r>
            <a:r>
              <a:rPr sz="1200" b="0" i="0">
                <a:solidFill>
                  <a:srgbClr val="1B2130"/>
                </a:solidFill>
                <a:latin typeface="Arial"/>
              </a:rPr>
              <a:t>highly conserved</a:t>
            </a:r>
            <a:r>
              <a:rPr sz="1200" b="0" i="0">
                <a:solidFill>
                  <a:srgbClr val="1B2130"/>
                </a:solidFill>
                <a:latin typeface="Arial"/>
              </a:rPr>
              <a:t>.</a:t>
            </a:r>
          </a:p>
          <a:p>
            <a:pPr algn="l">
              <a:lnSpc>
                <a:spcPct val="120000"/>
              </a:lnSpc>
              <a:spcBef>
                <a:spcPts val="0"/>
              </a:spcBef>
              <a:spcAft>
                <a:spcPts val="500"/>
              </a:spcAft>
            </a:pPr>
            <a:r>
              <a:rPr sz="1200" b="1" i="0">
                <a:solidFill>
                  <a:srgbClr val="A1B0F7"/>
                </a:solidFill>
                <a:latin typeface="Arial"/>
              </a:rPr>
              <a:t>•  </a:t>
            </a:r>
            <a:r>
              <a:rPr sz="1200" b="0" i="0">
                <a:solidFill>
                  <a:srgbClr val="1B2130"/>
                </a:solidFill>
                <a:latin typeface="Arial"/>
              </a:rPr>
              <a:t>Shared leading-edge genes = </a:t>
            </a:r>
            <a:r>
              <a:rPr sz="1200" b="0" i="0">
                <a:solidFill>
                  <a:srgbClr val="1B2130"/>
                </a:solidFill>
                <a:latin typeface="Arial"/>
              </a:rPr>
              <a:t>67.5–79%</a:t>
            </a:r>
            <a:r>
              <a:rPr sz="1200" b="0" i="0">
                <a:solidFill>
                  <a:srgbClr val="1B2130"/>
                </a:solidFill>
                <a:latin typeface="Arial"/>
              </a:rPr>
              <a:t> of mouse LEGs in enriched modules (</a:t>
            </a:r>
            <a:r>
              <a:rPr sz="1200" b="0" i="0">
                <a:solidFill>
                  <a:srgbClr val="1B2130"/>
                </a:solidFill>
                <a:latin typeface="Arial"/>
              </a:rPr>
              <a:t>70.5% pooled</a:t>
            </a:r>
            <a:r>
              <a:rPr sz="1200" b="0" i="0">
                <a:solidFill>
                  <a:srgbClr val="1B2130"/>
                </a:solidFill>
                <a:latin typeface="Arial"/>
              </a:rPr>
              <a:t>).</a:t>
            </a:r>
          </a:p>
          <a:p>
            <a:pPr algn="l">
              <a:lnSpc>
                <a:spcPct val="120000"/>
              </a:lnSpc>
              <a:spcBef>
                <a:spcPts val="0"/>
              </a:spcBef>
              <a:spcAft>
                <a:spcPts val="500"/>
              </a:spcAft>
            </a:pPr>
            <a:r>
              <a:rPr sz="1200" b="1" i="0">
                <a:solidFill>
                  <a:srgbClr val="A1B0F7"/>
                </a:solidFill>
                <a:latin typeface="Arial"/>
              </a:rPr>
              <a:t>•  </a:t>
            </a:r>
            <a:r>
              <a:rPr sz="1200" b="0" i="0">
                <a:solidFill>
                  <a:srgbClr val="1B2130"/>
                </a:solidFill>
                <a:latin typeface="Arial"/>
              </a:rPr>
              <a:t>Collapsing dimensionality into BTMs </a:t>
            </a:r>
            <a:r>
              <a:rPr sz="1200" b="0" i="0">
                <a:solidFill>
                  <a:srgbClr val="1B2130"/>
                </a:solidFill>
                <a:latin typeface="Arial"/>
              </a:rPr>
              <a:t>reduces noise</a:t>
            </a:r>
            <a:r>
              <a:rPr sz="1200" b="0" i="0">
                <a:solidFill>
                  <a:srgbClr val="1B2130"/>
                </a:solidFill>
                <a:latin typeface="Arial"/>
              </a:rPr>
              <a:t> and exposes a robust translational signature.</a:t>
            </a:r>
          </a:p>
        </p:txBody>
      </p:sp>
      <p:pic>
        <p:nvPicPr>
          <p:cNvPr id="12" name="Picture 11" descr="fig4-modules.png"/>
          <p:cNvPicPr>
            <a:picLocks noChangeAspect="1"/>
          </p:cNvPicPr>
          <p:nvPr/>
        </p:nvPicPr>
        <p:blipFill>
          <a:blip r:embed="rId2"/>
          <a:stretch>
            <a:fillRect/>
          </a:stretch>
        </p:blipFill>
        <p:spPr>
          <a:xfrm>
            <a:off x="6347307" y="960120"/>
            <a:ext cx="5277459" cy="3349157"/>
          </a:xfrm>
          <a:prstGeom prst="rect">
            <a:avLst/>
          </a:prstGeom>
        </p:spPr>
      </p:pic>
      <p:sp>
        <p:nvSpPr>
          <p:cNvPr id="13" name="TextBox 12"/>
          <p:cNvSpPr txBox="1"/>
          <p:nvPr/>
        </p:nvSpPr>
        <p:spPr>
          <a:xfrm>
            <a:off x="6347307" y="4419005"/>
            <a:ext cx="5277459" cy="91440"/>
          </a:xfrm>
          <a:prstGeom prst="rect">
            <a:avLst/>
          </a:prstGeom>
          <a:noFill/>
        </p:spPr>
        <p:txBody>
          <a:bodyPr wrap="square" lIns="0" rIns="0" tIns="0" bIns="0">
            <a:spAutoFit/>
          </a:bodyPr>
          <a:lstStyle/>
          <a:p>
            <a:pPr algn="l">
              <a:lnSpc>
                <a:spcPct val="135000"/>
              </a:lnSpc>
              <a:spcBef>
                <a:spcPts val="0"/>
              </a:spcBef>
              <a:spcAft>
                <a:spcPts val="0"/>
              </a:spcAft>
            </a:pPr>
            <a:r>
              <a:rPr sz="850" b="0" i="0">
                <a:solidFill>
                  <a:srgbClr val="5B6377"/>
                </a:solidFill>
                <a:latin typeface="Arial"/>
              </a:rPr>
              <a:t>Fig. 4a–c — BTM module-level correlation (a) and classification performance (b, c) across conditions. · Fig. 5a — shared leading-edge genes across BTM process categories.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23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19 · LEADING-EDGE GENE CONSERVATION</a:t>
            </a:r>
          </a:p>
        </p:txBody>
      </p:sp>
      <p:sp>
        <p:nvSpPr>
          <p:cNvPr id="8" name="TextBox 7"/>
          <p:cNvSpPr txBox="1"/>
          <p:nvPr/>
        </p:nvSpPr>
        <p:spPr>
          <a:xfrm>
            <a:off x="6347307"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Fig. 5a — LEG proportions · Fig. 5b — rank-conservation trajectory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24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20 · RESULT — STIMULUS INTENSITY</a:t>
            </a:r>
          </a:p>
        </p:txBody>
      </p:sp>
      <p:sp>
        <p:nvSpPr>
          <p:cNvPr id="8" name="TextBox 7"/>
          <p:cNvSpPr txBox="1"/>
          <p:nvPr/>
        </p:nvSpPr>
        <p:spPr>
          <a:xfrm>
            <a:off x="566928" y="841248"/>
            <a:ext cx="11057839" cy="91440"/>
          </a:xfrm>
          <a:prstGeom prst="rect">
            <a:avLst/>
          </a:prstGeom>
          <a:noFill/>
        </p:spPr>
        <p:txBody>
          <a:bodyPr wrap="square" lIns="0" rIns="0" tIns="0" bIns="0">
            <a:spAutoFit/>
          </a:bodyPr>
          <a:lstStyle/>
          <a:p>
            <a:pPr algn="l">
              <a:lnSpc>
                <a:spcPct val="106000"/>
              </a:lnSpc>
              <a:spcBef>
                <a:spcPts val="0"/>
              </a:spcBef>
              <a:spcAft>
                <a:spcPts val="0"/>
              </a:spcAft>
            </a:pPr>
            <a:r>
              <a:rPr sz="2600" b="0" i="0">
                <a:solidFill>
                  <a:srgbClr val="000000"/>
                </a:solidFill>
                <a:latin typeface="Merriweather"/>
              </a:rPr>
              <a:t>Translatability scales with the </a:t>
            </a:r>
            <a:r>
              <a:rPr sz="2600" b="0" i="1">
                <a:solidFill>
                  <a:srgbClr val="000000"/>
                </a:solidFill>
                <a:latin typeface="Merriweather"/>
              </a:rPr>
              <a:t>strength</a:t>
            </a:r>
            <a:r>
              <a:rPr sz="2600" b="0" i="0">
                <a:solidFill>
                  <a:srgbClr val="000000"/>
                </a:solidFill>
                <a:latin typeface="Merriweather"/>
              </a:rPr>
              <a:t> of the perturbation</a:t>
            </a:r>
          </a:p>
        </p:txBody>
      </p:sp>
      <p:sp>
        <p:nvSpPr>
          <p:cNvPr id="9" name="Rectangle 8"/>
          <p:cNvSpPr/>
          <p:nvPr/>
        </p:nvSpPr>
        <p:spPr>
          <a:xfrm>
            <a:off x="566928" y="1769872"/>
            <a:ext cx="5277459" cy="20116"/>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897888"/>
            <a:ext cx="5277459" cy="91440"/>
          </a:xfrm>
          <a:prstGeom prst="rect">
            <a:avLst/>
          </a:prstGeom>
          <a:noFill/>
        </p:spPr>
        <p:txBody>
          <a:bodyPr wrap="square" lIns="0" rIns="0" tIns="0" bIns="0">
            <a:spAutoFit/>
          </a:bodyPr>
          <a:lstStyle/>
          <a:p>
            <a:pPr algn="l">
              <a:lnSpc>
                <a:spcPct val="100000"/>
              </a:lnSpc>
              <a:spcBef>
                <a:spcPts val="0"/>
              </a:spcBef>
              <a:spcAft>
                <a:spcPts val="0"/>
              </a:spcAft>
            </a:pPr>
            <a:r>
              <a:rPr sz="900" b="0" i="0" spc="140">
                <a:solidFill>
                  <a:srgbClr val="5B6377"/>
                </a:solidFill>
                <a:latin typeface="Arial"/>
              </a:rPr>
              <a:t>INFECTION &amp; INJURY — CONSERVED</a:t>
            </a:r>
          </a:p>
        </p:txBody>
      </p:sp>
      <p:sp>
        <p:nvSpPr>
          <p:cNvPr id="11" name="TextBox 10"/>
          <p:cNvSpPr txBox="1"/>
          <p:nvPr/>
        </p:nvSpPr>
        <p:spPr>
          <a:xfrm>
            <a:off x="566928" y="2117344"/>
            <a:ext cx="5277459" cy="91440"/>
          </a:xfrm>
          <a:prstGeom prst="rect">
            <a:avLst/>
          </a:prstGeom>
          <a:noFill/>
        </p:spPr>
        <p:txBody>
          <a:bodyPr wrap="square" lIns="0" rIns="0" tIns="0" bIns="0">
            <a:spAutoFit/>
          </a:bodyPr>
          <a:lstStyle/>
          <a:p>
            <a:pPr algn="l">
              <a:lnSpc>
                <a:spcPct val="100000"/>
              </a:lnSpc>
              <a:spcBef>
                <a:spcPts val="0"/>
              </a:spcBef>
              <a:spcAft>
                <a:spcPts val="0"/>
              </a:spcAft>
            </a:pPr>
            <a:r>
              <a:rPr sz="2600" b="0" i="0">
                <a:solidFill>
                  <a:srgbClr val="4361EE"/>
                </a:solidFill>
                <a:latin typeface="Merriweather"/>
              </a:rPr>
              <a:t>ρ = 0.41–0.59</a:t>
            </a:r>
          </a:p>
        </p:txBody>
      </p:sp>
      <p:sp>
        <p:nvSpPr>
          <p:cNvPr id="12" name="TextBox 11"/>
          <p:cNvSpPr txBox="1"/>
          <p:nvPr/>
        </p:nvSpPr>
        <p:spPr>
          <a:xfrm>
            <a:off x="566928" y="251968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150" b="0" i="0">
                <a:solidFill>
                  <a:srgbClr val="1B2130"/>
                </a:solidFill>
                <a:latin typeface="Arial"/>
              </a:rPr>
              <a:t>Acute S. aureus , E. coli and burn engage evolutionarily stable, highly conserved programs.</a:t>
            </a:r>
          </a:p>
        </p:txBody>
      </p:sp>
      <p:sp>
        <p:nvSpPr>
          <p:cNvPr id="13" name="TextBox 12"/>
          <p:cNvSpPr txBox="1"/>
          <p:nvPr/>
        </p:nvSpPr>
        <p:spPr>
          <a:xfrm>
            <a:off x="566928" y="2967482"/>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150" b="0" i="0">
                <a:solidFill>
                  <a:srgbClr val="1B2130"/>
                </a:solidFill>
                <a:latin typeface="Arial"/>
              </a:rPr>
              <a:t>Effect-size difference (|Δlog2FC|) significantly smaller than negative controls — WMW adjusted P &lt; 1 × 10⁻¹⁵.</a:t>
            </a:r>
          </a:p>
        </p:txBody>
      </p:sp>
      <p:sp>
        <p:nvSpPr>
          <p:cNvPr id="14" name="Rectangle 13"/>
          <p:cNvSpPr/>
          <p:nvPr/>
        </p:nvSpPr>
        <p:spPr>
          <a:xfrm>
            <a:off x="6347307" y="1769872"/>
            <a:ext cx="5277459" cy="20116"/>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1897888"/>
            <a:ext cx="5277459" cy="91440"/>
          </a:xfrm>
          <a:prstGeom prst="rect">
            <a:avLst/>
          </a:prstGeom>
          <a:noFill/>
        </p:spPr>
        <p:txBody>
          <a:bodyPr wrap="square" lIns="0" rIns="0" tIns="0" bIns="0">
            <a:spAutoFit/>
          </a:bodyPr>
          <a:lstStyle/>
          <a:p>
            <a:pPr algn="l">
              <a:lnSpc>
                <a:spcPct val="100000"/>
              </a:lnSpc>
              <a:spcBef>
                <a:spcPts val="0"/>
              </a:spcBef>
              <a:spcAft>
                <a:spcPts val="0"/>
              </a:spcAft>
            </a:pPr>
            <a:r>
              <a:rPr sz="900" b="0" i="0" spc="140">
                <a:solidFill>
                  <a:srgbClr val="5B6377"/>
                </a:solidFill>
                <a:latin typeface="Arial"/>
              </a:rPr>
              <a:t>SINGLE-DOSE VACCINATION — DIVERGES</a:t>
            </a:r>
          </a:p>
        </p:txBody>
      </p:sp>
      <p:sp>
        <p:nvSpPr>
          <p:cNvPr id="16" name="TextBox 15"/>
          <p:cNvSpPr txBox="1"/>
          <p:nvPr/>
        </p:nvSpPr>
        <p:spPr>
          <a:xfrm>
            <a:off x="6347307" y="2117344"/>
            <a:ext cx="5277459" cy="91440"/>
          </a:xfrm>
          <a:prstGeom prst="rect">
            <a:avLst/>
          </a:prstGeom>
          <a:noFill/>
        </p:spPr>
        <p:txBody>
          <a:bodyPr wrap="square" lIns="0" rIns="0" tIns="0" bIns="0">
            <a:spAutoFit/>
          </a:bodyPr>
          <a:lstStyle/>
          <a:p>
            <a:pPr algn="l">
              <a:lnSpc>
                <a:spcPct val="100000"/>
              </a:lnSpc>
              <a:spcBef>
                <a:spcPts val="0"/>
              </a:spcBef>
              <a:spcAft>
                <a:spcPts val="0"/>
              </a:spcAft>
            </a:pPr>
            <a:r>
              <a:rPr sz="2600" b="0" i="0">
                <a:solidFill>
                  <a:srgbClr val="2E9DB7"/>
                </a:solidFill>
                <a:latin typeface="Merriweather"/>
              </a:rPr>
              <a:t>ρ = −0.32–0.27</a:t>
            </a:r>
          </a:p>
        </p:txBody>
      </p:sp>
      <p:sp>
        <p:nvSpPr>
          <p:cNvPr id="17" name="TextBox 16"/>
          <p:cNvSpPr txBox="1"/>
          <p:nvPr/>
        </p:nvSpPr>
        <p:spPr>
          <a:xfrm>
            <a:off x="6347307" y="251968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150" b="0" i="0">
                <a:solidFill>
                  <a:srgbClr val="1B2130"/>
                </a:solidFill>
                <a:latin typeface="Arial"/>
              </a:rPr>
              <a:t>Fluad® and Engerix B® fail to reach the systemic activation threshold, remaining near baseline controls.</a:t>
            </a:r>
          </a:p>
        </p:txBody>
      </p:sp>
      <p:sp>
        <p:nvSpPr>
          <p:cNvPr id="18" name="TextBox 17"/>
          <p:cNvSpPr txBox="1"/>
          <p:nvPr/>
        </p:nvSpPr>
        <p:spPr>
          <a:xfrm>
            <a:off x="6347307" y="2967482"/>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150" b="0" i="0">
                <a:solidFill>
                  <a:srgbClr val="1B2130"/>
                </a:solidFill>
                <a:latin typeface="Arial"/>
              </a:rPr>
              <a:t>Preclinical immunogenicity may require boosters or stronger adjuvants to emerge from species-specific noise.</a:t>
            </a:r>
          </a:p>
        </p:txBody>
      </p:sp>
      <p:sp>
        <p:nvSpPr>
          <p:cNvPr id="19" name="TextBox 18"/>
          <p:cNvSpPr txBox="1"/>
          <p:nvPr/>
        </p:nvSpPr>
        <p:spPr>
          <a:xfrm>
            <a:off x="566928" y="3634740"/>
            <a:ext cx="11057839" cy="91440"/>
          </a:xfrm>
          <a:prstGeom prst="rect">
            <a:avLst/>
          </a:prstGeom>
          <a:noFill/>
        </p:spPr>
        <p:txBody>
          <a:bodyPr wrap="square" lIns="0" rIns="0" tIns="0" bIns="0">
            <a:spAutoFit/>
          </a:bodyPr>
          <a:lstStyle/>
          <a:p>
            <a:pPr algn="l">
              <a:lnSpc>
                <a:spcPct val="125000"/>
              </a:lnSpc>
              <a:spcBef>
                <a:spcPts val="0"/>
              </a:spcBef>
              <a:spcAft>
                <a:spcPts val="0"/>
              </a:spcAft>
            </a:pPr>
            <a:r>
              <a:rPr sz="1100" b="0" i="0">
                <a:solidFill>
                  <a:srgbClr val="5B6377"/>
                </a:solidFill>
                <a:latin typeface="Arial"/>
              </a:rPr>
              <a:t>Concordance measured as weighted Spearman ρ on cross-species effect sizes; strength of stimulus, not species identity, sets the ceiling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25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21 · TIMING ALIGNMENT BY BIOLOGICAL EQUIVALENCE</a:t>
            </a:r>
          </a:p>
        </p:txBody>
      </p:sp>
      <p:sp>
        <p:nvSpPr>
          <p:cNvPr id="8" name="TextBox 7"/>
          <p:cNvSpPr txBox="1"/>
          <p:nvPr/>
        </p:nvSpPr>
        <p:spPr>
          <a:xfrm>
            <a:off x="6347307"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Mouse 2–6 h ≈ human days 1–3 · cross-temporal ROC tests explicitly sample different timepoints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26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22 · CLASSIFICATION FRAMEWORK (ROC / PR)</a:t>
            </a:r>
          </a:p>
        </p:txBody>
      </p:sp>
      <p:sp>
        <p:nvSpPr>
          <p:cNvPr id="8" name="TextBox 7"/>
          <p:cNvSpPr txBox="1"/>
          <p:nvPr/>
        </p:nvSpPr>
        <p:spPr>
          <a:xfrm>
            <a:off x="6347307"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100" b="0" i="0">
                <a:solidFill>
                  <a:srgbClr val="5B6377"/>
                </a:solidFill>
                <a:latin typeface="Arial"/>
              </a:rPr>
              <a:t>4_Performance_DifferentTimepoints.rmd</a:t>
            </a:r>
            <a:r>
              <a:rPr sz="1200" b="0" i="0">
                <a:solidFill>
                  <a:srgbClr val="1B2130"/>
                </a:solidFill>
                <a:latin typeface="Arial"/>
              </a:rPr>
              <a:t> · genes and BTMs · ROC + PR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27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23 · RESULT — CLASSIFICATION PERFORMANCE</a:t>
            </a:r>
          </a:p>
        </p:txBody>
      </p:sp>
      <p:sp>
        <p:nvSpPr>
          <p:cNvPr id="8" name="TextBox 7"/>
          <p:cNvSpPr txBox="1"/>
          <p:nvPr/>
        </p:nvSpPr>
        <p:spPr>
          <a:xfrm>
            <a:off x="566928" y="960120"/>
            <a:ext cx="5277459" cy="91440"/>
          </a:xfrm>
          <a:prstGeom prst="rect">
            <a:avLst/>
          </a:prstGeom>
          <a:noFill/>
        </p:spPr>
        <p:txBody>
          <a:bodyPr wrap="square" lIns="0" rIns="0" tIns="0" bIns="0">
            <a:spAutoFit/>
          </a:bodyPr>
          <a:lstStyle/>
          <a:p>
            <a:pPr algn="l">
              <a:lnSpc>
                <a:spcPct val="106000"/>
              </a:lnSpc>
              <a:spcBef>
                <a:spcPts val="0"/>
              </a:spcBef>
              <a:spcAft>
                <a:spcPts val="0"/>
              </a:spcAft>
            </a:pPr>
            <a:r>
              <a:rPr sz="2300" b="0" i="0">
                <a:solidFill>
                  <a:srgbClr val="000000"/>
                </a:solidFill>
                <a:latin typeface="Merriweather"/>
              </a:rPr>
              <a:t>Mouse signatures call human direction — best at </a:t>
            </a:r>
            <a:r>
              <a:rPr sz="2300" b="0" i="1">
                <a:solidFill>
                  <a:srgbClr val="000000"/>
                </a:solidFill>
                <a:latin typeface="Merriweather"/>
              </a:rPr>
              <a:t>module</a:t>
            </a:r>
            <a:r>
              <a:rPr sz="2300" b="0" i="0">
                <a:solidFill>
                  <a:srgbClr val="000000"/>
                </a:solidFill>
                <a:latin typeface="Merriweather"/>
              </a:rPr>
              <a:t> level</a:t>
            </a:r>
          </a:p>
        </p:txBody>
      </p:sp>
      <p:sp>
        <p:nvSpPr>
          <p:cNvPr id="9" name="TextBox 8"/>
          <p:cNvSpPr txBox="1"/>
          <p:nvPr/>
        </p:nvSpPr>
        <p:spPr>
          <a:xfrm>
            <a:off x="566928" y="1762252"/>
            <a:ext cx="2364409" cy="91440"/>
          </a:xfrm>
          <a:prstGeom prst="rect">
            <a:avLst/>
          </a:prstGeom>
          <a:noFill/>
        </p:spPr>
        <p:txBody>
          <a:bodyPr wrap="square" lIns="0" rIns="0" tIns="0" bIns="0">
            <a:spAutoFit/>
          </a:bodyPr>
          <a:lstStyle/>
          <a:p>
            <a:pPr algn="l">
              <a:lnSpc>
                <a:spcPct val="100000"/>
              </a:lnSpc>
              <a:spcBef>
                <a:spcPts val="0"/>
              </a:spcBef>
              <a:spcAft>
                <a:spcPts val="0"/>
              </a:spcAft>
            </a:pPr>
            <a:r>
              <a:rPr sz="3400" b="0" i="0">
                <a:solidFill>
                  <a:srgbClr val="4361EE"/>
                </a:solidFill>
                <a:latin typeface="Merriweather"/>
              </a:rPr>
              <a:t>0.84–0.98</a:t>
            </a:r>
          </a:p>
        </p:txBody>
      </p:sp>
      <p:sp>
        <p:nvSpPr>
          <p:cNvPr id="10" name="TextBox 9"/>
          <p:cNvSpPr txBox="1"/>
          <p:nvPr/>
        </p:nvSpPr>
        <p:spPr>
          <a:xfrm>
            <a:off x="566928" y="2266188"/>
            <a:ext cx="2364409" cy="91440"/>
          </a:xfrm>
          <a:prstGeom prst="rect">
            <a:avLst/>
          </a:prstGeom>
          <a:noFill/>
        </p:spPr>
        <p:txBody>
          <a:bodyPr wrap="square" lIns="0" rIns="0" tIns="0" bIns="0">
            <a:spAutoFit/>
          </a:bodyPr>
          <a:lstStyle/>
          <a:p>
            <a:pPr algn="l">
              <a:lnSpc>
                <a:spcPct val="130000"/>
              </a:lnSpc>
              <a:spcBef>
                <a:spcPts val="0"/>
              </a:spcBef>
              <a:spcAft>
                <a:spcPts val="0"/>
              </a:spcAft>
            </a:pPr>
            <a:r>
              <a:rPr sz="850" b="0" i="0" spc="120">
                <a:solidFill>
                  <a:srgbClr val="5B6377"/>
                </a:solidFill>
                <a:latin typeface="Arial"/>
              </a:rPr>
              <a:t>ROC-AUC · MOUSE BTM SIGNATURES CLASSIFYING HUMAN MODULE REGULATION</a:t>
            </a:r>
          </a:p>
        </p:txBody>
      </p:sp>
      <p:sp>
        <p:nvSpPr>
          <p:cNvPr id="11" name="TextBox 10"/>
          <p:cNvSpPr txBox="1"/>
          <p:nvPr/>
        </p:nvSpPr>
        <p:spPr>
          <a:xfrm>
            <a:off x="3205657" y="1762252"/>
            <a:ext cx="2364409" cy="91440"/>
          </a:xfrm>
          <a:prstGeom prst="rect">
            <a:avLst/>
          </a:prstGeom>
          <a:noFill/>
        </p:spPr>
        <p:txBody>
          <a:bodyPr wrap="square" lIns="0" rIns="0" tIns="0" bIns="0">
            <a:spAutoFit/>
          </a:bodyPr>
          <a:lstStyle/>
          <a:p>
            <a:pPr algn="l">
              <a:lnSpc>
                <a:spcPct val="100000"/>
              </a:lnSpc>
              <a:spcBef>
                <a:spcPts val="0"/>
              </a:spcBef>
              <a:spcAft>
                <a:spcPts val="0"/>
              </a:spcAft>
            </a:pPr>
            <a:r>
              <a:rPr sz="3400" b="0" i="0">
                <a:solidFill>
                  <a:srgbClr val="000000"/>
                </a:solidFill>
                <a:latin typeface="Merriweather"/>
              </a:rPr>
              <a:t>0.64–0.74</a:t>
            </a:r>
          </a:p>
        </p:txBody>
      </p:sp>
      <p:sp>
        <p:nvSpPr>
          <p:cNvPr id="12" name="TextBox 11"/>
          <p:cNvSpPr txBox="1"/>
          <p:nvPr/>
        </p:nvSpPr>
        <p:spPr>
          <a:xfrm>
            <a:off x="3205657" y="2266188"/>
            <a:ext cx="2364409" cy="91440"/>
          </a:xfrm>
          <a:prstGeom prst="rect">
            <a:avLst/>
          </a:prstGeom>
          <a:noFill/>
        </p:spPr>
        <p:txBody>
          <a:bodyPr wrap="square" lIns="0" rIns="0" tIns="0" bIns="0">
            <a:spAutoFit/>
          </a:bodyPr>
          <a:lstStyle/>
          <a:p>
            <a:pPr algn="l">
              <a:lnSpc>
                <a:spcPct val="130000"/>
              </a:lnSpc>
              <a:spcBef>
                <a:spcPts val="0"/>
              </a:spcBef>
              <a:spcAft>
                <a:spcPts val="0"/>
              </a:spcAft>
            </a:pPr>
            <a:r>
              <a:rPr sz="850" b="0" i="0" spc="120">
                <a:solidFill>
                  <a:srgbClr val="5B6377"/>
                </a:solidFill>
                <a:latin typeface="Arial"/>
              </a:rPr>
              <a:t>ROC-AUC · GENE-LEVEL MOUSE SIGNATURES IN INFECTION &amp; INJURY</a:t>
            </a:r>
          </a:p>
        </p:txBody>
      </p:sp>
      <p:sp>
        <p:nvSpPr>
          <p:cNvPr id="13" name="TextBox 12"/>
          <p:cNvSpPr txBox="1"/>
          <p:nvPr/>
        </p:nvSpPr>
        <p:spPr>
          <a:xfrm>
            <a:off x="566928" y="292608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Biological negative control (DMD): ROC-AUC 0.48–0.61 — near random</a:t>
            </a:r>
          </a:p>
        </p:txBody>
      </p:sp>
      <p:pic>
        <p:nvPicPr>
          <p:cNvPr id="14" name="Picture 13" descr="fig3-classification.png"/>
          <p:cNvPicPr>
            <a:picLocks noChangeAspect="1"/>
          </p:cNvPicPr>
          <p:nvPr/>
        </p:nvPicPr>
        <p:blipFill>
          <a:blip r:embed="rId2"/>
          <a:stretch>
            <a:fillRect/>
          </a:stretch>
        </p:blipFill>
        <p:spPr>
          <a:xfrm>
            <a:off x="6347307" y="960120"/>
            <a:ext cx="5277459" cy="3117760"/>
          </a:xfrm>
          <a:prstGeom prst="rect">
            <a:avLst/>
          </a:prstGeom>
        </p:spPr>
      </p:pic>
      <p:sp>
        <p:nvSpPr>
          <p:cNvPr id="15" name="TextBox 14"/>
          <p:cNvSpPr txBox="1"/>
          <p:nvPr/>
        </p:nvSpPr>
        <p:spPr>
          <a:xfrm>
            <a:off x="6347307" y="4187608"/>
            <a:ext cx="5277459" cy="91440"/>
          </a:xfrm>
          <a:prstGeom prst="rect">
            <a:avLst/>
          </a:prstGeom>
          <a:noFill/>
        </p:spPr>
        <p:txBody>
          <a:bodyPr wrap="square" lIns="0" rIns="0" tIns="0" bIns="0">
            <a:spAutoFit/>
          </a:bodyPr>
          <a:lstStyle/>
          <a:p>
            <a:pPr algn="l">
              <a:lnSpc>
                <a:spcPct val="135000"/>
              </a:lnSpc>
              <a:spcBef>
                <a:spcPts val="0"/>
              </a:spcBef>
              <a:spcAft>
                <a:spcPts val="0"/>
              </a:spcAft>
            </a:pPr>
            <a:r>
              <a:rPr sz="850" b="0" i="0">
                <a:solidFill>
                  <a:srgbClr val="5B6377"/>
                </a:solidFill>
                <a:latin typeface="Arial"/>
              </a:rPr>
              <a:t>Fig. 3a–b — ROC-AUC and PR-AUC matrices for mouse signatures classifying up- and downregulated human genes, with human self-prediction and the DMD negative control.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28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24 · SEQUENCE EVOLUTION — PROTEIN CODING</a:t>
            </a:r>
          </a:p>
        </p:txBody>
      </p:sp>
      <p:sp>
        <p:nvSpPr>
          <p:cNvPr id="8" name="TextBox 7"/>
          <p:cNvSpPr txBox="1"/>
          <p:nvPr/>
        </p:nvSpPr>
        <p:spPr>
          <a:xfrm>
            <a:off x="566928" y="960120"/>
            <a:ext cx="5277459" cy="91440"/>
          </a:xfrm>
          <a:prstGeom prst="rect">
            <a:avLst/>
          </a:prstGeom>
          <a:noFill/>
        </p:spPr>
        <p:txBody>
          <a:bodyPr wrap="square" lIns="0" rIns="0" tIns="0" bIns="0">
            <a:spAutoFit/>
          </a:bodyPr>
          <a:lstStyle/>
          <a:p>
            <a:pPr algn="l">
              <a:lnSpc>
                <a:spcPct val="106000"/>
              </a:lnSpc>
              <a:spcBef>
                <a:spcPts val="0"/>
              </a:spcBef>
              <a:spcAft>
                <a:spcPts val="0"/>
              </a:spcAft>
            </a:pPr>
            <a:r>
              <a:rPr sz="2300" b="0" i="0">
                <a:solidFill>
                  <a:srgbClr val="000000"/>
                </a:solidFill>
                <a:latin typeface="Merriweather"/>
              </a:rPr>
              <a:t>Coding constraint buys only a small amount of stability</a:t>
            </a:r>
          </a:p>
        </p:txBody>
      </p:sp>
      <p:sp>
        <p:nvSpPr>
          <p:cNvPr id="9" name="TextBox 8"/>
          <p:cNvSpPr txBox="1"/>
          <p:nvPr/>
        </p:nvSpPr>
        <p:spPr>
          <a:xfrm>
            <a:off x="566928" y="1762252"/>
            <a:ext cx="5277459" cy="91440"/>
          </a:xfrm>
          <a:prstGeom prst="rect">
            <a:avLst/>
          </a:prstGeom>
          <a:noFill/>
        </p:spPr>
        <p:txBody>
          <a:bodyPr wrap="square" lIns="0" rIns="0" tIns="0" bIns="0">
            <a:spAutoFit/>
          </a:bodyPr>
          <a:lstStyle/>
          <a:p>
            <a:pPr algn="l">
              <a:lnSpc>
                <a:spcPct val="120000"/>
              </a:lnSpc>
              <a:spcBef>
                <a:spcPts val="0"/>
              </a:spcBef>
              <a:spcAft>
                <a:spcPts val="500"/>
              </a:spcAft>
            </a:pPr>
            <a:r>
              <a:rPr sz="1200" b="1" i="0">
                <a:solidFill>
                  <a:srgbClr val="A1B0F7"/>
                </a:solidFill>
                <a:latin typeface="Arial"/>
              </a:rPr>
              <a:t>•  </a:t>
            </a:r>
            <a:r>
              <a:rPr sz="1200" b="0" i="0">
                <a:solidFill>
                  <a:srgbClr val="1B2130"/>
                </a:solidFill>
                <a:latin typeface="Arial"/>
              </a:rPr>
              <a:t>Greater protein sequence identity</a:t>
            </a:r>
            <a:r>
              <a:rPr sz="1200" b="0" i="0">
                <a:solidFill>
                  <a:srgbClr val="1B2130"/>
                </a:solidFill>
                <a:latin typeface="Arial"/>
              </a:rPr>
              <a:t> is associated with </a:t>
            </a:r>
            <a:r>
              <a:rPr sz="1200" b="0" i="0">
                <a:solidFill>
                  <a:srgbClr val="1B2130"/>
                </a:solidFill>
                <a:latin typeface="Arial"/>
              </a:rPr>
              <a:t>lower |Δlog2FC|</a:t>
            </a:r>
            <a:r>
              <a:rPr sz="1200" b="0" i="0">
                <a:solidFill>
                  <a:srgbClr val="1B2130"/>
                </a:solidFill>
                <a:latin typeface="Arial"/>
              </a:rPr>
              <a:t> — Spearman </a:t>
            </a:r>
            <a:r>
              <a:rPr sz="1200" b="0" i="0">
                <a:solidFill>
                  <a:srgbClr val="1B2130"/>
                </a:solidFill>
                <a:latin typeface="Arial"/>
              </a:rPr>
              <a:t>ρ = −0.08</a:t>
            </a:r>
            <a:r>
              <a:rPr sz="1200" b="0" i="0">
                <a:solidFill>
                  <a:srgbClr val="1B2130"/>
                </a:solidFill>
                <a:latin typeface="Arial"/>
              </a:rPr>
              <a:t>.</a:t>
            </a:r>
          </a:p>
          <a:p>
            <a:pPr algn="l">
              <a:lnSpc>
                <a:spcPct val="120000"/>
              </a:lnSpc>
              <a:spcBef>
                <a:spcPts val="0"/>
              </a:spcBef>
              <a:spcAft>
                <a:spcPts val="500"/>
              </a:spcAft>
            </a:pPr>
            <a:r>
              <a:rPr sz="1200" b="1" i="0">
                <a:solidFill>
                  <a:srgbClr val="A1B0F7"/>
                </a:solidFill>
                <a:latin typeface="Arial"/>
              </a:rPr>
              <a:t>•  </a:t>
            </a:r>
            <a:r>
              <a:rPr sz="1200" b="0" i="0">
                <a:solidFill>
                  <a:srgbClr val="1B2130"/>
                </a:solidFill>
                <a:latin typeface="Arial"/>
              </a:rPr>
              <a:t>Greater Kimura (K80) distance</a:t>
            </a:r>
            <a:r>
              <a:rPr sz="1200" b="0" i="0">
                <a:solidFill>
                  <a:srgbClr val="1B2130"/>
                </a:solidFill>
                <a:latin typeface="Arial"/>
              </a:rPr>
              <a:t> is associated with </a:t>
            </a:r>
            <a:r>
              <a:rPr sz="1200" b="0" i="0">
                <a:solidFill>
                  <a:srgbClr val="1B2130"/>
                </a:solidFill>
                <a:latin typeface="Arial"/>
              </a:rPr>
              <a:t>higher |Δlog2FC|</a:t>
            </a:r>
            <a:r>
              <a:rPr sz="1200" b="0" i="0">
                <a:solidFill>
                  <a:srgbClr val="1B2130"/>
                </a:solidFill>
                <a:latin typeface="Arial"/>
              </a:rPr>
              <a:t> — </a:t>
            </a:r>
            <a:r>
              <a:rPr sz="1200" b="0" i="0">
                <a:solidFill>
                  <a:srgbClr val="1B2130"/>
                </a:solidFill>
                <a:latin typeface="Arial"/>
              </a:rPr>
              <a:t>ρ = 0.10</a:t>
            </a:r>
            <a:r>
              <a:rPr sz="1200" b="0" i="0">
                <a:solidFill>
                  <a:srgbClr val="1B2130"/>
                </a:solidFill>
                <a:latin typeface="Arial"/>
              </a:rPr>
              <a:t>.</a:t>
            </a:r>
          </a:p>
          <a:p>
            <a:pPr algn="l">
              <a:lnSpc>
                <a:spcPct val="120000"/>
              </a:lnSpc>
              <a:spcBef>
                <a:spcPts val="0"/>
              </a:spcBef>
              <a:spcAft>
                <a:spcPts val="500"/>
              </a:spcAft>
            </a:pPr>
            <a:r>
              <a:rPr sz="1200" b="1" i="0">
                <a:solidFill>
                  <a:srgbClr val="A1B0F7"/>
                </a:solidFill>
                <a:latin typeface="Arial"/>
              </a:rPr>
              <a:t>•  </a:t>
            </a:r>
            <a:r>
              <a:rPr sz="1200" b="0" i="0">
                <a:solidFill>
                  <a:srgbClr val="1B2130"/>
                </a:solidFill>
                <a:latin typeface="Arial"/>
              </a:rPr>
              <a:t>The per-gene effects are small but consistently signed: coding constraint tracks expression stability.</a:t>
            </a:r>
          </a:p>
          <a:p>
            <a:pPr algn="l">
              <a:lnSpc>
                <a:spcPct val="120000"/>
              </a:lnSpc>
              <a:spcBef>
                <a:spcPts val="0"/>
              </a:spcBef>
              <a:spcAft>
                <a:spcPts val="500"/>
              </a:spcAft>
            </a:pPr>
            <a:r>
              <a:rPr sz="1200" b="1" i="0">
                <a:solidFill>
                  <a:srgbClr val="A1B0F7"/>
                </a:solidFill>
                <a:latin typeface="Arial"/>
              </a:rPr>
              <a:t>•  </a:t>
            </a:r>
            <a:r>
              <a:rPr sz="1200" b="0" i="0">
                <a:solidFill>
                  <a:srgbClr val="1B2130"/>
                </a:solidFill>
                <a:latin typeface="Arial"/>
              </a:rPr>
              <a:t>Sequences from Ensembl via </a:t>
            </a:r>
            <a:r>
              <a:rPr sz="1200" b="0" i="0">
                <a:solidFill>
                  <a:srgbClr val="1B2130"/>
                </a:solidFill>
                <a:latin typeface="Arial"/>
              </a:rPr>
              <a:t>biomaRt</a:t>
            </a:r>
            <a:r>
              <a:rPr sz="1200" b="0" i="0">
                <a:solidFill>
                  <a:srgbClr val="1B2130"/>
                </a:solidFill>
                <a:latin typeface="Arial"/>
              </a:rPr>
              <a:t> (confidence score = 1); </a:t>
            </a:r>
            <a:r>
              <a:rPr sz="1200" b="0" i="0">
                <a:solidFill>
                  <a:srgbClr val="1B2130"/>
                </a:solidFill>
                <a:latin typeface="Arial"/>
              </a:rPr>
              <a:t>longest coding sequence</a:t>
            </a:r>
            <a:r>
              <a:rPr sz="1200" b="0" i="0">
                <a:solidFill>
                  <a:srgbClr val="1B2130"/>
                </a:solidFill>
                <a:latin typeface="Arial"/>
              </a:rPr>
              <a:t> kept per gene; pairwise </a:t>
            </a:r>
            <a:r>
              <a:rPr sz="1200" b="0" i="0">
                <a:solidFill>
                  <a:srgbClr val="1B2130"/>
                </a:solidFill>
                <a:latin typeface="Arial"/>
              </a:rPr>
              <a:t>global Needleman–Wunsch</a:t>
            </a:r>
            <a:r>
              <a:rPr sz="1200" b="0" i="0">
                <a:solidFill>
                  <a:srgbClr val="1B2130"/>
                </a:solidFill>
                <a:latin typeface="Arial"/>
              </a:rPr>
              <a:t> alignment (</a:t>
            </a:r>
            <a:r>
              <a:rPr sz="1200" b="0" i="0">
                <a:solidFill>
                  <a:srgbClr val="1B2130"/>
                </a:solidFill>
                <a:latin typeface="Arial"/>
              </a:rPr>
              <a:t>pwalign</a:t>
            </a:r>
            <a:r>
              <a:rPr sz="1200" b="0" i="0">
                <a:solidFill>
                  <a:srgbClr val="1B2130"/>
                </a:solidFill>
                <a:latin typeface="Arial"/>
              </a:rPr>
              <a:t>); </a:t>
            </a:r>
            <a:r>
              <a:rPr sz="1200" b="0" i="0">
                <a:solidFill>
                  <a:srgbClr val="1B2130"/>
                </a:solidFill>
                <a:latin typeface="Arial"/>
              </a:rPr>
              <a:t>K80</a:t>
            </a:r>
            <a:r>
              <a:rPr sz="1200" b="0" i="0">
                <a:solidFill>
                  <a:srgbClr val="1B2130"/>
                </a:solidFill>
                <a:latin typeface="Arial"/>
              </a:rPr>
              <a:t> distance (</a:t>
            </a:r>
            <a:r>
              <a:rPr sz="1200" b="0" i="0">
                <a:solidFill>
                  <a:srgbClr val="1B2130"/>
                </a:solidFill>
                <a:latin typeface="Arial"/>
              </a:rPr>
              <a:t>ape::dist.dna</a:t>
            </a:r>
            <a:r>
              <a:rPr sz="1200" b="0" i="0">
                <a:solidFill>
                  <a:srgbClr val="1B2130"/>
                </a:solidFill>
                <a:latin typeface="Arial"/>
              </a:rPr>
              <a:t>), with </a:t>
            </a:r>
            <a:r>
              <a:rPr sz="1200" b="0" i="0">
                <a:solidFill>
                  <a:srgbClr val="1B2130"/>
                </a:solidFill>
                <a:latin typeface="Arial"/>
              </a:rPr>
              <a:t>JC69</a:t>
            </a:r>
            <a:r>
              <a:rPr sz="1200" b="0" i="0">
                <a:solidFill>
                  <a:srgbClr val="1B2130"/>
                </a:solidFill>
                <a:latin typeface="Arial"/>
              </a:rPr>
              <a:t> as a control.</a:t>
            </a:r>
          </a:p>
          <a:p>
            <a:pPr algn="l">
              <a:lnSpc>
                <a:spcPct val="120000"/>
              </a:lnSpc>
              <a:spcBef>
                <a:spcPts val="0"/>
              </a:spcBef>
              <a:spcAft>
                <a:spcPts val="500"/>
              </a:spcAft>
            </a:pPr>
            <a:r>
              <a:rPr sz="1200" b="1" i="0">
                <a:solidFill>
                  <a:srgbClr val="A1B0F7"/>
                </a:solidFill>
                <a:latin typeface="Arial"/>
              </a:rPr>
              <a:t>•  </a:t>
            </a:r>
            <a:r>
              <a:rPr sz="1200" b="0" i="0">
                <a:solidFill>
                  <a:srgbClr val="1B2130"/>
                </a:solidFill>
                <a:latin typeface="Arial"/>
              </a:rPr>
              <a:t>Protein identity came from Ensembl BioMart homology tables.</a:t>
            </a:r>
          </a:p>
        </p:txBody>
      </p:sp>
      <p:sp>
        <p:nvSpPr>
          <p:cNvPr id="10" name="TextBox 9"/>
          <p:cNvSpPr txBox="1"/>
          <p:nvPr/>
        </p:nvSpPr>
        <p:spPr>
          <a:xfrm>
            <a:off x="566928" y="4233672"/>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K80 d = −½ ln(1 − 2P − Q) − ¼ ln(1 − 2Q) · longest-isoform canonical CDS</a:t>
            </a:r>
          </a:p>
        </p:txBody>
      </p:sp>
      <p:pic>
        <p:nvPicPr>
          <p:cNvPr id="11" name="Picture 10" descr="fig6-evolution-regulation.png"/>
          <p:cNvPicPr>
            <a:picLocks noChangeAspect="1"/>
          </p:cNvPicPr>
          <p:nvPr/>
        </p:nvPicPr>
        <p:blipFill>
          <a:blip r:embed="rId2"/>
          <a:stretch>
            <a:fillRect/>
          </a:stretch>
        </p:blipFill>
        <p:spPr>
          <a:xfrm>
            <a:off x="6874353" y="960120"/>
            <a:ext cx="4223367" cy="4526280"/>
          </a:xfrm>
          <a:prstGeom prst="rect">
            <a:avLst/>
          </a:prstGeom>
        </p:spPr>
      </p:pic>
      <p:sp>
        <p:nvSpPr>
          <p:cNvPr id="12" name="TextBox 11"/>
          <p:cNvSpPr txBox="1"/>
          <p:nvPr/>
        </p:nvSpPr>
        <p:spPr>
          <a:xfrm>
            <a:off x="6347307" y="5596128"/>
            <a:ext cx="5277459" cy="91440"/>
          </a:xfrm>
          <a:prstGeom prst="rect">
            <a:avLst/>
          </a:prstGeom>
          <a:noFill/>
        </p:spPr>
        <p:txBody>
          <a:bodyPr wrap="square" lIns="0" rIns="0" tIns="0" bIns="0">
            <a:spAutoFit/>
          </a:bodyPr>
          <a:lstStyle/>
          <a:p>
            <a:pPr algn="l">
              <a:lnSpc>
                <a:spcPct val="135000"/>
              </a:lnSpc>
              <a:spcBef>
                <a:spcPts val="0"/>
              </a:spcBef>
              <a:spcAft>
                <a:spcPts val="0"/>
              </a:spcAft>
            </a:pPr>
            <a:r>
              <a:rPr sz="850" b="0" i="0">
                <a:solidFill>
                  <a:srgbClr val="5B6377"/>
                </a:solidFill>
                <a:latin typeface="Arial"/>
              </a:rPr>
              <a:t>Fig. 6a–e — protein sequence identity and Kimura distance (a), transcription factor availability (b), cis-regulatory element abundance (c), CRE conservation and turnover (d) and CTCF binding (e) against |Δlog2FC|.</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29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25 · CIS-REGULATORY ARCHITECTURE</a:t>
            </a:r>
          </a:p>
        </p:txBody>
      </p:sp>
      <p:sp>
        <p:nvSpPr>
          <p:cNvPr id="8" name="TextBox 7"/>
          <p:cNvSpPr txBox="1"/>
          <p:nvPr/>
        </p:nvSpPr>
        <p:spPr>
          <a:xfrm>
            <a:off x="6347307"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tables/Genomic cCRE BEDs · 5.2_EvolutionaryAnalysis_Regulation.Rmd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30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26 · INTERPRETING THE EVOLUTIONARY SIGNAL</a:t>
            </a:r>
          </a:p>
        </p:txBody>
      </p:sp>
      <p:sp>
        <p:nvSpPr>
          <p:cNvPr id="8" name="TextBox 7"/>
          <p:cNvSpPr txBox="1"/>
          <p:nvPr/>
        </p:nvSpPr>
        <p:spPr>
          <a:xfrm>
            <a:off x="566928" y="841248"/>
            <a:ext cx="11057839" cy="91440"/>
          </a:xfrm>
          <a:prstGeom prst="rect">
            <a:avLst/>
          </a:prstGeom>
          <a:noFill/>
        </p:spPr>
        <p:txBody>
          <a:bodyPr wrap="square" lIns="0" rIns="0" tIns="0" bIns="0">
            <a:spAutoFit/>
          </a:bodyPr>
          <a:lstStyle/>
          <a:p>
            <a:pPr algn="l">
              <a:lnSpc>
                <a:spcPct val="106000"/>
              </a:lnSpc>
              <a:spcBef>
                <a:spcPts val="0"/>
              </a:spcBef>
              <a:spcAft>
                <a:spcPts val="0"/>
              </a:spcAft>
            </a:pPr>
            <a:r>
              <a:rPr sz="2600" b="0" i="0">
                <a:solidFill>
                  <a:srgbClr val="000000"/>
                </a:solidFill>
                <a:latin typeface="Merriweather"/>
              </a:rPr>
              <a:t>Sequence constraint tracks </a:t>
            </a:r>
            <a:r>
              <a:rPr sz="2600" b="0" i="1">
                <a:solidFill>
                  <a:srgbClr val="000000"/>
                </a:solidFill>
                <a:latin typeface="Merriweather"/>
              </a:rPr>
              <a:t>stability</a:t>
            </a:r>
            <a:r>
              <a:rPr sz="2600" b="0" i="0">
                <a:solidFill>
                  <a:srgbClr val="000000"/>
                </a:solidFill>
                <a:latin typeface="Merriweather"/>
              </a:rPr>
              <a:t>; regulatory plasticity tracks </a:t>
            </a:r>
            <a:r>
              <a:rPr sz="2600" b="0" i="1">
                <a:solidFill>
                  <a:srgbClr val="000000"/>
                </a:solidFill>
                <a:latin typeface="Merriweather"/>
              </a:rPr>
              <a:t>divergence</a:t>
            </a:r>
          </a:p>
        </p:txBody>
      </p:sp>
      <p:sp>
        <p:nvSpPr>
          <p:cNvPr id="9" name="Rectangle 8"/>
          <p:cNvSpPr/>
          <p:nvPr/>
        </p:nvSpPr>
        <p:spPr>
          <a:xfrm>
            <a:off x="566928" y="1769872"/>
            <a:ext cx="5277459" cy="20116"/>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897888"/>
            <a:ext cx="5277459" cy="91440"/>
          </a:xfrm>
          <a:prstGeom prst="rect">
            <a:avLst/>
          </a:prstGeom>
          <a:noFill/>
        </p:spPr>
        <p:txBody>
          <a:bodyPr wrap="square" lIns="0" rIns="0" tIns="0" bIns="0">
            <a:spAutoFit/>
          </a:bodyPr>
          <a:lstStyle/>
          <a:p>
            <a:pPr algn="l">
              <a:lnSpc>
                <a:spcPct val="100000"/>
              </a:lnSpc>
              <a:spcBef>
                <a:spcPts val="0"/>
              </a:spcBef>
              <a:spcAft>
                <a:spcPts val="0"/>
              </a:spcAft>
            </a:pPr>
            <a:r>
              <a:rPr sz="900" b="0" i="0" spc="140">
                <a:solidFill>
                  <a:srgbClr val="5B6377"/>
                </a:solidFill>
                <a:latin typeface="Arial"/>
              </a:rPr>
              <a:t>ASSOCIATED WITH LOWER |ΔLOG2FC| (CONVERGENCE)</a:t>
            </a:r>
          </a:p>
        </p:txBody>
      </p:sp>
      <p:sp>
        <p:nvSpPr>
          <p:cNvPr id="11" name="TextBox 10"/>
          <p:cNvSpPr txBox="1"/>
          <p:nvPr/>
        </p:nvSpPr>
        <p:spPr>
          <a:xfrm>
            <a:off x="566928" y="2117344"/>
            <a:ext cx="5277459" cy="91440"/>
          </a:xfrm>
          <a:prstGeom prst="rect">
            <a:avLst/>
          </a:prstGeom>
          <a:noFill/>
        </p:spPr>
        <p:txBody>
          <a:bodyPr wrap="square" lIns="0" rIns="0" tIns="0" bIns="0">
            <a:spAutoFit/>
          </a:bodyPr>
          <a:lstStyle/>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Higher protein sequence identity ρ = −0.08</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Greater TF availability and TF sharing ρ = −0.017 / −0.013</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Conserved promoter-like (PLS) signatures n.s.</a:t>
            </a:r>
          </a:p>
        </p:txBody>
      </p:sp>
      <p:sp>
        <p:nvSpPr>
          <p:cNvPr id="12" name="Rectangle 11"/>
          <p:cNvSpPr/>
          <p:nvPr/>
        </p:nvSpPr>
        <p:spPr>
          <a:xfrm>
            <a:off x="6347307" y="1769872"/>
            <a:ext cx="5277459" cy="20116"/>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7307" y="1897888"/>
            <a:ext cx="5277459" cy="91440"/>
          </a:xfrm>
          <a:prstGeom prst="rect">
            <a:avLst/>
          </a:prstGeom>
          <a:noFill/>
        </p:spPr>
        <p:txBody>
          <a:bodyPr wrap="square" lIns="0" rIns="0" tIns="0" bIns="0">
            <a:spAutoFit/>
          </a:bodyPr>
          <a:lstStyle/>
          <a:p>
            <a:pPr algn="l">
              <a:lnSpc>
                <a:spcPct val="100000"/>
              </a:lnSpc>
              <a:spcBef>
                <a:spcPts val="0"/>
              </a:spcBef>
              <a:spcAft>
                <a:spcPts val="0"/>
              </a:spcAft>
            </a:pPr>
            <a:r>
              <a:rPr sz="900" b="0" i="0" spc="140">
                <a:solidFill>
                  <a:srgbClr val="5B6377"/>
                </a:solidFill>
                <a:latin typeface="Arial"/>
              </a:rPr>
              <a:t>ASSOCIATED WITH HIGHER |ΔLOG2FC| (DIVERGENCE)</a:t>
            </a:r>
          </a:p>
        </p:txBody>
      </p:sp>
      <p:sp>
        <p:nvSpPr>
          <p:cNvPr id="14" name="TextBox 13"/>
          <p:cNvSpPr txBox="1"/>
          <p:nvPr/>
        </p:nvSpPr>
        <p:spPr>
          <a:xfrm>
            <a:off x="6347307" y="2117344"/>
            <a:ext cx="5277459" cy="91440"/>
          </a:xfrm>
          <a:prstGeom prst="rect">
            <a:avLst/>
          </a:prstGeom>
          <a:noFill/>
        </p:spPr>
        <p:txBody>
          <a:bodyPr wrap="square" lIns="0" rIns="0" tIns="0" bIns="0">
            <a:spAutoFit/>
          </a:bodyPr>
          <a:lstStyle/>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Greater Kimura (K80) evolutionary distance ρ = 0.10</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Enhancer multiplicity — pELS / dELS counts ρ = 0.036 / 0.039</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CRE turnover and CTCF-bound pELS ρ = 0.042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31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27 · MULTILAYER MODELLING — DESIGN &amp; FEATURE LAYERS</a:t>
            </a:r>
          </a:p>
        </p:txBody>
      </p:sp>
      <p:sp>
        <p:nvSpPr>
          <p:cNvPr id="8" name="TextBox 7"/>
          <p:cNvSpPr txBox="1"/>
          <p:nvPr/>
        </p:nvSpPr>
        <p:spPr>
          <a:xfrm>
            <a:off x="566928" y="960120"/>
            <a:ext cx="5277459" cy="91440"/>
          </a:xfrm>
          <a:prstGeom prst="rect">
            <a:avLst/>
          </a:prstGeom>
          <a:noFill/>
        </p:spPr>
        <p:txBody>
          <a:bodyPr wrap="square" lIns="0" rIns="0" tIns="0" bIns="0">
            <a:spAutoFit/>
          </a:bodyPr>
          <a:lstStyle/>
          <a:p>
            <a:pPr algn="l">
              <a:lnSpc>
                <a:spcPct val="106000"/>
              </a:lnSpc>
              <a:spcBef>
                <a:spcPts val="0"/>
              </a:spcBef>
              <a:spcAft>
                <a:spcPts val="0"/>
              </a:spcAft>
            </a:pPr>
            <a:r>
              <a:rPr sz="2300" b="0" i="0">
                <a:solidFill>
                  <a:srgbClr val="000000"/>
                </a:solidFill>
                <a:latin typeface="Merriweather"/>
              </a:rPr>
              <a:t>Two nested layers; predict the human response gene by gene</a:t>
            </a:r>
          </a:p>
        </p:txBody>
      </p:sp>
      <p:sp>
        <p:nvSpPr>
          <p:cNvPr id="9" name="TextBox 8"/>
          <p:cNvSpPr txBox="1"/>
          <p:nvPr/>
        </p:nvSpPr>
        <p:spPr>
          <a:xfrm>
            <a:off x="566928" y="1762252"/>
            <a:ext cx="5277459" cy="91440"/>
          </a:xfrm>
          <a:prstGeom prst="rect">
            <a:avLst/>
          </a:prstGeom>
          <a:noFill/>
        </p:spPr>
        <p:txBody>
          <a:bodyPr wrap="square" lIns="0" rIns="0" tIns="0" bIns="0">
            <a:spAutoFit/>
          </a:bodyPr>
          <a:lstStyle/>
          <a:p>
            <a:pPr algn="l">
              <a:lnSpc>
                <a:spcPct val="120000"/>
              </a:lnSpc>
              <a:spcBef>
                <a:spcPts val="0"/>
              </a:spcBef>
              <a:spcAft>
                <a:spcPts val="500"/>
              </a:spcAft>
            </a:pPr>
            <a:r>
              <a:rPr sz="1200" b="1" i="0">
                <a:solidFill>
                  <a:srgbClr val="A1B0F7"/>
                </a:solidFill>
                <a:latin typeface="Arial"/>
              </a:rPr>
              <a:t>•  </a:t>
            </a:r>
            <a:r>
              <a:rPr sz="1200" b="0" i="0">
                <a:solidFill>
                  <a:srgbClr val="1B2130"/>
                </a:solidFill>
                <a:latin typeface="Arial"/>
              </a:rPr>
              <a:t>DGE Baseline</a:t>
            </a:r>
            <a:r>
              <a:rPr sz="1200" b="0" i="0">
                <a:solidFill>
                  <a:srgbClr val="1B2130"/>
                </a:solidFill>
                <a:latin typeface="Arial"/>
              </a:rPr>
              <a:t> — the mouse differential-expression summary only: mouse log2FC, 1/SE, and mouse absolute rank (overall and within BTMs).</a:t>
            </a:r>
          </a:p>
          <a:p>
            <a:pPr algn="l">
              <a:lnSpc>
                <a:spcPct val="120000"/>
              </a:lnSpc>
              <a:spcBef>
                <a:spcPts val="0"/>
              </a:spcBef>
              <a:spcAft>
                <a:spcPts val="500"/>
              </a:spcAft>
            </a:pPr>
            <a:r>
              <a:rPr sz="1200" b="1" i="0">
                <a:solidFill>
                  <a:srgbClr val="A1B0F7"/>
                </a:solidFill>
                <a:latin typeface="Arial"/>
              </a:rPr>
              <a:t>•  </a:t>
            </a:r>
            <a:r>
              <a:rPr sz="1200" b="0" i="0">
                <a:solidFill>
                  <a:srgbClr val="1B2130"/>
                </a:solidFill>
                <a:latin typeface="Arial"/>
              </a:rPr>
              <a:t>Full + BTM</a:t>
            </a:r>
            <a:r>
              <a:rPr sz="1200" b="0" i="0">
                <a:solidFill>
                  <a:srgbClr val="1B2130"/>
                </a:solidFill>
                <a:latin typeface="Arial"/>
              </a:rPr>
              <a:t> — adds structural coding evolution (</a:t>
            </a:r>
            <a:r>
              <a:rPr sz="1200" b="0" i="0">
                <a:solidFill>
                  <a:srgbClr val="1B2130"/>
                </a:solidFill>
                <a:latin typeface="Arial"/>
              </a:rPr>
              <a:t>identity_human2mouse</a:t>
            </a:r>
            <a:r>
              <a:rPr sz="1200" b="0" i="0">
                <a:solidFill>
                  <a:srgbClr val="1B2130"/>
                </a:solidFill>
                <a:latin typeface="Arial"/>
              </a:rPr>
              <a:t>, </a:t>
            </a:r>
            <a:r>
              <a:rPr sz="1200" b="0" i="0">
                <a:solidFill>
                  <a:srgbClr val="1B2130"/>
                </a:solidFill>
                <a:latin typeface="Arial"/>
              </a:rPr>
              <a:t>dist_k80</a:t>
            </a:r>
            <a:r>
              <a:rPr sz="1200" b="0" i="0">
                <a:solidFill>
                  <a:srgbClr val="1B2130"/>
                </a:solidFill>
                <a:latin typeface="Arial"/>
              </a:rPr>
              <a:t>), cis-regulatory features (PLS/pELS/dELS counts and match percentages, CTCF-bound fractions), TF features (</a:t>
            </a:r>
            <a:r>
              <a:rPr sz="1200" b="0" i="0">
                <a:solidFill>
                  <a:srgbClr val="1B2130"/>
                </a:solidFill>
                <a:latin typeface="Arial"/>
              </a:rPr>
              <a:t>n_tf_total</a:t>
            </a:r>
            <a:r>
              <a:rPr sz="1200" b="0" i="0">
                <a:solidFill>
                  <a:srgbClr val="1B2130"/>
                </a:solidFill>
                <a:latin typeface="Arial"/>
              </a:rPr>
              <a:t>, </a:t>
            </a:r>
            <a:r>
              <a:rPr sz="1200" b="0" i="0">
                <a:solidFill>
                  <a:srgbClr val="1B2130"/>
                </a:solidFill>
                <a:latin typeface="Arial"/>
              </a:rPr>
              <a:t>pct_tf_shared</a:t>
            </a:r>
            <a:r>
              <a:rPr sz="1200" b="0" i="0">
                <a:solidFill>
                  <a:srgbClr val="1B2130"/>
                </a:solidFill>
                <a:latin typeface="Arial"/>
              </a:rPr>
              <a:t>) and BTM membership (immune vs. non-immune).</a:t>
            </a:r>
          </a:p>
          <a:p>
            <a:pPr algn="l">
              <a:lnSpc>
                <a:spcPct val="120000"/>
              </a:lnSpc>
              <a:spcBef>
                <a:spcPts val="0"/>
              </a:spcBef>
              <a:spcAft>
                <a:spcPts val="500"/>
              </a:spcAft>
            </a:pPr>
            <a:r>
              <a:rPr sz="1200" b="1" i="0">
                <a:solidFill>
                  <a:srgbClr val="A1B0F7"/>
                </a:solidFill>
                <a:latin typeface="Arial"/>
              </a:rPr>
              <a:t>•  </a:t>
            </a:r>
            <a:r>
              <a:rPr sz="1200" b="0" i="0">
                <a:solidFill>
                  <a:srgbClr val="1B2130"/>
                </a:solidFill>
                <a:latin typeface="Arial"/>
              </a:rPr>
              <a:t>Two </a:t>
            </a:r>
            <a:r>
              <a:rPr sz="1200" b="0" i="0">
                <a:solidFill>
                  <a:srgbClr val="1B2130"/>
                </a:solidFill>
                <a:latin typeface="Arial"/>
              </a:rPr>
              <a:t>framings</a:t>
            </a:r>
            <a:r>
              <a:rPr sz="1200" b="0" i="0">
                <a:solidFill>
                  <a:srgbClr val="1B2130"/>
                </a:solidFill>
                <a:latin typeface="Arial"/>
              </a:rPr>
              <a:t>: </a:t>
            </a:r>
            <a:r>
              <a:rPr sz="1200" b="0" i="0">
                <a:solidFill>
                  <a:srgbClr val="1B2130"/>
                </a:solidFill>
                <a:latin typeface="Arial"/>
              </a:rPr>
              <a:t>A (predictive)</a:t>
            </a:r>
            <a:r>
              <a:rPr sz="1200" b="0" i="0">
                <a:solidFill>
                  <a:srgbClr val="1B2130"/>
                </a:solidFill>
                <a:latin typeface="Arial"/>
              </a:rPr>
              <a:t> keeps the mouse magnitude; </a:t>
            </a:r>
            <a:r>
              <a:rPr sz="1200" b="0" i="0">
                <a:solidFill>
                  <a:srgbClr val="1B2130"/>
                </a:solidFill>
                <a:latin typeface="Arial"/>
              </a:rPr>
              <a:t>B (explanatory)</a:t>
            </a:r>
            <a:r>
              <a:rPr sz="1200" b="0" i="0">
                <a:solidFill>
                  <a:srgbClr val="1B2130"/>
                </a:solidFill>
                <a:latin typeface="Arial"/>
              </a:rPr>
              <a:t> removes it to test the biological layers alone.</a:t>
            </a:r>
          </a:p>
        </p:txBody>
      </p:sp>
      <p:pic>
        <p:nvPicPr>
          <p:cNvPr id="10" name="Picture 9" descr="fig7-models.png"/>
          <p:cNvPicPr>
            <a:picLocks noChangeAspect="1"/>
          </p:cNvPicPr>
          <p:nvPr/>
        </p:nvPicPr>
        <p:blipFill>
          <a:blip r:embed="rId2"/>
          <a:stretch>
            <a:fillRect/>
          </a:stretch>
        </p:blipFill>
        <p:spPr>
          <a:xfrm>
            <a:off x="6347307" y="960120"/>
            <a:ext cx="5277459" cy="2732100"/>
          </a:xfrm>
          <a:prstGeom prst="rect">
            <a:avLst/>
          </a:prstGeom>
        </p:spPr>
      </p:pic>
      <p:sp>
        <p:nvSpPr>
          <p:cNvPr id="11" name="TextBox 10"/>
          <p:cNvSpPr txBox="1"/>
          <p:nvPr/>
        </p:nvSpPr>
        <p:spPr>
          <a:xfrm>
            <a:off x="6347307" y="3801948"/>
            <a:ext cx="5277459" cy="91440"/>
          </a:xfrm>
          <a:prstGeom prst="rect">
            <a:avLst/>
          </a:prstGeom>
          <a:noFill/>
        </p:spPr>
        <p:txBody>
          <a:bodyPr wrap="square" lIns="0" rIns="0" tIns="0" bIns="0">
            <a:spAutoFit/>
          </a:bodyPr>
          <a:lstStyle/>
          <a:p>
            <a:pPr algn="l">
              <a:lnSpc>
                <a:spcPct val="135000"/>
              </a:lnSpc>
              <a:spcBef>
                <a:spcPts val="0"/>
              </a:spcBef>
              <a:spcAft>
                <a:spcPts val="0"/>
              </a:spcAft>
            </a:pPr>
            <a:r>
              <a:rPr sz="850" b="0" i="0">
                <a:solidFill>
                  <a:srgbClr val="5B6377"/>
                </a:solidFill>
                <a:latin typeface="Arial"/>
              </a:rPr>
              <a:t>Fig. 7 — multilayer modelling: (a) layer integration workflow, (b) shared-LEG classification, (c) directional concordance and (d) human rank regression, across algorithms and feature layers.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32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28 · LOCO CROSS-VALIDATION &amp; ALGORITHMS</a:t>
            </a:r>
          </a:p>
        </p:txBody>
      </p:sp>
      <p:sp>
        <p:nvSpPr>
          <p:cNvPr id="8" name="TextBox 7"/>
          <p:cNvSpPr txBox="1"/>
          <p:nvPr/>
        </p:nvSpPr>
        <p:spPr>
          <a:xfrm>
            <a:off x="6347307"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Feature importance: log-odds (logistic) · standardised effects (linear) · lasso coefficients · Gini (RF)</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33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29 · RESULT — MODEL PERFORMANCE</a:t>
            </a:r>
          </a:p>
        </p:txBody>
      </p:sp>
      <p:sp>
        <p:nvSpPr>
          <p:cNvPr id="8" name="TextBox 7"/>
          <p:cNvSpPr txBox="1"/>
          <p:nvPr/>
        </p:nvSpPr>
        <p:spPr>
          <a:xfrm>
            <a:off x="566928" y="960120"/>
            <a:ext cx="5277459" cy="91440"/>
          </a:xfrm>
          <a:prstGeom prst="rect">
            <a:avLst/>
          </a:prstGeom>
          <a:noFill/>
        </p:spPr>
        <p:txBody>
          <a:bodyPr wrap="square" lIns="0" rIns="0" tIns="0" bIns="0">
            <a:spAutoFit/>
          </a:bodyPr>
          <a:lstStyle/>
          <a:p>
            <a:pPr algn="l">
              <a:lnSpc>
                <a:spcPct val="106000"/>
              </a:lnSpc>
              <a:spcBef>
                <a:spcPts val="0"/>
              </a:spcBef>
              <a:spcAft>
                <a:spcPts val="0"/>
              </a:spcAft>
            </a:pPr>
            <a:r>
              <a:rPr sz="2300" b="0" i="0">
                <a:solidFill>
                  <a:srgbClr val="000000"/>
                </a:solidFill>
                <a:latin typeface="Merriweather"/>
              </a:rPr>
              <a:t>Layers turn near-chance transfer into </a:t>
            </a:r>
            <a:r>
              <a:rPr sz="2300" b="0" i="1">
                <a:solidFill>
                  <a:srgbClr val="000000"/>
                </a:solidFill>
                <a:latin typeface="Merriweather"/>
              </a:rPr>
              <a:t>useful</a:t>
            </a:r>
            <a:r>
              <a:rPr sz="2300" b="0" i="0">
                <a:solidFill>
                  <a:srgbClr val="000000"/>
                </a:solidFill>
                <a:latin typeface="Merriweather"/>
              </a:rPr>
              <a:t> prediction</a:t>
            </a:r>
          </a:p>
        </p:txBody>
      </p:sp>
      <p:sp>
        <p:nvSpPr>
          <p:cNvPr id="9" name="TextBox 8"/>
          <p:cNvSpPr txBox="1"/>
          <p:nvPr/>
        </p:nvSpPr>
        <p:spPr>
          <a:xfrm>
            <a:off x="566928" y="1762252"/>
            <a:ext cx="5277459" cy="91440"/>
          </a:xfrm>
          <a:prstGeom prst="rect">
            <a:avLst/>
          </a:prstGeom>
          <a:noFill/>
        </p:spPr>
        <p:txBody>
          <a:bodyPr wrap="square" lIns="0" rIns="0" tIns="0" bIns="0">
            <a:spAutoFit/>
          </a:bodyPr>
          <a:lstStyle/>
          <a:p>
            <a:pPr algn="l">
              <a:lnSpc>
                <a:spcPct val="120000"/>
              </a:lnSpc>
              <a:spcBef>
                <a:spcPts val="0"/>
              </a:spcBef>
              <a:spcAft>
                <a:spcPts val="500"/>
              </a:spcAft>
            </a:pPr>
            <a:r>
              <a:rPr sz="1200" b="1" i="0">
                <a:solidFill>
                  <a:srgbClr val="A1B0F7"/>
                </a:solidFill>
                <a:latin typeface="Arial"/>
              </a:rPr>
              <a:t>•  </a:t>
            </a:r>
            <a:r>
              <a:rPr sz="1200" b="0" i="0">
                <a:solidFill>
                  <a:srgbClr val="1B2130"/>
                </a:solidFill>
                <a:latin typeface="Arial"/>
              </a:rPr>
              <a:t>Mouse rank alone: </a:t>
            </a:r>
            <a:r>
              <a:rPr sz="1200" b="0" i="0">
                <a:solidFill>
                  <a:srgbClr val="1B2130"/>
                </a:solidFill>
                <a:latin typeface="Arial"/>
              </a:rPr>
              <a:t>R² = 0.001</a:t>
            </a:r>
            <a:r>
              <a:rPr sz="1200" b="0" i="0">
                <a:solidFill>
                  <a:srgbClr val="1B2130"/>
                </a:solidFill>
                <a:latin typeface="Arial"/>
              </a:rPr>
              <a:t> · mouse direction alone: </a:t>
            </a:r>
            <a:r>
              <a:rPr sz="1200" b="0" i="0">
                <a:solidFill>
                  <a:srgbClr val="1B2130"/>
                </a:solidFill>
                <a:latin typeface="Arial"/>
              </a:rPr>
              <a:t>ROC-AUC = 0.511</a:t>
            </a:r>
            <a:r>
              <a:rPr sz="1200" b="0" i="0">
                <a:solidFill>
                  <a:srgbClr val="1B2130"/>
                </a:solidFill>
                <a:latin typeface="Arial"/>
              </a:rPr>
              <a:t> — no transfer.</a:t>
            </a:r>
          </a:p>
          <a:p>
            <a:pPr algn="l">
              <a:lnSpc>
                <a:spcPct val="120000"/>
              </a:lnSpc>
              <a:spcBef>
                <a:spcPts val="0"/>
              </a:spcBef>
              <a:spcAft>
                <a:spcPts val="500"/>
              </a:spcAft>
            </a:pPr>
            <a:r>
              <a:rPr sz="1200" b="1" i="0">
                <a:solidFill>
                  <a:srgbClr val="A1B0F7"/>
                </a:solidFill>
                <a:latin typeface="Arial"/>
              </a:rPr>
              <a:t>•  </a:t>
            </a:r>
            <a:r>
              <a:rPr sz="1200" b="0" i="0">
                <a:solidFill>
                  <a:srgbClr val="1B2130"/>
                </a:solidFill>
                <a:latin typeface="Arial"/>
              </a:rPr>
              <a:t>Adding evolution, TF, CRE and BTM layers → random forest </a:t>
            </a:r>
            <a:r>
              <a:rPr sz="1200" b="0" i="0">
                <a:solidFill>
                  <a:srgbClr val="1B2130"/>
                </a:solidFill>
                <a:latin typeface="Arial"/>
              </a:rPr>
              <a:t>R² = 0.2345</a:t>
            </a:r>
            <a:r>
              <a:rPr sz="1200" b="0" i="0">
                <a:solidFill>
                  <a:srgbClr val="1B2130"/>
                </a:solidFill>
                <a:latin typeface="Arial"/>
              </a:rPr>
              <a:t> for human rank and </a:t>
            </a:r>
            <a:r>
              <a:rPr sz="1200" b="0" i="0">
                <a:solidFill>
                  <a:srgbClr val="1B2130"/>
                </a:solidFill>
                <a:latin typeface="Arial"/>
              </a:rPr>
              <a:t>ROC-AUC = 0.8488</a:t>
            </a:r>
            <a:r>
              <a:rPr sz="1200" b="0" i="0">
                <a:solidFill>
                  <a:srgbClr val="1B2130"/>
                </a:solidFill>
                <a:latin typeface="Arial"/>
              </a:rPr>
              <a:t> for direction.</a:t>
            </a:r>
          </a:p>
          <a:p>
            <a:pPr algn="l">
              <a:lnSpc>
                <a:spcPct val="120000"/>
              </a:lnSpc>
              <a:spcBef>
                <a:spcPts val="0"/>
              </a:spcBef>
              <a:spcAft>
                <a:spcPts val="500"/>
              </a:spcAft>
            </a:pPr>
            <a:r>
              <a:rPr sz="1200" b="1" i="0">
                <a:solidFill>
                  <a:srgbClr val="A1B0F7"/>
                </a:solidFill>
                <a:latin typeface="Arial"/>
              </a:rPr>
              <a:t>•  </a:t>
            </a:r>
            <a:r>
              <a:rPr sz="1200" b="0" i="0">
                <a:solidFill>
                  <a:srgbClr val="1B2130"/>
                </a:solidFill>
                <a:latin typeface="Arial"/>
              </a:rPr>
              <a:t>Shared vs. mouse-only LEGs stay hard: lasso best by a whisker — </a:t>
            </a:r>
            <a:r>
              <a:rPr sz="1200" b="0" i="0">
                <a:solidFill>
                  <a:srgbClr val="1B2130"/>
                </a:solidFill>
                <a:latin typeface="Arial"/>
              </a:rPr>
              <a:t>0.6173</a:t>
            </a:r>
            <a:r>
              <a:rPr sz="1200" b="0" i="0">
                <a:solidFill>
                  <a:srgbClr val="1B2130"/>
                </a:solidFill>
                <a:latin typeface="Arial"/>
              </a:rPr>
              <a:t> predictive / </a:t>
            </a:r>
            <a:r>
              <a:rPr sz="1200" b="0" i="0">
                <a:solidFill>
                  <a:srgbClr val="1B2130"/>
                </a:solidFill>
                <a:latin typeface="Arial"/>
              </a:rPr>
              <a:t>0.6271</a:t>
            </a:r>
            <a:r>
              <a:rPr sz="1200" b="0" i="0">
                <a:solidFill>
                  <a:srgbClr val="1B2130"/>
                </a:solidFill>
                <a:latin typeface="Arial"/>
              </a:rPr>
              <a:t> explanatory.</a:t>
            </a:r>
          </a:p>
        </p:txBody>
      </p:sp>
      <p:sp>
        <p:nvSpPr>
          <p:cNvPr id="10" name="TextBox 9"/>
          <p:cNvSpPr txBox="1"/>
          <p:nvPr/>
        </p:nvSpPr>
        <p:spPr>
          <a:xfrm>
            <a:off x="566928" y="3375151"/>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LOCO-CV (4 folds) · nested layers: DGE Baseline → Full + BTM</a:t>
            </a:r>
            <a:r>
              <a:rPr sz="1200" b="0" i="0">
                <a:solidFill>
                  <a:srgbClr val="1B2130"/>
                </a:solidFill>
                <a:latin typeface="Arial"/>
              </a:rPr>
              <a:t>
</a:t>
            </a:r>
            <a:r>
              <a:rPr sz="1200" b="0" i="0">
                <a:solidFill>
                  <a:srgbClr val="1B2130"/>
                </a:solidFill>
                <a:latin typeface="Arial"/>
              </a:rPr>
              <a:t> 4 algorithms: linear/logistic · lasso · random forest · neural network</a:t>
            </a:r>
          </a:p>
        </p:txBody>
      </p:sp>
      <p:pic>
        <p:nvPicPr>
          <p:cNvPr id="11" name="Picture 10" descr="fig7-models.png"/>
          <p:cNvPicPr>
            <a:picLocks noChangeAspect="1"/>
          </p:cNvPicPr>
          <p:nvPr/>
        </p:nvPicPr>
        <p:blipFill>
          <a:blip r:embed="rId2"/>
          <a:stretch>
            <a:fillRect/>
          </a:stretch>
        </p:blipFill>
        <p:spPr>
          <a:xfrm>
            <a:off x="6347307" y="960120"/>
            <a:ext cx="5277459" cy="2732100"/>
          </a:xfrm>
          <a:prstGeom prst="rect">
            <a:avLst/>
          </a:prstGeom>
        </p:spPr>
      </p:pic>
      <p:sp>
        <p:nvSpPr>
          <p:cNvPr id="12" name="TextBox 11"/>
          <p:cNvSpPr txBox="1"/>
          <p:nvPr/>
        </p:nvSpPr>
        <p:spPr>
          <a:xfrm>
            <a:off x="6347307" y="3801948"/>
            <a:ext cx="5277459" cy="91440"/>
          </a:xfrm>
          <a:prstGeom prst="rect">
            <a:avLst/>
          </a:prstGeom>
          <a:noFill/>
        </p:spPr>
        <p:txBody>
          <a:bodyPr wrap="square" lIns="0" rIns="0" tIns="0" bIns="0">
            <a:spAutoFit/>
          </a:bodyPr>
          <a:lstStyle/>
          <a:p>
            <a:pPr algn="l">
              <a:lnSpc>
                <a:spcPct val="135000"/>
              </a:lnSpc>
              <a:spcBef>
                <a:spcPts val="0"/>
              </a:spcBef>
              <a:spcAft>
                <a:spcPts val="0"/>
              </a:spcAft>
            </a:pPr>
            <a:r>
              <a:rPr sz="850" b="0" i="0">
                <a:solidFill>
                  <a:srgbClr val="5B6377"/>
                </a:solidFill>
                <a:latin typeface="Arial"/>
              </a:rPr>
              <a:t>Fig. 7b–d — shared-LEG classification (b), directional concordance (c) and human-rank regression (d) across algorithms and feature layers under LOCO cross-validation.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34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30 · WHY THE MULTILAYER SIGNAL IS NON-LINEAR</a:t>
            </a:r>
          </a:p>
        </p:txBody>
      </p:sp>
      <p:sp>
        <p:nvSpPr>
          <p:cNvPr id="8" name="TextBox 7"/>
          <p:cNvSpPr txBox="1"/>
          <p:nvPr/>
        </p:nvSpPr>
        <p:spPr>
          <a:xfrm>
            <a:off x="6347307"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The lasso improved only marginally over unregularised linear models — regularisation is not the source of the gain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35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31 · THE FOUR TRANSLATIONAL SCORES</a:t>
            </a:r>
          </a:p>
        </p:txBody>
      </p:sp>
      <p:sp>
        <p:nvSpPr>
          <p:cNvPr id="8" name="TextBox 7"/>
          <p:cNvSpPr txBox="1"/>
          <p:nvPr/>
        </p:nvSpPr>
        <p:spPr>
          <a:xfrm>
            <a:off x="566928"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Every gene is scored by a model trained without its condition (out-of-fold LOCO)</a:t>
            </a:r>
          </a:p>
        </p:txBody>
      </p:sp>
      <p:sp>
        <p:nvSpPr>
          <p:cNvPr id="9" name="TextBox 8"/>
          <p:cNvSpPr txBox="1"/>
          <p:nvPr/>
        </p:nvSpPr>
        <p:spPr>
          <a:xfrm>
            <a:off x="6347307"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Outputs in </a:t>
            </a:r>
            <a:r>
              <a:rPr sz="1100" b="0" i="0">
                <a:solidFill>
                  <a:srgbClr val="5B6377"/>
                </a:solidFill>
                <a:latin typeface="Arial"/>
              </a:rPr>
              <a:t>Modelling/Tables/</a:t>
            </a:r>
            <a:r>
              <a:rPr sz="1200" b="0" i="0">
                <a:solidFill>
                  <a:srgbClr val="1B2130"/>
                </a:solidFill>
                <a:latin typeface="Arial"/>
              </a:rPr>
              <a:t> · </a:t>
            </a:r>
            <a:r>
              <a:rPr sz="1100" b="0" i="0">
                <a:solidFill>
                  <a:srgbClr val="5B6377"/>
                </a:solidFill>
                <a:latin typeface="Arial"/>
              </a:rPr>
              <a:t>observed_vs_predicted.csv</a:t>
            </a:r>
            <a:r>
              <a:rPr sz="1200" b="0" i="0">
                <a:solidFill>
                  <a:srgbClr val="1B2130"/>
                </a:solidFill>
                <a:latin typeface="Arial"/>
              </a:rPr>
              <a:t>/</a:t>
            </a:r>
            <a:r>
              <a:rPr sz="1100" b="0" i="0">
                <a:solidFill>
                  <a:srgbClr val="5B6377"/>
                </a:solidFill>
                <a:latin typeface="Arial"/>
              </a:rPr>
              <a:t>.rds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36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32 · MODEL SERIALISATION, ARTEFACTS &amp; APPLICATION</a:t>
            </a:r>
          </a:p>
        </p:txBody>
      </p:sp>
      <p:sp>
        <p:nvSpPr>
          <p:cNvPr id="8" name="TextBox 7"/>
          <p:cNvSpPr txBox="1"/>
          <p:nvPr/>
        </p:nvSpPr>
        <p:spPr>
          <a:xfrm>
            <a:off x="6347307" y="1005840"/>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200" b="0" i="0">
                <a:solidFill>
                  <a:srgbClr val="1B2130"/>
                </a:solidFill>
                <a:latin typeface="Arial"/>
              </a:rPr>
              <a:t>Modelling/{Models,Tables,Figures} · written by 6_Statistical_Modelling.Rmd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37 / 39</a:t>
            </a:r>
          </a:p>
        </p:txBody>
      </p:sp>
      <p:sp>
        <p:nvSpPr>
          <p:cNvPr id="7" name="TextBox 6"/>
          <p:cNvSpPr txBox="1"/>
          <p:nvPr/>
        </p:nvSpPr>
        <p:spPr>
          <a:xfrm>
            <a:off x="566928" y="841248"/>
            <a:ext cx="11057839" cy="91440"/>
          </a:xfrm>
          <a:prstGeom prst="rect">
            <a:avLst/>
          </a:prstGeom>
          <a:noFill/>
        </p:spPr>
        <p:txBody>
          <a:bodyPr wrap="square" lIns="0" rIns="0" tIns="0" bIns="0">
            <a:spAutoFit/>
          </a:bodyPr>
          <a:lstStyle/>
          <a:p>
            <a:pPr algn="l">
              <a:lnSpc>
                <a:spcPct val="106000"/>
              </a:lnSpc>
              <a:spcBef>
                <a:spcPts val="0"/>
              </a:spcBef>
              <a:spcAft>
                <a:spcPts val="0"/>
              </a:spcAft>
            </a:pPr>
            <a:r>
              <a:rPr sz="2600" b="0" i="0">
                <a:solidFill>
                  <a:srgbClr val="000000"/>
                </a:solidFill>
                <a:latin typeface="Merriweather"/>
              </a:rPr>
              <a:t>Open code, trained models, and a notebook to </a:t>
            </a:r>
            <a:r>
              <a:rPr sz="2600" b="0" i="1">
                <a:solidFill>
                  <a:srgbClr val="000000"/>
                </a:solidFill>
                <a:latin typeface="Merriweather"/>
              </a:rPr>
              <a:t>apply</a:t>
            </a:r>
            <a:r>
              <a:rPr sz="2600" b="0" i="0">
                <a:solidFill>
                  <a:srgbClr val="000000"/>
                </a:solidFill>
                <a:latin typeface="Merriweather"/>
              </a:rPr>
              <a:t> them</a:t>
            </a:r>
          </a:p>
        </p:txBody>
      </p:sp>
      <p:sp>
        <p:nvSpPr>
          <p:cNvPr id="8" name="Rectangle 7"/>
          <p:cNvSpPr/>
          <p:nvPr/>
        </p:nvSpPr>
        <p:spPr>
          <a:xfrm>
            <a:off x="566928" y="1511300"/>
            <a:ext cx="3503066" cy="2834640"/>
          </a:xfrm>
          <a:prstGeom prst="rect">
            <a:avLst/>
          </a:prstGeom>
          <a:solidFill>
            <a:srgbClr val="FFFFFF"/>
          </a:solidFill>
          <a:ln w="9525">
            <a:solidFill>
              <a:srgbClr val="D9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712468"/>
            <a:ext cx="3137306" cy="91440"/>
          </a:xfrm>
          <a:prstGeom prst="rect">
            <a:avLst/>
          </a:prstGeom>
          <a:noFill/>
        </p:spPr>
        <p:txBody>
          <a:bodyPr wrap="square" lIns="0" rIns="0" tIns="0" bIns="0">
            <a:spAutoFit/>
          </a:bodyPr>
          <a:lstStyle/>
          <a:p>
            <a:pPr algn="l">
              <a:lnSpc>
                <a:spcPct val="100000"/>
              </a:lnSpc>
              <a:spcBef>
                <a:spcPts val="0"/>
              </a:spcBef>
              <a:spcAft>
                <a:spcPts val="0"/>
              </a:spcAft>
            </a:pPr>
            <a:r>
              <a:rPr sz="900" b="0" i="0" spc="150">
                <a:solidFill>
                  <a:srgbClr val="4DBBD5"/>
                </a:solidFill>
                <a:latin typeface="Arial"/>
              </a:rPr>
              <a:t>PIPELINE</a:t>
            </a:r>
          </a:p>
        </p:txBody>
      </p:sp>
      <p:sp>
        <p:nvSpPr>
          <p:cNvPr id="10" name="TextBox 9"/>
          <p:cNvSpPr txBox="1"/>
          <p:nvPr/>
        </p:nvSpPr>
        <p:spPr>
          <a:xfrm>
            <a:off x="749808" y="1986788"/>
            <a:ext cx="3137306" cy="91440"/>
          </a:xfrm>
          <a:prstGeom prst="rect">
            <a:avLst/>
          </a:prstGeom>
          <a:noFill/>
        </p:spPr>
        <p:txBody>
          <a:bodyPr wrap="square" lIns="0" rIns="0" tIns="0" bIns="0">
            <a:spAutoFit/>
          </a:bodyPr>
          <a:lstStyle/>
          <a:p>
            <a:pPr algn="l">
              <a:lnSpc>
                <a:spcPct val="100000"/>
              </a:lnSpc>
              <a:spcBef>
                <a:spcPts val="0"/>
              </a:spcBef>
              <a:spcAft>
                <a:spcPts val="0"/>
              </a:spcAft>
            </a:pPr>
            <a:r>
              <a:rPr sz="1500" b="0" i="0">
                <a:solidFill>
                  <a:srgbClr val="000000"/>
                </a:solidFill>
                <a:latin typeface="Merriweather"/>
              </a:rPr>
              <a:t>mousetohuman_multilayer</a:t>
            </a:r>
          </a:p>
        </p:txBody>
      </p:sp>
      <p:sp>
        <p:nvSpPr>
          <p:cNvPr id="11" name="TextBox 10"/>
          <p:cNvSpPr txBox="1"/>
          <p:nvPr/>
        </p:nvSpPr>
        <p:spPr>
          <a:xfrm>
            <a:off x="749808" y="2297684"/>
            <a:ext cx="3137306" cy="91440"/>
          </a:xfrm>
          <a:prstGeom prst="rect">
            <a:avLst/>
          </a:prstGeom>
          <a:noFill/>
        </p:spPr>
        <p:txBody>
          <a:bodyPr wrap="square" lIns="0" rIns="0" tIns="0" bIns="0">
            <a:spAutoFit/>
          </a:bodyPr>
          <a:lstStyle/>
          <a:p>
            <a:pPr algn="l">
              <a:lnSpc>
                <a:spcPct val="125000"/>
              </a:lnSpc>
              <a:spcBef>
                <a:spcPts val="0"/>
              </a:spcBef>
              <a:spcAft>
                <a:spcPts val="0"/>
              </a:spcAft>
            </a:pPr>
            <a:r>
              <a:rPr sz="1100" b="0" i="0">
                <a:solidFill>
                  <a:srgbClr val="1B2130"/>
                </a:solidFill>
                <a:latin typeface="Arial"/>
              </a:rPr>
              <a:t>Pipeline</a:t>
            </a:r>
          </a:p>
        </p:txBody>
      </p:sp>
      <p:sp>
        <p:nvSpPr>
          <p:cNvPr id="12" name="TextBox 11"/>
          <p:cNvSpPr txBox="1"/>
          <p:nvPr/>
        </p:nvSpPr>
        <p:spPr>
          <a:xfrm>
            <a:off x="749808" y="2563749"/>
            <a:ext cx="3137306" cy="91440"/>
          </a:xfrm>
          <a:prstGeom prst="rect">
            <a:avLst/>
          </a:prstGeom>
          <a:noFill/>
        </p:spPr>
        <p:txBody>
          <a:bodyPr wrap="square" lIns="0" rIns="0" tIns="0" bIns="0">
            <a:spAutoFit/>
          </a:bodyPr>
          <a:lstStyle/>
          <a:p>
            <a:pPr algn="l">
              <a:lnSpc>
                <a:spcPct val="125000"/>
              </a:lnSpc>
              <a:spcBef>
                <a:spcPts val="0"/>
              </a:spcBef>
              <a:spcAft>
                <a:spcPts val="0"/>
              </a:spcAft>
            </a:pPr>
            <a:r>
              <a:rPr sz="1100" b="0" i="0">
                <a:solidFill>
                  <a:srgbClr val="1B2130"/>
                </a:solidFill>
                <a:latin typeface="Arial"/>
              </a:rPr>
              <a:t>Full R Markdown pipeline — curation, QC, limma DGE, GSEA, evolutionary and regulatory analyses, and the LOCO modelling script. Pinned with renv .</a:t>
            </a:r>
          </a:p>
        </p:txBody>
      </p:sp>
      <p:sp>
        <p:nvSpPr>
          <p:cNvPr id="13" name="TextBox 12"/>
          <p:cNvSpPr txBox="1"/>
          <p:nvPr/>
        </p:nvSpPr>
        <p:spPr>
          <a:xfrm>
            <a:off x="749808" y="3353689"/>
            <a:ext cx="3137306" cy="91440"/>
          </a:xfrm>
          <a:prstGeom prst="rect">
            <a:avLst/>
          </a:prstGeom>
          <a:noFill/>
        </p:spPr>
        <p:txBody>
          <a:bodyPr wrap="square" lIns="0" rIns="0" tIns="0" bIns="0">
            <a:spAutoFit/>
          </a:bodyPr>
          <a:lstStyle/>
          <a:p>
            <a:pPr algn="l">
              <a:lnSpc>
                <a:spcPct val="125000"/>
              </a:lnSpc>
              <a:spcBef>
                <a:spcPts val="0"/>
              </a:spcBef>
              <a:spcAft>
                <a:spcPts val="0"/>
              </a:spcAft>
            </a:pPr>
            <a:r>
              <a:rPr sz="1100" b="0" i="0">
                <a:solidFill>
                  <a:srgbClr val="1B2130"/>
                </a:solidFill>
                <a:latin typeface="Arial"/>
              </a:rPr>
              <a:t>github.com/wapsyed/mousetohuman_multilayer</a:t>
            </a:r>
          </a:p>
        </p:txBody>
      </p:sp>
      <p:sp>
        <p:nvSpPr>
          <p:cNvPr id="14" name="TextBox 13"/>
          <p:cNvSpPr txBox="1"/>
          <p:nvPr/>
        </p:nvSpPr>
        <p:spPr>
          <a:xfrm>
            <a:off x="749808" y="3961892"/>
            <a:ext cx="3137306" cy="274320"/>
          </a:xfrm>
          <a:prstGeom prst="rect">
            <a:avLst/>
          </a:prstGeom>
          <a:noFill/>
        </p:spPr>
        <p:txBody>
          <a:bodyPr wrap="square" lIns="0" rIns="0" tIns="0" bIns="0">
            <a:spAutoFit/>
          </a:bodyPr>
          <a:lstStyle/>
          <a:p>
            <a:pPr algn="l">
              <a:lnSpc>
                <a:spcPct val="115000"/>
              </a:lnSpc>
              <a:spcBef>
                <a:spcPts val="0"/>
              </a:spcBef>
              <a:spcAft>
                <a:spcPts val="0"/>
              </a:spcAft>
            </a:pPr>
            <a:r>
              <a:rPr sz="900" b="0" i="0">
                <a:solidFill>
                  <a:srgbClr val="4361EE"/>
                </a:solidFill>
                <a:latin typeface="Arial"/>
              </a:rPr>
              <a:t>github.com/wapsyed/mousetohuman_multilayer</a:t>
            </a:r>
          </a:p>
        </p:txBody>
      </p:sp>
      <p:sp>
        <p:nvSpPr>
          <p:cNvPr id="15" name="Rectangle 14"/>
          <p:cNvSpPr/>
          <p:nvPr/>
        </p:nvSpPr>
        <p:spPr>
          <a:xfrm>
            <a:off x="4344314" y="1511300"/>
            <a:ext cx="3503066" cy="2834640"/>
          </a:xfrm>
          <a:prstGeom prst="rect">
            <a:avLst/>
          </a:prstGeom>
          <a:solidFill>
            <a:srgbClr val="FFFFFF"/>
          </a:solidFill>
          <a:ln w="9525">
            <a:solidFill>
              <a:srgbClr val="D9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7194" y="1712468"/>
            <a:ext cx="3137306" cy="91440"/>
          </a:xfrm>
          <a:prstGeom prst="rect">
            <a:avLst/>
          </a:prstGeom>
          <a:noFill/>
        </p:spPr>
        <p:txBody>
          <a:bodyPr wrap="square" lIns="0" rIns="0" tIns="0" bIns="0">
            <a:spAutoFit/>
          </a:bodyPr>
          <a:lstStyle/>
          <a:p>
            <a:pPr algn="l">
              <a:lnSpc>
                <a:spcPct val="100000"/>
              </a:lnSpc>
              <a:spcBef>
                <a:spcPts val="0"/>
              </a:spcBef>
              <a:spcAft>
                <a:spcPts val="0"/>
              </a:spcAft>
            </a:pPr>
            <a:r>
              <a:rPr sz="900" b="0" i="0" spc="150">
                <a:solidFill>
                  <a:srgbClr val="4DBBD5"/>
                </a:solidFill>
                <a:latin typeface="Arial"/>
              </a:rPr>
              <a:t>DOCUMENTATION</a:t>
            </a:r>
          </a:p>
        </p:txBody>
      </p:sp>
      <p:sp>
        <p:nvSpPr>
          <p:cNvPr id="17" name="TextBox 16"/>
          <p:cNvSpPr txBox="1"/>
          <p:nvPr/>
        </p:nvSpPr>
        <p:spPr>
          <a:xfrm>
            <a:off x="4527194" y="1986788"/>
            <a:ext cx="3137306" cy="91440"/>
          </a:xfrm>
          <a:prstGeom prst="rect">
            <a:avLst/>
          </a:prstGeom>
          <a:noFill/>
        </p:spPr>
        <p:txBody>
          <a:bodyPr wrap="square" lIns="0" rIns="0" tIns="0" bIns="0">
            <a:spAutoFit/>
          </a:bodyPr>
          <a:lstStyle/>
          <a:p>
            <a:pPr algn="l">
              <a:lnSpc>
                <a:spcPct val="100000"/>
              </a:lnSpc>
              <a:spcBef>
                <a:spcPts val="0"/>
              </a:spcBef>
              <a:spcAft>
                <a:spcPts val="0"/>
              </a:spcAft>
            </a:pPr>
            <a:r>
              <a:rPr sz="1500" b="0" i="0">
                <a:solidFill>
                  <a:srgbClr val="000000"/>
                </a:solidFill>
                <a:latin typeface="Merriweather"/>
              </a:rPr>
              <a:t>Project site</a:t>
            </a:r>
          </a:p>
        </p:txBody>
      </p:sp>
      <p:sp>
        <p:nvSpPr>
          <p:cNvPr id="18" name="TextBox 17"/>
          <p:cNvSpPr txBox="1"/>
          <p:nvPr/>
        </p:nvSpPr>
        <p:spPr>
          <a:xfrm>
            <a:off x="4527194" y="2297684"/>
            <a:ext cx="3137306" cy="91440"/>
          </a:xfrm>
          <a:prstGeom prst="rect">
            <a:avLst/>
          </a:prstGeom>
          <a:noFill/>
        </p:spPr>
        <p:txBody>
          <a:bodyPr wrap="square" lIns="0" rIns="0" tIns="0" bIns="0">
            <a:spAutoFit/>
          </a:bodyPr>
          <a:lstStyle/>
          <a:p>
            <a:pPr algn="l">
              <a:lnSpc>
                <a:spcPct val="125000"/>
              </a:lnSpc>
              <a:spcBef>
                <a:spcPts val="0"/>
              </a:spcBef>
              <a:spcAft>
                <a:spcPts val="0"/>
              </a:spcAft>
            </a:pPr>
            <a:r>
              <a:rPr sz="1100" b="0" i="0">
                <a:solidFill>
                  <a:srgbClr val="1B2130"/>
                </a:solidFill>
                <a:latin typeface="Arial"/>
              </a:rPr>
              <a:t>Documentation</a:t>
            </a:r>
          </a:p>
        </p:txBody>
      </p:sp>
      <p:sp>
        <p:nvSpPr>
          <p:cNvPr id="19" name="TextBox 18"/>
          <p:cNvSpPr txBox="1"/>
          <p:nvPr/>
        </p:nvSpPr>
        <p:spPr>
          <a:xfrm>
            <a:off x="4527194" y="2563749"/>
            <a:ext cx="3137306" cy="91440"/>
          </a:xfrm>
          <a:prstGeom prst="rect">
            <a:avLst/>
          </a:prstGeom>
          <a:noFill/>
        </p:spPr>
        <p:txBody>
          <a:bodyPr wrap="square" lIns="0" rIns="0" tIns="0" bIns="0">
            <a:spAutoFit/>
          </a:bodyPr>
          <a:lstStyle/>
          <a:p>
            <a:pPr algn="l">
              <a:lnSpc>
                <a:spcPct val="125000"/>
              </a:lnSpc>
              <a:spcBef>
                <a:spcPts val="0"/>
              </a:spcBef>
              <a:spcAft>
                <a:spcPts val="0"/>
              </a:spcAft>
            </a:pPr>
            <a:r>
              <a:rPr sz="1100" b="0" i="0">
                <a:solidFill>
                  <a:srgbClr val="1B2130"/>
                </a:solidFill>
                <a:latin typeface="Arial"/>
              </a:rPr>
              <a:t>Overview, complete methodology — including the multilayer modelling pipeline — and the notebook map, in one place.</a:t>
            </a:r>
          </a:p>
        </p:txBody>
      </p:sp>
      <p:sp>
        <p:nvSpPr>
          <p:cNvPr id="20" name="TextBox 19"/>
          <p:cNvSpPr txBox="1"/>
          <p:nvPr/>
        </p:nvSpPr>
        <p:spPr>
          <a:xfrm>
            <a:off x="4527194" y="3179064"/>
            <a:ext cx="3137306" cy="91440"/>
          </a:xfrm>
          <a:prstGeom prst="rect">
            <a:avLst/>
          </a:prstGeom>
          <a:noFill/>
        </p:spPr>
        <p:txBody>
          <a:bodyPr wrap="square" lIns="0" rIns="0" tIns="0" bIns="0">
            <a:spAutoFit/>
          </a:bodyPr>
          <a:lstStyle/>
          <a:p>
            <a:pPr algn="l">
              <a:lnSpc>
                <a:spcPct val="125000"/>
              </a:lnSpc>
              <a:spcBef>
                <a:spcPts val="0"/>
              </a:spcBef>
              <a:spcAft>
                <a:spcPts val="0"/>
              </a:spcAft>
            </a:pPr>
            <a:r>
              <a:rPr sz="1100" b="0" i="0">
                <a:solidFill>
                  <a:srgbClr val="1B2130"/>
                </a:solidFill>
                <a:latin typeface="Arial"/>
              </a:rPr>
              <a:t>wapsyed.github.io/mousetohuman_multilayer</a:t>
            </a:r>
          </a:p>
        </p:txBody>
      </p:sp>
      <p:sp>
        <p:nvSpPr>
          <p:cNvPr id="21" name="TextBox 20"/>
          <p:cNvSpPr txBox="1"/>
          <p:nvPr/>
        </p:nvSpPr>
        <p:spPr>
          <a:xfrm>
            <a:off x="4527194" y="3961892"/>
            <a:ext cx="3137306" cy="274320"/>
          </a:xfrm>
          <a:prstGeom prst="rect">
            <a:avLst/>
          </a:prstGeom>
          <a:noFill/>
        </p:spPr>
        <p:txBody>
          <a:bodyPr wrap="square" lIns="0" rIns="0" tIns="0" bIns="0">
            <a:spAutoFit/>
          </a:bodyPr>
          <a:lstStyle/>
          <a:p>
            <a:pPr algn="l">
              <a:lnSpc>
                <a:spcPct val="115000"/>
              </a:lnSpc>
              <a:spcBef>
                <a:spcPts val="0"/>
              </a:spcBef>
              <a:spcAft>
                <a:spcPts val="0"/>
              </a:spcAft>
            </a:pPr>
            <a:r>
              <a:rPr sz="900" b="0" i="0">
                <a:solidFill>
                  <a:srgbClr val="4361EE"/>
                </a:solidFill>
                <a:latin typeface="Arial"/>
              </a:rPr>
              <a:t>wapsyed.github.io/mousetohuman_multilayer</a:t>
            </a:r>
          </a:p>
        </p:txBody>
      </p:sp>
      <p:sp>
        <p:nvSpPr>
          <p:cNvPr id="22" name="Rectangle 21"/>
          <p:cNvSpPr/>
          <p:nvPr/>
        </p:nvSpPr>
        <p:spPr>
          <a:xfrm>
            <a:off x="8121700" y="1511300"/>
            <a:ext cx="3503066" cy="2834640"/>
          </a:xfrm>
          <a:prstGeom prst="rect">
            <a:avLst/>
          </a:prstGeom>
          <a:solidFill>
            <a:srgbClr val="FFFFFF"/>
          </a:solidFill>
          <a:ln w="9525">
            <a:solidFill>
              <a:srgbClr val="D9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04580" y="1712468"/>
            <a:ext cx="3137306" cy="91440"/>
          </a:xfrm>
          <a:prstGeom prst="rect">
            <a:avLst/>
          </a:prstGeom>
          <a:noFill/>
        </p:spPr>
        <p:txBody>
          <a:bodyPr wrap="square" lIns="0" rIns="0" tIns="0" bIns="0">
            <a:spAutoFit/>
          </a:bodyPr>
          <a:lstStyle/>
          <a:p>
            <a:pPr algn="l">
              <a:lnSpc>
                <a:spcPct val="100000"/>
              </a:lnSpc>
              <a:spcBef>
                <a:spcPts val="0"/>
              </a:spcBef>
              <a:spcAft>
                <a:spcPts val="0"/>
              </a:spcAft>
            </a:pPr>
            <a:r>
              <a:rPr sz="900" b="0" i="0" spc="150">
                <a:solidFill>
                  <a:srgbClr val="4DBBD5"/>
                </a:solidFill>
                <a:latin typeface="Arial"/>
              </a:rPr>
              <a:t>APPLY IT</a:t>
            </a:r>
          </a:p>
        </p:txBody>
      </p:sp>
      <p:sp>
        <p:nvSpPr>
          <p:cNvPr id="24" name="TextBox 23"/>
          <p:cNvSpPr txBox="1"/>
          <p:nvPr/>
        </p:nvSpPr>
        <p:spPr>
          <a:xfrm>
            <a:off x="8304580" y="1986788"/>
            <a:ext cx="3137306" cy="91440"/>
          </a:xfrm>
          <a:prstGeom prst="rect">
            <a:avLst/>
          </a:prstGeom>
          <a:noFill/>
        </p:spPr>
        <p:txBody>
          <a:bodyPr wrap="square" lIns="0" rIns="0" tIns="0" bIns="0">
            <a:spAutoFit/>
          </a:bodyPr>
          <a:lstStyle/>
          <a:p>
            <a:pPr algn="l">
              <a:lnSpc>
                <a:spcPct val="100000"/>
              </a:lnSpc>
              <a:spcBef>
                <a:spcPts val="0"/>
              </a:spcBef>
              <a:spcAft>
                <a:spcPts val="0"/>
              </a:spcAft>
            </a:pPr>
            <a:r>
              <a:rPr sz="1500" b="0" i="0">
                <a:solidFill>
                  <a:srgbClr val="000000"/>
                </a:solidFill>
                <a:latin typeface="Merriweather"/>
              </a:rPr>
              <a:t>mousetohuman_predict</a:t>
            </a:r>
          </a:p>
        </p:txBody>
      </p:sp>
      <p:sp>
        <p:nvSpPr>
          <p:cNvPr id="25" name="TextBox 24"/>
          <p:cNvSpPr txBox="1"/>
          <p:nvPr/>
        </p:nvSpPr>
        <p:spPr>
          <a:xfrm>
            <a:off x="8304580" y="2297684"/>
            <a:ext cx="3137306" cy="91440"/>
          </a:xfrm>
          <a:prstGeom prst="rect">
            <a:avLst/>
          </a:prstGeom>
          <a:noFill/>
        </p:spPr>
        <p:txBody>
          <a:bodyPr wrap="square" lIns="0" rIns="0" tIns="0" bIns="0">
            <a:spAutoFit/>
          </a:bodyPr>
          <a:lstStyle/>
          <a:p>
            <a:pPr algn="l">
              <a:lnSpc>
                <a:spcPct val="125000"/>
              </a:lnSpc>
              <a:spcBef>
                <a:spcPts val="0"/>
              </a:spcBef>
              <a:spcAft>
                <a:spcPts val="0"/>
              </a:spcAft>
            </a:pPr>
            <a:r>
              <a:rPr sz="1100" b="0" i="0">
                <a:solidFill>
                  <a:srgbClr val="1B2130"/>
                </a:solidFill>
                <a:latin typeface="Arial"/>
              </a:rPr>
              <a:t>Apply it</a:t>
            </a:r>
          </a:p>
        </p:txBody>
      </p:sp>
      <p:sp>
        <p:nvSpPr>
          <p:cNvPr id="26" name="TextBox 25"/>
          <p:cNvSpPr txBox="1"/>
          <p:nvPr/>
        </p:nvSpPr>
        <p:spPr>
          <a:xfrm>
            <a:off x="8304580" y="2563749"/>
            <a:ext cx="3137306" cy="91440"/>
          </a:xfrm>
          <a:prstGeom prst="rect">
            <a:avLst/>
          </a:prstGeom>
          <a:noFill/>
        </p:spPr>
        <p:txBody>
          <a:bodyPr wrap="square" lIns="0" rIns="0" tIns="0" bIns="0">
            <a:spAutoFit/>
          </a:bodyPr>
          <a:lstStyle/>
          <a:p>
            <a:pPr algn="l">
              <a:lnSpc>
                <a:spcPct val="125000"/>
              </a:lnSpc>
              <a:spcBef>
                <a:spcPts val="0"/>
              </a:spcBef>
              <a:spcAft>
                <a:spcPts val="0"/>
              </a:spcAft>
            </a:pPr>
            <a:r>
              <a:rPr sz="1100" b="0" i="0">
                <a:solidFill>
                  <a:srgbClr val="1B2130"/>
                </a:solidFill>
                <a:latin typeface="Arial"/>
              </a:rPr>
              <a:t>Step-by-step notebook: from DGE input to GSEA, model prediction and visualisation of the four translational scores. Runs in RStudio via Binder.</a:t>
            </a:r>
          </a:p>
        </p:txBody>
      </p:sp>
      <p:sp>
        <p:nvSpPr>
          <p:cNvPr id="27" name="TextBox 26"/>
          <p:cNvSpPr txBox="1"/>
          <p:nvPr/>
        </p:nvSpPr>
        <p:spPr>
          <a:xfrm>
            <a:off x="8304580" y="3353689"/>
            <a:ext cx="3137306" cy="91440"/>
          </a:xfrm>
          <a:prstGeom prst="rect">
            <a:avLst/>
          </a:prstGeom>
          <a:noFill/>
        </p:spPr>
        <p:txBody>
          <a:bodyPr wrap="square" lIns="0" rIns="0" tIns="0" bIns="0">
            <a:spAutoFit/>
          </a:bodyPr>
          <a:lstStyle/>
          <a:p>
            <a:pPr algn="l">
              <a:lnSpc>
                <a:spcPct val="125000"/>
              </a:lnSpc>
              <a:spcBef>
                <a:spcPts val="0"/>
              </a:spcBef>
              <a:spcAft>
                <a:spcPts val="0"/>
              </a:spcAft>
            </a:pPr>
            <a:r>
              <a:rPr sz="1100" b="0" i="0">
                <a:solidFill>
                  <a:srgbClr val="1B2130"/>
                </a:solidFill>
                <a:latin typeface="Arial"/>
              </a:rPr>
              <a:t>github.com/wapsyed/mousetohuman_predict</a:t>
            </a:r>
          </a:p>
        </p:txBody>
      </p:sp>
      <p:sp>
        <p:nvSpPr>
          <p:cNvPr id="28" name="TextBox 27"/>
          <p:cNvSpPr txBox="1"/>
          <p:nvPr/>
        </p:nvSpPr>
        <p:spPr>
          <a:xfrm>
            <a:off x="8304580" y="3961892"/>
            <a:ext cx="3137306" cy="274320"/>
          </a:xfrm>
          <a:prstGeom prst="rect">
            <a:avLst/>
          </a:prstGeom>
          <a:noFill/>
        </p:spPr>
        <p:txBody>
          <a:bodyPr wrap="square" lIns="0" rIns="0" tIns="0" bIns="0">
            <a:spAutoFit/>
          </a:bodyPr>
          <a:lstStyle/>
          <a:p>
            <a:pPr algn="l">
              <a:lnSpc>
                <a:spcPct val="115000"/>
              </a:lnSpc>
              <a:spcBef>
                <a:spcPts val="0"/>
              </a:spcBef>
              <a:spcAft>
                <a:spcPts val="0"/>
              </a:spcAft>
            </a:pPr>
            <a:r>
              <a:rPr sz="900" b="0" i="0">
                <a:solidFill>
                  <a:srgbClr val="4361EE"/>
                </a:solidFill>
                <a:latin typeface="Arial"/>
              </a:rPr>
              <a:t>github.com/wapsyed/mousetohuman_predict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38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34 · LIMITATIONS &amp; CAVEATS</a:t>
            </a:r>
          </a:p>
        </p:txBody>
      </p:sp>
      <p:sp>
        <p:nvSpPr>
          <p:cNvPr id="8" name="Rectangle 7"/>
          <p:cNvSpPr/>
          <p:nvPr/>
        </p:nvSpPr>
        <p:spPr>
          <a:xfrm>
            <a:off x="566928" y="1005840"/>
            <a:ext cx="5277459" cy="20116"/>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133856"/>
            <a:ext cx="5277459" cy="91440"/>
          </a:xfrm>
          <a:prstGeom prst="rect">
            <a:avLst/>
          </a:prstGeom>
          <a:noFill/>
        </p:spPr>
        <p:txBody>
          <a:bodyPr wrap="square" lIns="0" rIns="0" tIns="0" bIns="0">
            <a:spAutoFit/>
          </a:bodyPr>
          <a:lstStyle/>
          <a:p>
            <a:pPr algn="l">
              <a:lnSpc>
                <a:spcPct val="100000"/>
              </a:lnSpc>
              <a:spcBef>
                <a:spcPts val="0"/>
              </a:spcBef>
              <a:spcAft>
                <a:spcPts val="0"/>
              </a:spcAft>
            </a:pPr>
            <a:r>
              <a:rPr sz="900" b="0" i="0" spc="140">
                <a:solidFill>
                  <a:srgbClr val="5B6377"/>
                </a:solidFill>
                <a:latin typeface="Arial"/>
              </a:rPr>
              <a:t>COHORT &amp; EXPERIMENTAL LIMITS</a:t>
            </a:r>
          </a:p>
        </p:txBody>
      </p:sp>
      <p:sp>
        <p:nvSpPr>
          <p:cNvPr id="10" name="TextBox 9"/>
          <p:cNvSpPr txBox="1"/>
          <p:nvPr/>
        </p:nvSpPr>
        <p:spPr>
          <a:xfrm>
            <a:off x="566928" y="1353312"/>
            <a:ext cx="5277459" cy="91440"/>
          </a:xfrm>
          <a:prstGeom prst="rect">
            <a:avLst/>
          </a:prstGeom>
          <a:noFill/>
        </p:spPr>
        <p:txBody>
          <a:bodyPr wrap="square" lIns="0" rIns="0" tIns="0" bIns="0">
            <a:spAutoFit/>
          </a:bodyPr>
          <a:lstStyle/>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Small murine cohorts constrained statistical power; scarce harmonised metadata limited generalisability.</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Two inbred strains only — C57BL/6 and CB6F1; because host genetics shapes translatability, low correlation in some modules may reflect strain–hypothesis mismatch (Th1-biased C57BL/6 vs. Th2-biased BALB/c) rather than species-level failure.</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Single-dose mouse vaccination vs. human prime-boost regimens limits comparison of adaptive trajectories.</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Lab mice are immunologically naïve , whereas humans carry complex exposure histories (evident in the Fluad® data).</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Human burn/trauma datasets lacked standardised severity scores .</a:t>
            </a:r>
          </a:p>
        </p:txBody>
      </p:sp>
      <p:sp>
        <p:nvSpPr>
          <p:cNvPr id="11" name="Rectangle 10"/>
          <p:cNvSpPr/>
          <p:nvPr/>
        </p:nvSpPr>
        <p:spPr>
          <a:xfrm>
            <a:off x="6347307" y="1005840"/>
            <a:ext cx="5277459" cy="20116"/>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47307" y="1133856"/>
            <a:ext cx="5277459" cy="91440"/>
          </a:xfrm>
          <a:prstGeom prst="rect">
            <a:avLst/>
          </a:prstGeom>
          <a:noFill/>
        </p:spPr>
        <p:txBody>
          <a:bodyPr wrap="square" lIns="0" rIns="0" tIns="0" bIns="0">
            <a:spAutoFit/>
          </a:bodyPr>
          <a:lstStyle/>
          <a:p>
            <a:pPr algn="l">
              <a:lnSpc>
                <a:spcPct val="100000"/>
              </a:lnSpc>
              <a:spcBef>
                <a:spcPts val="0"/>
              </a:spcBef>
              <a:spcAft>
                <a:spcPts val="0"/>
              </a:spcAft>
            </a:pPr>
            <a:r>
              <a:rPr sz="900" b="0" i="0" spc="140">
                <a:solidFill>
                  <a:srgbClr val="5B6377"/>
                </a:solidFill>
                <a:latin typeface="Arial"/>
              </a:rPr>
              <a:t>SCOPE, RESOLUTION &amp; CAVEATS</a:t>
            </a:r>
          </a:p>
        </p:txBody>
      </p:sp>
      <p:sp>
        <p:nvSpPr>
          <p:cNvPr id="13" name="TextBox 12"/>
          <p:cNvSpPr txBox="1"/>
          <p:nvPr/>
        </p:nvSpPr>
        <p:spPr>
          <a:xfrm>
            <a:off x="6347307" y="1353312"/>
            <a:ext cx="5277459" cy="91440"/>
          </a:xfrm>
          <a:prstGeom prst="rect">
            <a:avLst/>
          </a:prstGeom>
          <a:noFill/>
        </p:spPr>
        <p:txBody>
          <a:bodyPr wrap="square" lIns="0" rIns="0" tIns="0" bIns="0">
            <a:spAutoFit/>
          </a:bodyPr>
          <a:lstStyle/>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Analyses rely on Ensembl-annotated one-to-one orthologs ; the ~50% amino-acid identity baseline does not capture domain topology, PPI rewiring or the functional impact of mutations.</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Scores derive from blood-based BTMs and need testing in other tissues and gene sets (MSigDB, Gene Ontology).</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Not yet included: regional constraint (PhastCons/phyloP), transposable elements, associated TF expression; baseline expression, gene length, GC content, CRE alignment and substitution-rate acceleration were not controlled.</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Accession caveat: the E. coli mouse and human blocks both come from GSE33341 (one series with mouse and human blocks), so it is not an independent cross-species accession — batch was handled explicitly via var.group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BFD"/>
        </a:solidFill>
        <a:effectLst/>
      </p:bgPr>
    </p:bg>
    <p:spTree>
      <p:nvGrpSpPr>
        <p:cNvPr id="1" name=""/>
        <p:cNvGrpSpPr/>
        <p:nvPr/>
      </p:nvGrpSpPr>
      <p:grpSpPr/>
      <p:sp>
        <p:nvSpPr>
          <p:cNvPr id="2" name="Rectangle 1"/>
          <p:cNvSpPr/>
          <p:nvPr/>
        </p:nvSpPr>
        <p:spPr>
          <a:xfrm>
            <a:off x="566928" y="310896"/>
            <a:ext cx="91440" cy="50292"/>
          </a:xfrm>
          <a:prstGeom prst="rect">
            <a:avLst/>
          </a:prstGeom>
          <a:solidFill>
            <a:srgbClr val="4DB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10896"/>
            <a:ext cx="91440" cy="5029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8" y="310896"/>
            <a:ext cx="91440" cy="50292"/>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10234879" cy="274320"/>
          </a:xfrm>
          <a:prstGeom prst="rect">
            <a:avLst/>
          </a:prstGeom>
          <a:noFill/>
        </p:spPr>
        <p:txBody>
          <a:bodyPr wrap="square" lIns="0" rIns="0" tIns="0" bIns="0">
            <a:spAutoFit/>
          </a:bodyPr>
          <a:lstStyle/>
          <a:p>
            <a:pPr algn="l">
              <a:lnSpc>
                <a:spcPct val="100000"/>
              </a:lnSpc>
              <a:spcBef>
                <a:spcPts val="0"/>
              </a:spcBef>
              <a:spcAft>
                <a:spcPts val="0"/>
              </a:spcAft>
            </a:pPr>
            <a:r>
              <a:rPr sz="850" b="0" i="0" spc="140">
                <a:solidFill>
                  <a:srgbClr val="5B6377"/>
                </a:solidFill>
                <a:latin typeface="Arial"/>
              </a:rPr>
              <a:t>Mouse2Human · Report · September 2026 · Genes and Immunity (under review)</a:t>
            </a:r>
          </a:p>
        </p:txBody>
      </p:sp>
      <p:sp>
        <p:nvSpPr>
          <p:cNvPr id="6" name="TextBox 5"/>
          <p:cNvSpPr txBox="1"/>
          <p:nvPr/>
        </p:nvSpPr>
        <p:spPr>
          <a:xfrm>
            <a:off x="10801807" y="6455664"/>
            <a:ext cx="822960" cy="274320"/>
          </a:xfrm>
          <a:prstGeom prst="rect">
            <a:avLst/>
          </a:prstGeom>
          <a:noFill/>
        </p:spPr>
        <p:txBody>
          <a:bodyPr wrap="square" lIns="0" rIns="0" tIns="0" bIns="0">
            <a:spAutoFit/>
          </a:bodyPr>
          <a:lstStyle/>
          <a:p>
            <a:pPr algn="r">
              <a:lnSpc>
                <a:spcPct val="100000"/>
              </a:lnSpc>
              <a:spcBef>
                <a:spcPts val="0"/>
              </a:spcBef>
              <a:spcAft>
                <a:spcPts val="0"/>
              </a:spcAft>
            </a:pPr>
            <a:r>
              <a:rPr sz="850" b="0" i="0" spc="140">
                <a:solidFill>
                  <a:srgbClr val="5B6377"/>
                </a:solidFill>
                <a:latin typeface="Arial"/>
              </a:rPr>
              <a:t>39 / 39</a:t>
            </a:r>
          </a:p>
        </p:txBody>
      </p:sp>
      <p:sp>
        <p:nvSpPr>
          <p:cNvPr id="7" name="TextBox 6"/>
          <p:cNvSpPr txBox="1"/>
          <p:nvPr/>
        </p:nvSpPr>
        <p:spPr>
          <a:xfrm>
            <a:off x="566928" y="475488"/>
            <a:ext cx="11057839" cy="274320"/>
          </a:xfrm>
          <a:prstGeom prst="rect">
            <a:avLst/>
          </a:prstGeom>
          <a:noFill/>
        </p:spPr>
        <p:txBody>
          <a:bodyPr wrap="square" lIns="0" rIns="0" tIns="0" bIns="0">
            <a:spAutoFit/>
          </a:bodyPr>
          <a:lstStyle/>
          <a:p>
            <a:pPr algn="l">
              <a:lnSpc>
                <a:spcPct val="100000"/>
              </a:lnSpc>
              <a:spcBef>
                <a:spcPts val="0"/>
              </a:spcBef>
              <a:spcAft>
                <a:spcPts val="0"/>
              </a:spcAft>
            </a:pPr>
            <a:r>
              <a:rPr sz="1000" b="0" i="0" spc="160">
                <a:solidFill>
                  <a:srgbClr val="5B6377"/>
                </a:solidFill>
                <a:latin typeface="Arial"/>
              </a:rPr>
              <a:t>35 · CONCLUSIONS</a:t>
            </a:r>
          </a:p>
        </p:txBody>
      </p:sp>
      <p:sp>
        <p:nvSpPr>
          <p:cNvPr id="8" name="TextBox 7"/>
          <p:cNvSpPr txBox="1"/>
          <p:nvPr/>
        </p:nvSpPr>
        <p:spPr>
          <a:xfrm>
            <a:off x="566928" y="841248"/>
            <a:ext cx="11057839" cy="91440"/>
          </a:xfrm>
          <a:prstGeom prst="rect">
            <a:avLst/>
          </a:prstGeom>
          <a:noFill/>
        </p:spPr>
        <p:txBody>
          <a:bodyPr wrap="square" lIns="0" rIns="0" tIns="0" bIns="0">
            <a:spAutoFit/>
          </a:bodyPr>
          <a:lstStyle/>
          <a:p>
            <a:pPr algn="l">
              <a:lnSpc>
                <a:spcPct val="106000"/>
              </a:lnSpc>
              <a:spcBef>
                <a:spcPts val="0"/>
              </a:spcBef>
              <a:spcAft>
                <a:spcPts val="0"/>
              </a:spcAft>
            </a:pPr>
            <a:r>
              <a:rPr sz="2600" b="0" i="0">
                <a:solidFill>
                  <a:srgbClr val="000000"/>
                </a:solidFill>
                <a:latin typeface="Merriweather"/>
              </a:rPr>
              <a:t>Translatability is a function of </a:t>
            </a:r>
            <a:r>
              <a:rPr sz="2600" b="0" i="1">
                <a:solidFill>
                  <a:srgbClr val="000000"/>
                </a:solidFill>
                <a:latin typeface="Merriweather"/>
              </a:rPr>
              <a:t>granularity</a:t>
            </a:r>
            <a:r>
              <a:rPr sz="2600" b="0" i="0">
                <a:solidFill>
                  <a:srgbClr val="000000"/>
                </a:solidFill>
                <a:latin typeface="Merriweather"/>
              </a:rPr>
              <a:t>, </a:t>
            </a:r>
            <a:r>
              <a:rPr sz="2600" b="0" i="1">
                <a:solidFill>
                  <a:srgbClr val="000000"/>
                </a:solidFill>
                <a:latin typeface="Merriweather"/>
              </a:rPr>
              <a:t>intensity</a:t>
            </a:r>
            <a:r>
              <a:rPr sz="2600" b="0" i="0">
                <a:solidFill>
                  <a:srgbClr val="000000"/>
                </a:solidFill>
                <a:latin typeface="Merriweather"/>
              </a:rPr>
              <a:t> and </a:t>
            </a:r>
            <a:r>
              <a:rPr sz="2600" b="0" i="1">
                <a:solidFill>
                  <a:srgbClr val="000000"/>
                </a:solidFill>
                <a:latin typeface="Merriweather"/>
              </a:rPr>
              <a:t>timing</a:t>
            </a:r>
          </a:p>
        </p:txBody>
      </p:sp>
      <p:sp>
        <p:nvSpPr>
          <p:cNvPr id="9" name="Rectangle 8"/>
          <p:cNvSpPr/>
          <p:nvPr/>
        </p:nvSpPr>
        <p:spPr>
          <a:xfrm>
            <a:off x="566928" y="1769872"/>
            <a:ext cx="5277459" cy="20116"/>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897888"/>
            <a:ext cx="5277459" cy="91440"/>
          </a:xfrm>
          <a:prstGeom prst="rect">
            <a:avLst/>
          </a:prstGeom>
          <a:noFill/>
        </p:spPr>
        <p:txBody>
          <a:bodyPr wrap="square" lIns="0" rIns="0" tIns="0" bIns="0">
            <a:spAutoFit/>
          </a:bodyPr>
          <a:lstStyle/>
          <a:p>
            <a:pPr algn="l">
              <a:lnSpc>
                <a:spcPct val="100000"/>
              </a:lnSpc>
              <a:spcBef>
                <a:spcPts val="0"/>
              </a:spcBef>
              <a:spcAft>
                <a:spcPts val="0"/>
              </a:spcAft>
            </a:pPr>
            <a:r>
              <a:rPr sz="900" b="0" i="0" spc="140">
                <a:solidFill>
                  <a:srgbClr val="5B6377"/>
                </a:solidFill>
                <a:latin typeface="Arial"/>
              </a:rPr>
              <a:t>WHAT THE STUDY ESTABLISHES</a:t>
            </a:r>
          </a:p>
        </p:txBody>
      </p:sp>
      <p:sp>
        <p:nvSpPr>
          <p:cNvPr id="11" name="TextBox 10"/>
          <p:cNvSpPr txBox="1"/>
          <p:nvPr/>
        </p:nvSpPr>
        <p:spPr>
          <a:xfrm>
            <a:off x="566928" y="2117344"/>
            <a:ext cx="5277459" cy="91440"/>
          </a:xfrm>
          <a:prstGeom prst="rect">
            <a:avLst/>
          </a:prstGeom>
          <a:noFill/>
        </p:spPr>
        <p:txBody>
          <a:bodyPr wrap="square" lIns="0" rIns="0" tIns="0" bIns="0">
            <a:spAutoFit/>
          </a:bodyPr>
          <a:lstStyle/>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Module-level analysis beats gene-level analysis for cross-species concordance (BTM NES ρ = 0.89–0.97).</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Acute infection and injury translate; single-dose vaccination does not (ρ = 0.41–0.59 vs. −0.32–0.27).</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Evolutionary and regulatory layers carry a conserved signal beyond mouse DGE — lifting the random forest to R² = 0.2345 and ROC-AUC = 0.8488.</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Divergence is governed by cis-regulatory architecture , not coding identity.</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Four out-of-fold scores — score_shared , score_rank , score_direction , score_translational — prioritise candidate genes.</a:t>
            </a:r>
          </a:p>
        </p:txBody>
      </p:sp>
      <p:sp>
        <p:nvSpPr>
          <p:cNvPr id="12" name="Rectangle 11"/>
          <p:cNvSpPr/>
          <p:nvPr/>
        </p:nvSpPr>
        <p:spPr>
          <a:xfrm>
            <a:off x="6347307" y="1769872"/>
            <a:ext cx="5277459" cy="20116"/>
          </a:xfrm>
          <a:prstGeom prst="rect">
            <a:avLst/>
          </a:prstGeom>
          <a:solidFill>
            <a:srgbClr val="A1B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7307" y="1897888"/>
            <a:ext cx="5277459" cy="91440"/>
          </a:xfrm>
          <a:prstGeom prst="rect">
            <a:avLst/>
          </a:prstGeom>
          <a:noFill/>
        </p:spPr>
        <p:txBody>
          <a:bodyPr wrap="square" lIns="0" rIns="0" tIns="0" bIns="0">
            <a:spAutoFit/>
          </a:bodyPr>
          <a:lstStyle/>
          <a:p>
            <a:pPr algn="l">
              <a:lnSpc>
                <a:spcPct val="100000"/>
              </a:lnSpc>
              <a:spcBef>
                <a:spcPts val="0"/>
              </a:spcBef>
              <a:spcAft>
                <a:spcPts val="0"/>
              </a:spcAft>
            </a:pPr>
            <a:r>
              <a:rPr sz="900" b="0" i="0" spc="140">
                <a:solidFill>
                  <a:srgbClr val="5B6377"/>
                </a:solidFill>
                <a:latin typeface="Arial"/>
              </a:rPr>
              <a:t>WHAT TO DO NEXT</a:t>
            </a:r>
          </a:p>
        </p:txBody>
      </p:sp>
      <p:sp>
        <p:nvSpPr>
          <p:cNvPr id="14" name="TextBox 13"/>
          <p:cNvSpPr txBox="1"/>
          <p:nvPr/>
        </p:nvSpPr>
        <p:spPr>
          <a:xfrm>
            <a:off x="6347307" y="2117344"/>
            <a:ext cx="5277459" cy="91440"/>
          </a:xfrm>
          <a:prstGeom prst="rect">
            <a:avLst/>
          </a:prstGeom>
          <a:noFill/>
        </p:spPr>
        <p:txBody>
          <a:bodyPr wrap="square" lIns="0" rIns="0" tIns="0" bIns="0">
            <a:spAutoFit/>
          </a:bodyPr>
          <a:lstStyle/>
          <a:p>
            <a:pPr algn="l">
              <a:lnSpc>
                <a:spcPct val="122000"/>
              </a:lnSpc>
              <a:spcBef>
                <a:spcPts val="0"/>
              </a:spcBef>
              <a:spcAft>
                <a:spcPts val="0"/>
              </a:spcAft>
            </a:pPr>
            <a:r>
              <a:rPr sz="1150" b="0" i="0">
                <a:solidFill>
                  <a:srgbClr val="1B2130"/>
                </a:solidFill>
                <a:latin typeface="Arial"/>
              </a:rPr>
              <a:t>Thank you — questions welcome.</a:t>
            </a:r>
          </a:p>
        </p:txBody>
      </p:sp>
      <p:sp>
        <p:nvSpPr>
          <p:cNvPr id="15" name="TextBox 14"/>
          <p:cNvSpPr txBox="1"/>
          <p:nvPr/>
        </p:nvSpPr>
        <p:spPr>
          <a:xfrm>
            <a:off x="6347307" y="2386965"/>
            <a:ext cx="5277459" cy="91440"/>
          </a:xfrm>
          <a:prstGeom prst="rect">
            <a:avLst/>
          </a:prstGeom>
          <a:noFill/>
        </p:spPr>
        <p:txBody>
          <a:bodyPr wrap="square" lIns="0" rIns="0" tIns="0" bIns="0">
            <a:spAutoFit/>
          </a:bodyPr>
          <a:lstStyle/>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Match timepoints by biological equivalence , not chronology.</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Test prime-boost and adjuvanted regimens for low-immunogenicity platforms.</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Align strain with the hypothesis and standardise clinical metadata.</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Extend the scores beyond blood-based BTMs to other tissues and gene sets.</a:t>
            </a:r>
          </a:p>
          <a:p>
            <a:pPr algn="l">
              <a:lnSpc>
                <a:spcPct val="120000"/>
              </a:lnSpc>
              <a:spcBef>
                <a:spcPts val="0"/>
              </a:spcBef>
              <a:spcAft>
                <a:spcPts val="500"/>
              </a:spcAft>
            </a:pPr>
            <a:r>
              <a:rPr sz="1150" b="1" i="0">
                <a:solidFill>
                  <a:srgbClr val="A1B0F7"/>
                </a:solidFill>
                <a:latin typeface="Arial"/>
              </a:rPr>
              <a:t>•  </a:t>
            </a:r>
            <a:r>
              <a:rPr sz="1150" b="0" i="0">
                <a:solidFill>
                  <a:srgbClr val="1B2130"/>
                </a:solidFill>
                <a:latin typeface="Arial"/>
              </a:rPr>
              <a:t>Keep the whole framework open and retrainable with new multi-omic layers.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mice to humans — report</dc:title>
  <dc:subject>Multi-omic predictive framework for translational immunology — report deck</dc:subject>
  <dc:creator>Wasim Aluísio Prates-Syed · Cabral-Miranda Lab</dc:creator>
  <cp:keywords/>
  <dc:description>Editable PowerPoint built from the report deck (build_pptx.py).</dc:description>
  <cp:lastModifiedBy>Steve Canny</cp:lastModifiedBy>
  <cp:revision>1</cp:revision>
  <dcterms:created xsi:type="dcterms:W3CDTF">2013-01-27T09:14:16Z</dcterms:created>
  <dcterms:modified xsi:type="dcterms:W3CDTF">2013-01-27T09:15:58Z</dcterms:modified>
  <cp:category/>
</cp:coreProperties>
</file>