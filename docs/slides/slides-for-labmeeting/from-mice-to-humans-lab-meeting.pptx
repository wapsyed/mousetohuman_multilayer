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the problem: mice are the dominant preclinical model, but their predictive value is contested and the literature is contradictory. Crucially, previous comparisons were descriptive and disconnected from genomic architecture — nobody linked conservation to sequence evolution or cis-regulation.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Design: three stimulus categories — vaccination, acute infection and injury — each with matched mouse and human blood transcriptomes. DMD (mdx) is our biological negative control. Everything is harmonised: limma with empirical Bayes, covariate adjustment, and iterative downsampling of human subjects to n = 5 over 200 iterations to remove pseudo-significance.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First result: granularity matters. Individual orthologous genes correlate only moderately, but when we collapse the transcriptome into Blood Transcription Modules the correlation jumps to 0.89–0.97 (trauma being the exception). Shared leading-edge genes account for 67.5–79% of mouse LEGs — the translational signal lives in the leading edge, not in all genes.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Second result: translatability scales with the strength of the perturbation. Acute bacterial infection and severe injury engage conserved core mammalian programs (rho 0.41–0.59), whereas single-dose subunit/inactivated vaccines stay near baseline (rho −0.32 to 0.27). And timing rarely matches chronologically: mouse 2–6 h aligns with the human days 1–3 window.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Third result: prediction. Mouse signatures classify the direction of human gene regulation, but module-level models clearly beat gene-level ones — 0.84–0.98 ROC-AUC versus 0.64–0.74 — and both beat the DMD negative control (0.48–0.61). Downregulation is easier to predict than upregulation at early time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Fourth result: why individual genes diverge. Coding-sequence constraint and trans-regulatory availability reduce expression divergence, while enhancer multiplicity and CRE turnover increase it. The association is small in magnitude but highly significant, and it is directional: sequence constraint ↔︎ stability; regulatory plasticity ↔︎ divergence.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Fifth result: the multilayer model. Mouse rank and direction alone do not transfer at all — R² = 0.001 and ROC-AUC 0.511. Adding the biological layers raises the random forest to R² = 0.234 for human rank and 0.849 for directional concordance. Shared-LEG classification stays hard; the lasso is only marginally best there (0.617/0.627). Everything is evaluated by leave-one-condition-out cross-validation, so every gene is scored by a model that never saw its pathogen.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Take-aways: translatability is not a fixed property of the mouse; it is a function of granularity, stimulus intensity and temporal alignment. The model outputs four complementary scores that can be used to prioritise genes. Be honest about the limitations: small murine cohorts, two inbred strains, single-dose vaccines, blood only, and one-to-one orthologs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by pointing to the deliverables: the full open-source pipeline, the project site that documents the methodology and the notebook map, and the step-by-step notebook that applies the trained models to a new mouse dataset — runnable in the browser via Binder. Everything is open so the community can audit and retrain.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10896"/>
            <a:ext cx="91440" cy="50292"/>
          </a:xfrm>
          <a:prstGeom prst="rect">
            <a:avLst/>
          </a:prstGeom>
          <a:solidFill>
            <a:srgbClr val="4DB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310896"/>
            <a:ext cx="91440" cy="50292"/>
          </a:xfrm>
          <a:prstGeom prst="rect">
            <a:avLst/>
          </a:prstGeom>
          <a:solidFill>
            <a:srgbClr val="436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8" y="310896"/>
            <a:ext cx="91440" cy="50292"/>
          </a:xfrm>
          <a:prstGeom prst="rect">
            <a:avLst/>
          </a:prstGeom>
          <a:solidFill>
            <a:srgbClr val="A1B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55664"/>
            <a:ext cx="102348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40">
                <a:solidFill>
                  <a:srgbClr val="5B6377"/>
                </a:solidFill>
                <a:latin typeface="Arial"/>
              </a:rPr>
              <a:t>Mouse2Human · Lab meeting · September 2026 · Genes and Immunity (under review)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1807" y="6455664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40">
                <a:solidFill>
                  <a:srgbClr val="5B6377"/>
                </a:solidFill>
                <a:latin typeface="Arial"/>
              </a:rPr>
              <a:t>1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34440"/>
            <a:ext cx="5277459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 i="0">
                <a:solidFill>
                  <a:srgbClr val="000000"/>
                </a:solidFill>
                <a:latin typeface="Merriweather"/>
              </a:rPr>
              <a:t>From mice to humans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148840"/>
            <a:ext cx="5277459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B6377"/>
                </a:solidFill>
                <a:latin typeface="Arial"/>
              </a:rPr>
              <a:t>A multi-omic predictive framework for translational immunology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931160"/>
            <a:ext cx="5277459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Wasim Aluísio Prates-Syed · Lira AA · Cortes N · Silva JDQ · Hamaguchi B · Carvalho E · Castillo-Chávez A · Durães-Carvalho R · Cabral-Marques O · Sabino EC · Krieger JE · Hagan T · Cabral-Miranda 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595243"/>
            <a:ext cx="5277459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377"/>
                </a:solidFill>
                <a:latin typeface="Arial"/>
              </a:rPr>
              <a:t>Laboratory of Genetics and Molecular Cardiology, InCor — FMUSP</a:t>
            </a:r>
            <a:r>
              <a:rPr sz="900" b="0" i="0">
                <a:solidFill>
                  <a:srgbClr val="5B6377"/>
                </a:solidFill>
                <a:latin typeface="Arial"/>
              </a:rPr>
              <a:t>
</a:t>
            </a:r>
            <a:r>
              <a:rPr sz="900" b="0" i="0">
                <a:solidFill>
                  <a:srgbClr val="5B6377"/>
                </a:solidFill>
                <a:latin typeface="Arial"/>
              </a:rPr>
              <a:t>September 2026</a:t>
            </a:r>
          </a:p>
        </p:txBody>
      </p:sp>
      <p:pic>
        <p:nvPicPr>
          <p:cNvPr id="11" name="Picture 10" descr="01-graphical-abstr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7307" y="1234440"/>
            <a:ext cx="5277459" cy="32436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10896"/>
            <a:ext cx="91440" cy="50292"/>
          </a:xfrm>
          <a:prstGeom prst="rect">
            <a:avLst/>
          </a:prstGeom>
          <a:solidFill>
            <a:srgbClr val="4DB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310896"/>
            <a:ext cx="91440" cy="50292"/>
          </a:xfrm>
          <a:prstGeom prst="rect">
            <a:avLst/>
          </a:prstGeom>
          <a:solidFill>
            <a:srgbClr val="436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8" y="310896"/>
            <a:ext cx="91440" cy="50292"/>
          </a:xfrm>
          <a:prstGeom prst="rect">
            <a:avLst/>
          </a:prstGeom>
          <a:solidFill>
            <a:srgbClr val="A1B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55664"/>
            <a:ext cx="102348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40">
                <a:solidFill>
                  <a:srgbClr val="5B6377"/>
                </a:solidFill>
                <a:latin typeface="Arial"/>
              </a:rPr>
              <a:t>Mouse2Human · Lab meeting · September 2026 · Genes and Immunity (under review)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1807" y="6455664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40">
                <a:solidFill>
                  <a:srgbClr val="5B6377"/>
                </a:solidFill>
                <a:latin typeface="Arial"/>
              </a:rPr>
              <a:t>2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spc="160">
                <a:solidFill>
                  <a:srgbClr val="5B6377"/>
                </a:solidFill>
                <a:latin typeface="Arial"/>
              </a:rPr>
              <a:t>01 · 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841248"/>
            <a:ext cx="11057839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000000"/>
                </a:solidFill>
                <a:latin typeface="Merriweather"/>
              </a:rPr>
              <a:t>Mice are the workhorse — but how well do they </a:t>
            </a:r>
            <a:r>
              <a:rPr sz="2600" b="0" i="1">
                <a:solidFill>
                  <a:srgbClr val="000000"/>
                </a:solidFill>
                <a:latin typeface="Merriweather"/>
              </a:rPr>
              <a:t>actually</a:t>
            </a:r>
            <a:r>
              <a:rPr sz="2600" b="0" i="0">
                <a:solidFill>
                  <a:srgbClr val="000000"/>
                </a:solidFill>
                <a:latin typeface="Merriweather"/>
              </a:rPr>
              <a:t> predict human immunity?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724152"/>
            <a:ext cx="11057839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A1B0F7"/>
                </a:solidFill>
                <a:latin typeface="Arial"/>
              </a:rPr>
              <a:t>•  </a:t>
            </a:r>
            <a:r>
              <a:rPr sz="1200" b="0" i="0">
                <a:solidFill>
                  <a:srgbClr val="1B2130"/>
                </a:solidFill>
                <a:latin typeface="Arial"/>
              </a:rPr>
              <a:t>Murine models underpin preclinical vaccine research, yet their translational value remains </a:t>
            </a:r>
            <a:r>
              <a:rPr sz="1200" b="0" i="0">
                <a:solidFill>
                  <a:srgbClr val="1B2130"/>
                </a:solidFill>
                <a:latin typeface="Arial"/>
              </a:rPr>
              <a:t>contested</a:t>
            </a:r>
            <a:r>
              <a:rPr sz="1200" b="0" i="0">
                <a:solidFill>
                  <a:srgbClr val="1B2130"/>
                </a:solidFill>
                <a:latin typeface="Arial"/>
              </a:rPr>
              <a:t>, contributing to clinical trial failures.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A1B0F7"/>
                </a:solidFill>
                <a:latin typeface="Arial"/>
              </a:rPr>
              <a:t>•  </a:t>
            </a:r>
            <a:r>
              <a:rPr sz="1200" b="0" i="0">
                <a:solidFill>
                  <a:srgbClr val="1B2130"/>
                </a:solidFill>
                <a:latin typeface="Arial"/>
              </a:rPr>
              <a:t>Prior cross-species comparisons were largely </a:t>
            </a:r>
            <a:r>
              <a:rPr sz="1200" b="0" i="0">
                <a:solidFill>
                  <a:srgbClr val="1B2130"/>
                </a:solidFill>
                <a:latin typeface="Arial"/>
              </a:rPr>
              <a:t>descriptive</a:t>
            </a:r>
            <a:r>
              <a:rPr sz="1200" b="0" i="0">
                <a:solidFill>
                  <a:srgbClr val="1B2130"/>
                </a:solidFill>
                <a:latin typeface="Arial"/>
              </a:rPr>
              <a:t>: gene-centric, linear, and disconnected from sequence evolution and cis-regulatory architecture.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A1B0F7"/>
                </a:solidFill>
                <a:latin typeface="Arial"/>
              </a:rPr>
              <a:t>•  </a:t>
            </a:r>
            <a:r>
              <a:rPr sz="1200" b="0" i="0">
                <a:solidFill>
                  <a:srgbClr val="1B2130"/>
                </a:solidFill>
                <a:latin typeface="Arial"/>
              </a:rPr>
              <a:t>The consequence: </a:t>
            </a:r>
            <a:r>
              <a:rPr sz="1200" b="0" i="0">
                <a:solidFill>
                  <a:srgbClr val="1B2130"/>
                </a:solidFill>
                <a:latin typeface="Arial"/>
              </a:rPr>
              <a:t>contradictory reports</a:t>
            </a:r>
            <a:r>
              <a:rPr sz="1200" b="0" i="0">
                <a:solidFill>
                  <a:srgbClr val="1B2130"/>
                </a:solidFill>
                <a:latin typeface="Arial"/>
              </a:rPr>
              <a:t> and no practical framework to prioritise targets for human translation.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971292"/>
            <a:ext cx="5254599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800" b="0" i="0">
                <a:solidFill>
                  <a:srgbClr val="4361EE"/>
                </a:solidFill>
                <a:latin typeface="Merriweather"/>
              </a:rPr>
              <a:t>201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660139"/>
            <a:ext cx="5254599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spc="120">
                <a:solidFill>
                  <a:srgbClr val="5B6377"/>
                </a:solidFill>
                <a:latin typeface="Arial"/>
              </a:rPr>
              <a:t>MOUSE IMMUNIZATION DATASETS SCREENED FROM GEO (FIG. 1A)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5847" y="2971292"/>
            <a:ext cx="5254599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800" b="0" i="0">
                <a:solidFill>
                  <a:srgbClr val="000000"/>
                </a:solidFill>
                <a:latin typeface="Merriweather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5847" y="3660139"/>
            <a:ext cx="5254599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spc="120">
                <a:solidFill>
                  <a:srgbClr val="5B6377"/>
                </a:solidFill>
                <a:latin typeface="Arial"/>
              </a:rPr>
              <a:t>MATCHED MOUSE–HUMAN CONDITIONS CARRIED FORWARD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10896"/>
            <a:ext cx="91440" cy="50292"/>
          </a:xfrm>
          <a:prstGeom prst="rect">
            <a:avLst/>
          </a:prstGeom>
          <a:solidFill>
            <a:srgbClr val="4DB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310896"/>
            <a:ext cx="91440" cy="50292"/>
          </a:xfrm>
          <a:prstGeom prst="rect">
            <a:avLst/>
          </a:prstGeom>
          <a:solidFill>
            <a:srgbClr val="436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8" y="310896"/>
            <a:ext cx="91440" cy="50292"/>
          </a:xfrm>
          <a:prstGeom prst="rect">
            <a:avLst/>
          </a:prstGeom>
          <a:solidFill>
            <a:srgbClr val="A1B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55664"/>
            <a:ext cx="102348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40">
                <a:solidFill>
                  <a:srgbClr val="5B6377"/>
                </a:solidFill>
                <a:latin typeface="Arial"/>
              </a:rPr>
              <a:t>Mouse2Human · Lab meeting · September 2026 · Genes and Immunity (under review)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1807" y="6455664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40">
                <a:solidFill>
                  <a:srgbClr val="5B6377"/>
                </a:solidFill>
                <a:latin typeface="Arial"/>
              </a:rPr>
              <a:t>3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spc="160">
                <a:solidFill>
                  <a:srgbClr val="5B6377"/>
                </a:solidFill>
                <a:latin typeface="Arial"/>
              </a:rPr>
              <a:t>02 · STUDY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960120"/>
            <a:ext cx="5277459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000000"/>
                </a:solidFill>
                <a:latin typeface="Merriweather"/>
              </a:rPr>
              <a:t>One framework, three stimulus categories, matched across species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762252"/>
            <a:ext cx="5277459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A1B0F7"/>
                </a:solidFill>
                <a:latin typeface="Arial"/>
              </a:rPr>
              <a:t>•  </a:t>
            </a:r>
            <a:r>
              <a:rPr sz="1200" b="0" i="0">
                <a:solidFill>
                  <a:srgbClr val="1B2130"/>
                </a:solidFill>
                <a:latin typeface="Arial"/>
              </a:rPr>
              <a:t>Vaccination</a:t>
            </a:r>
            <a:r>
              <a:rPr sz="1200" b="0" i="0">
                <a:solidFill>
                  <a:srgbClr val="1B2130"/>
                </a:solidFill>
                <a:latin typeface="Arial"/>
              </a:rPr>
              <a:t> — Fluad® (influenza), Engerix B® (hepatitis B)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A1B0F7"/>
                </a:solidFill>
                <a:latin typeface="Arial"/>
              </a:rPr>
              <a:t>•  </a:t>
            </a:r>
            <a:r>
              <a:rPr sz="1200" b="0" i="0">
                <a:solidFill>
                  <a:srgbClr val="1B2130"/>
                </a:solidFill>
                <a:latin typeface="Arial"/>
              </a:rPr>
              <a:t>Infection</a:t>
            </a:r>
            <a:r>
              <a:rPr sz="1200" b="0" i="0">
                <a:solidFill>
                  <a:srgbClr val="1B2130"/>
                </a:solidFill>
                <a:latin typeface="Arial"/>
              </a:rPr>
              <a:t> — </a:t>
            </a:r>
            <a:r>
              <a:rPr sz="1200" b="0" i="0">
                <a:solidFill>
                  <a:srgbClr val="1B2130"/>
                </a:solidFill>
                <a:latin typeface="Arial"/>
              </a:rPr>
              <a:t>S. aureus</a:t>
            </a:r>
            <a:r>
              <a:rPr sz="1200" b="0" i="0">
                <a:solidFill>
                  <a:srgbClr val="1B2130"/>
                </a:solidFill>
                <a:latin typeface="Arial"/>
              </a:rPr>
              <a:t>, </a:t>
            </a:r>
            <a:r>
              <a:rPr sz="1200" b="0" i="0">
                <a:solidFill>
                  <a:srgbClr val="1B2130"/>
                </a:solidFill>
                <a:latin typeface="Arial"/>
              </a:rPr>
              <a:t>E. coli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A1B0F7"/>
                </a:solidFill>
                <a:latin typeface="Arial"/>
              </a:rPr>
              <a:t>•  </a:t>
            </a:r>
            <a:r>
              <a:rPr sz="1200" b="0" i="0">
                <a:solidFill>
                  <a:srgbClr val="1B2130"/>
                </a:solidFill>
                <a:latin typeface="Arial"/>
              </a:rPr>
              <a:t>Injury</a:t>
            </a:r>
            <a:r>
              <a:rPr sz="1200" b="0" i="0">
                <a:solidFill>
                  <a:srgbClr val="1B2130"/>
                </a:solidFill>
                <a:latin typeface="Arial"/>
              </a:rPr>
              <a:t> — burn, trauma-haemorrhage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A1B0F7"/>
                </a:solidFill>
                <a:latin typeface="Arial"/>
              </a:rPr>
              <a:t>•  </a:t>
            </a:r>
            <a:r>
              <a:rPr sz="1200" b="0" i="0">
                <a:solidFill>
                  <a:srgbClr val="1B2130"/>
                </a:solidFill>
                <a:latin typeface="Arial"/>
              </a:rPr>
              <a:t>+ DMD</a:t>
            </a:r>
            <a:r>
              <a:rPr sz="1200" b="0" i="0">
                <a:solidFill>
                  <a:srgbClr val="1B2130"/>
                </a:solidFill>
                <a:latin typeface="Arial"/>
              </a:rPr>
              <a:t> (mdx mouse) as a biological negative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890012"/>
            <a:ext cx="5277459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B2130"/>
                </a:solidFill>
                <a:latin typeface="Arial"/>
              </a:rPr>
              <a:t>Blood transcriptomes · GEO / BioProject</a:t>
            </a:r>
            <a:r>
              <a:rPr sz="1200" b="0" i="0">
                <a:solidFill>
                  <a:srgbClr val="1B2130"/>
                </a:solidFill>
                <a:latin typeface="Arial"/>
              </a:rPr>
              <a:t>
</a:t>
            </a:r>
            <a:r>
              <a:rPr sz="1200" b="0" i="0">
                <a:solidFill>
                  <a:srgbClr val="1B2130"/>
                </a:solidFill>
                <a:latin typeface="Arial"/>
              </a:rPr>
              <a:t> limma + empirical Bayes · covariates (age, sex, ethnicity)</a:t>
            </a:r>
            <a:r>
              <a:rPr sz="1200" b="0" i="0">
                <a:solidFill>
                  <a:srgbClr val="1B2130"/>
                </a:solidFill>
                <a:latin typeface="Arial"/>
              </a:rPr>
              <a:t>
</a:t>
            </a:r>
            <a:r>
              <a:rPr sz="1200" b="0" i="0">
                <a:solidFill>
                  <a:srgbClr val="1B2130"/>
                </a:solidFill>
                <a:latin typeface="Arial"/>
              </a:rPr>
              <a:t> human downsampled to n = 5, 200 iterations, median statistics</a:t>
            </a:r>
          </a:p>
        </p:txBody>
      </p:sp>
      <p:pic>
        <p:nvPicPr>
          <p:cNvPr id="11" name="Picture 10" descr="fig1b-timeli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1521" y="960120"/>
            <a:ext cx="5249031" cy="45262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347307" y="5596128"/>
            <a:ext cx="5277459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7"/>
                </a:solidFill>
                <a:latin typeface="Arial"/>
              </a:rPr>
              <a:t>Fig. 1b — experimental timelines for matched mouse and human datasets across vaccination, infection and injury (GSE120661 · GSE124689 · GSE19668 · GSE33341 · GSE7404 · GSE37069 · GSE36809).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10896"/>
            <a:ext cx="91440" cy="50292"/>
          </a:xfrm>
          <a:prstGeom prst="rect">
            <a:avLst/>
          </a:prstGeom>
          <a:solidFill>
            <a:srgbClr val="4DB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310896"/>
            <a:ext cx="91440" cy="50292"/>
          </a:xfrm>
          <a:prstGeom prst="rect">
            <a:avLst/>
          </a:prstGeom>
          <a:solidFill>
            <a:srgbClr val="436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8" y="310896"/>
            <a:ext cx="91440" cy="50292"/>
          </a:xfrm>
          <a:prstGeom prst="rect">
            <a:avLst/>
          </a:prstGeom>
          <a:solidFill>
            <a:srgbClr val="A1B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55664"/>
            <a:ext cx="102348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40">
                <a:solidFill>
                  <a:srgbClr val="5B6377"/>
                </a:solidFill>
                <a:latin typeface="Arial"/>
              </a:rPr>
              <a:t>Mouse2Human · Lab meeting · September 2026 · Genes and Immunity (under review)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1807" y="6455664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40">
                <a:solidFill>
                  <a:srgbClr val="5B6377"/>
                </a:solidFill>
                <a:latin typeface="Arial"/>
              </a:rPr>
              <a:t>4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spc="160">
                <a:solidFill>
                  <a:srgbClr val="5B6377"/>
                </a:solidFill>
                <a:latin typeface="Arial"/>
              </a:rPr>
              <a:t>03 · RESULT — ANALYTICAL GRANULARITY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960120"/>
            <a:ext cx="5277459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000000"/>
                </a:solidFill>
                <a:latin typeface="Merriweather"/>
              </a:rPr>
              <a:t>Cells disagree. Pathways </a:t>
            </a:r>
            <a:r>
              <a:rPr sz="2300" b="0" i="1">
                <a:solidFill>
                  <a:srgbClr val="000000"/>
                </a:solidFill>
                <a:latin typeface="Merriweather"/>
              </a:rPr>
              <a:t>agree</a:t>
            </a:r>
            <a:r>
              <a:rPr sz="2300" b="0" i="0">
                <a:solidFill>
                  <a:srgbClr val="000000"/>
                </a:solidFill>
                <a:latin typeface="Merriweather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452626"/>
            <a:ext cx="5003139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 i="0">
                <a:solidFill>
                  <a:srgbClr val="4361EE"/>
                </a:solidFill>
                <a:latin typeface="Merriweather"/>
              </a:rPr>
              <a:t>0.89–0.97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956562"/>
            <a:ext cx="5003139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20">
                <a:solidFill>
                  <a:srgbClr val="5B6377"/>
                </a:solidFill>
                <a:latin typeface="Arial"/>
              </a:rPr>
              <a:t>MODULE-LEVEL (BTM NES) PEARSON CORRELATION BETWEEN SPECIES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286254"/>
            <a:ext cx="5277459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A1B0F7"/>
                </a:solidFill>
                <a:latin typeface="Arial"/>
              </a:rPr>
              <a:t>•  </a:t>
            </a:r>
            <a:r>
              <a:rPr sz="1200" b="0" i="0">
                <a:solidFill>
                  <a:srgbClr val="1B2130"/>
                </a:solidFill>
                <a:latin typeface="Arial"/>
              </a:rPr>
              <a:t>Gene-level effect sizes correlate only </a:t>
            </a:r>
            <a:r>
              <a:rPr sz="1200" b="0" i="0">
                <a:solidFill>
                  <a:srgbClr val="1B2130"/>
                </a:solidFill>
                <a:latin typeface="Arial"/>
              </a:rPr>
              <a:t>moderately</a:t>
            </a:r>
            <a:r>
              <a:rPr sz="1200" b="0" i="0">
                <a:solidFill>
                  <a:srgbClr val="1B2130"/>
                </a:solidFill>
                <a:latin typeface="Arial"/>
              </a:rPr>
              <a:t>; module activation is </a:t>
            </a:r>
            <a:r>
              <a:rPr sz="1200" b="0" i="0">
                <a:solidFill>
                  <a:srgbClr val="1B2130"/>
                </a:solidFill>
                <a:latin typeface="Arial"/>
              </a:rPr>
              <a:t>highly conserved</a:t>
            </a:r>
            <a:r>
              <a:rPr sz="1200" b="0" i="0">
                <a:solidFill>
                  <a:srgbClr val="1B2130"/>
                </a:solidFill>
                <a:latin typeface="Arial"/>
              </a:rPr>
              <a:t>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A1B0F7"/>
                </a:solidFill>
                <a:latin typeface="Arial"/>
              </a:rPr>
              <a:t>•  </a:t>
            </a:r>
            <a:r>
              <a:rPr sz="1200" b="0" i="0">
                <a:solidFill>
                  <a:srgbClr val="1B2130"/>
                </a:solidFill>
                <a:latin typeface="Arial"/>
              </a:rPr>
              <a:t>Shared leading-edge genes = </a:t>
            </a:r>
            <a:r>
              <a:rPr sz="1200" b="0" i="0">
                <a:solidFill>
                  <a:srgbClr val="1B2130"/>
                </a:solidFill>
                <a:latin typeface="Arial"/>
              </a:rPr>
              <a:t>67.5–79%</a:t>
            </a:r>
            <a:r>
              <a:rPr sz="1200" b="0" i="0">
                <a:solidFill>
                  <a:srgbClr val="1B2130"/>
                </a:solidFill>
                <a:latin typeface="Arial"/>
              </a:rPr>
              <a:t> of mouse LEGs in enriched modules (70.5% pooled).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A1B0F7"/>
                </a:solidFill>
                <a:latin typeface="Arial"/>
              </a:rPr>
              <a:t>•  </a:t>
            </a:r>
            <a:r>
              <a:rPr sz="1200" b="0" i="0">
                <a:solidFill>
                  <a:srgbClr val="1B2130"/>
                </a:solidFill>
                <a:latin typeface="Arial"/>
              </a:rPr>
              <a:t>Collapsing dimensionality into BTMs </a:t>
            </a:r>
            <a:r>
              <a:rPr sz="1200" b="0" i="0">
                <a:solidFill>
                  <a:srgbClr val="1B2130"/>
                </a:solidFill>
                <a:latin typeface="Arial"/>
              </a:rPr>
              <a:t>reduces noise</a:t>
            </a:r>
            <a:r>
              <a:rPr sz="1200" b="0" i="0">
                <a:solidFill>
                  <a:srgbClr val="1B2130"/>
                </a:solidFill>
                <a:latin typeface="Arial"/>
              </a:rPr>
              <a:t> and exposes a robust translational signature.</a:t>
            </a:r>
          </a:p>
        </p:txBody>
      </p:sp>
      <p:pic>
        <p:nvPicPr>
          <p:cNvPr id="12" name="Picture 11" descr="fig4-modu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7307" y="960120"/>
            <a:ext cx="5277459" cy="334915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47307" y="4419005"/>
            <a:ext cx="5277459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7"/>
                </a:solidFill>
                <a:latin typeface="Arial"/>
              </a:rPr>
              <a:t>Fig. 4a–c — BTM module-level correlation (a) and classification performance (b, c) across conditions. · Fig. 5a — shared leading-edge genes across BTM process categories.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10896"/>
            <a:ext cx="91440" cy="50292"/>
          </a:xfrm>
          <a:prstGeom prst="rect">
            <a:avLst/>
          </a:prstGeom>
          <a:solidFill>
            <a:srgbClr val="4DB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310896"/>
            <a:ext cx="91440" cy="50292"/>
          </a:xfrm>
          <a:prstGeom prst="rect">
            <a:avLst/>
          </a:prstGeom>
          <a:solidFill>
            <a:srgbClr val="436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8" y="310896"/>
            <a:ext cx="91440" cy="50292"/>
          </a:xfrm>
          <a:prstGeom prst="rect">
            <a:avLst/>
          </a:prstGeom>
          <a:solidFill>
            <a:srgbClr val="A1B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55664"/>
            <a:ext cx="102348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40">
                <a:solidFill>
                  <a:srgbClr val="5B6377"/>
                </a:solidFill>
                <a:latin typeface="Arial"/>
              </a:rPr>
              <a:t>Mouse2Human · Lab meeting · September 2026 · Genes and Immunity (under review)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1807" y="6455664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40">
                <a:solidFill>
                  <a:srgbClr val="5B6377"/>
                </a:solidFill>
                <a:latin typeface="Arial"/>
              </a:rPr>
              <a:t>5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spc="160">
                <a:solidFill>
                  <a:srgbClr val="5B6377"/>
                </a:solidFill>
                <a:latin typeface="Arial"/>
              </a:rPr>
              <a:t>04 · RESULT — STIMULUS INTENSITY &amp; KINETICS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841248"/>
            <a:ext cx="11057839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000000"/>
                </a:solidFill>
                <a:latin typeface="Merriweather"/>
              </a:rPr>
              <a:t>Translatability scales with the </a:t>
            </a:r>
            <a:r>
              <a:rPr sz="2600" b="0" i="1">
                <a:solidFill>
                  <a:srgbClr val="000000"/>
                </a:solidFill>
                <a:latin typeface="Merriweather"/>
              </a:rPr>
              <a:t>strength</a:t>
            </a:r>
            <a:r>
              <a:rPr sz="2600" b="0" i="0">
                <a:solidFill>
                  <a:srgbClr val="000000"/>
                </a:solidFill>
                <a:latin typeface="Merriweather"/>
              </a:rPr>
              <a:t> of the perturbation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769872"/>
            <a:ext cx="5277459" cy="20116"/>
          </a:xfrm>
          <a:prstGeom prst="rect">
            <a:avLst/>
          </a:prstGeom>
          <a:solidFill>
            <a:srgbClr val="436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897888"/>
            <a:ext cx="5277459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40">
                <a:solidFill>
                  <a:srgbClr val="5B6377"/>
                </a:solidFill>
                <a:latin typeface="Arial"/>
              </a:rPr>
              <a:t>INFECTION &amp; INJURY — CONSERVED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117344"/>
            <a:ext cx="5277459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4361EE"/>
                </a:solidFill>
                <a:latin typeface="Merriweather"/>
              </a:rPr>
              <a:t>ρ = 0.41–0.59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519680"/>
            <a:ext cx="5277459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B2130"/>
                </a:solidFill>
                <a:latin typeface="Arial"/>
              </a:rPr>
              <a:t>Acute S. aureus , E. coli and burn engage evolutionarily stable, highly conserved programs.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967482"/>
            <a:ext cx="5277459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B2130"/>
                </a:solidFill>
                <a:latin typeface="Arial"/>
              </a:rPr>
              <a:t>Effect-size difference (|ΔLog2FC|) significantly smaller than negative controls — WMW adjusted P &lt; 1 × 10⁻¹⁵.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47307" y="1769872"/>
            <a:ext cx="5277459" cy="20116"/>
          </a:xfrm>
          <a:prstGeom prst="rect">
            <a:avLst/>
          </a:prstGeom>
          <a:solidFill>
            <a:srgbClr val="A1B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7307" y="1897888"/>
            <a:ext cx="5277459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40">
                <a:solidFill>
                  <a:srgbClr val="5B6377"/>
                </a:solidFill>
                <a:latin typeface="Arial"/>
              </a:rPr>
              <a:t>SINGLE-DOSE VACCINATION — DIVERGES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2117344"/>
            <a:ext cx="5277459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2E9DB7"/>
                </a:solidFill>
                <a:latin typeface="Merriweather"/>
              </a:rPr>
              <a:t>ρ = −0.32–0.27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7307" y="2519680"/>
            <a:ext cx="5277459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B2130"/>
                </a:solidFill>
                <a:latin typeface="Arial"/>
              </a:rPr>
              <a:t>Fluad® and Engerix B® fail to reach the systemic activation threshold, remaining near baseline controls.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7307" y="2967482"/>
            <a:ext cx="5277459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B2130"/>
                </a:solidFill>
                <a:latin typeface="Arial"/>
              </a:rPr>
              <a:t>Preclinical immunogenicity may require boosters or stronger adjuvants to emerge from species-specific noise.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3634740"/>
            <a:ext cx="11057839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377"/>
                </a:solidFill>
                <a:latin typeface="Arial"/>
              </a:rPr>
              <a:t>Timing ≠ chronology · mouse 2–6 h matches the human peak inflammatory window (days 1–3) → align by biological equivalence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10896"/>
            <a:ext cx="91440" cy="50292"/>
          </a:xfrm>
          <a:prstGeom prst="rect">
            <a:avLst/>
          </a:prstGeom>
          <a:solidFill>
            <a:srgbClr val="4DB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310896"/>
            <a:ext cx="91440" cy="50292"/>
          </a:xfrm>
          <a:prstGeom prst="rect">
            <a:avLst/>
          </a:prstGeom>
          <a:solidFill>
            <a:srgbClr val="436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8" y="310896"/>
            <a:ext cx="91440" cy="50292"/>
          </a:xfrm>
          <a:prstGeom prst="rect">
            <a:avLst/>
          </a:prstGeom>
          <a:solidFill>
            <a:srgbClr val="A1B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55664"/>
            <a:ext cx="102348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40">
                <a:solidFill>
                  <a:srgbClr val="5B6377"/>
                </a:solidFill>
                <a:latin typeface="Arial"/>
              </a:rPr>
              <a:t>Mouse2Human · Lab meeting · September 2026 · Genes and Immunity (under review)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1807" y="6455664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40">
                <a:solidFill>
                  <a:srgbClr val="5B6377"/>
                </a:solidFill>
                <a:latin typeface="Arial"/>
              </a:rPr>
              <a:t>6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spc="160">
                <a:solidFill>
                  <a:srgbClr val="5B6377"/>
                </a:solidFill>
                <a:latin typeface="Arial"/>
              </a:rPr>
              <a:t>05 · RESULT — CLASSIFICATION PERFORMANCE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960120"/>
            <a:ext cx="5277459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000000"/>
                </a:solidFill>
                <a:latin typeface="Merriweather"/>
              </a:rPr>
              <a:t>Mouse signatures call human direction — best at </a:t>
            </a:r>
            <a:r>
              <a:rPr sz="2300" b="0" i="1">
                <a:solidFill>
                  <a:srgbClr val="000000"/>
                </a:solidFill>
                <a:latin typeface="Merriweather"/>
              </a:rPr>
              <a:t>module</a:t>
            </a:r>
            <a:r>
              <a:rPr sz="2300" b="0" i="0">
                <a:solidFill>
                  <a:srgbClr val="000000"/>
                </a:solidFill>
                <a:latin typeface="Merriweather"/>
              </a:rPr>
              <a:t> level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762252"/>
            <a:ext cx="2364409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 i="0">
                <a:solidFill>
                  <a:srgbClr val="4361EE"/>
                </a:solidFill>
                <a:latin typeface="Merriweather"/>
              </a:rPr>
              <a:t>0.84–0.98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266188"/>
            <a:ext cx="2364409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20">
                <a:solidFill>
                  <a:srgbClr val="5B6377"/>
                </a:solidFill>
                <a:latin typeface="Arial"/>
              </a:rPr>
              <a:t>ROC-AUC · MOUSE BTM SIGNATURES CLASSIFYING HUMAN MODULE REGULATION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5657" y="1762252"/>
            <a:ext cx="2364409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 i="0">
                <a:solidFill>
                  <a:srgbClr val="000000"/>
                </a:solidFill>
                <a:latin typeface="Merriweather"/>
              </a:rPr>
              <a:t>0.64–0.74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5657" y="2266188"/>
            <a:ext cx="2364409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20">
                <a:solidFill>
                  <a:srgbClr val="5B6377"/>
                </a:solidFill>
                <a:latin typeface="Arial"/>
              </a:rPr>
              <a:t>ROC-AUC · GENE-LEVEL MOUSE SIGNATURES IN INFECTION &amp; INJURY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926080"/>
            <a:ext cx="5277459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B2130"/>
                </a:solidFill>
                <a:latin typeface="Arial"/>
              </a:rPr>
              <a:t>Biological negative control (DMD): ROC-AUC 0.48–0.61 — near random</a:t>
            </a:r>
          </a:p>
        </p:txBody>
      </p:sp>
      <p:pic>
        <p:nvPicPr>
          <p:cNvPr id="14" name="Picture 13" descr="fig3-classifi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7307" y="960120"/>
            <a:ext cx="5277459" cy="31177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347307" y="4187608"/>
            <a:ext cx="5277459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7"/>
                </a:solidFill>
                <a:latin typeface="Arial"/>
              </a:rPr>
              <a:t>Fig. 3a–b — ROC-AUC and PR-AUC matrices for mouse signatures classifying up- and downregulated human genes, with human self-prediction and the DMD negative control.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10896"/>
            <a:ext cx="91440" cy="50292"/>
          </a:xfrm>
          <a:prstGeom prst="rect">
            <a:avLst/>
          </a:prstGeom>
          <a:solidFill>
            <a:srgbClr val="4DB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310896"/>
            <a:ext cx="91440" cy="50292"/>
          </a:xfrm>
          <a:prstGeom prst="rect">
            <a:avLst/>
          </a:prstGeom>
          <a:solidFill>
            <a:srgbClr val="436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8" y="310896"/>
            <a:ext cx="91440" cy="50292"/>
          </a:xfrm>
          <a:prstGeom prst="rect">
            <a:avLst/>
          </a:prstGeom>
          <a:solidFill>
            <a:srgbClr val="A1B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55664"/>
            <a:ext cx="102348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40">
                <a:solidFill>
                  <a:srgbClr val="5B6377"/>
                </a:solidFill>
                <a:latin typeface="Arial"/>
              </a:rPr>
              <a:t>Mouse2Human · Lab meeting · September 2026 · Genes and Immunity (under review)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1807" y="6455664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40">
                <a:solidFill>
                  <a:srgbClr val="5B6377"/>
                </a:solidFill>
                <a:latin typeface="Arial"/>
              </a:rPr>
              <a:t>7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spc="160">
                <a:solidFill>
                  <a:srgbClr val="5B6377"/>
                </a:solidFill>
                <a:latin typeface="Arial"/>
              </a:rPr>
              <a:t>06 · RESULT — EVOLUTION &amp; REGULATION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960120"/>
            <a:ext cx="5277459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000000"/>
                </a:solidFill>
                <a:latin typeface="Merriweather"/>
              </a:rPr>
              <a:t>Why genes </a:t>
            </a:r>
            <a:r>
              <a:rPr sz="2300" b="0" i="1">
                <a:solidFill>
                  <a:srgbClr val="000000"/>
                </a:solidFill>
                <a:latin typeface="Merriweather"/>
              </a:rPr>
              <a:t>diverge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452626"/>
            <a:ext cx="5277459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B2130"/>
                </a:solidFill>
                <a:latin typeface="Arial"/>
              </a:rPr>
              <a:t>Small per-gene effects, but a consistent direction: sequence constraint tracks </a:t>
            </a:r>
            <a:r>
              <a:rPr sz="1200" b="1" i="0">
                <a:solidFill>
                  <a:srgbClr val="1B2130"/>
                </a:solidFill>
                <a:latin typeface="Arial"/>
              </a:rPr>
              <a:t>stability</a:t>
            </a:r>
            <a:r>
              <a:rPr sz="1200" b="0" i="0">
                <a:solidFill>
                  <a:srgbClr val="1B2130"/>
                </a:solidFill>
                <a:latin typeface="Arial"/>
              </a:rPr>
              <a:t>; regulatory plasticity tracks </a:t>
            </a:r>
            <a:r>
              <a:rPr sz="1200" b="1" i="0">
                <a:solidFill>
                  <a:srgbClr val="1B2130"/>
                </a:solidFill>
                <a:latin typeface="Arial"/>
              </a:rPr>
              <a:t>divergence</a:t>
            </a:r>
            <a:r>
              <a:rPr sz="1200" b="0" i="0">
                <a:solidFill>
                  <a:srgbClr val="1B2130"/>
                </a:solidFill>
                <a:latin typeface="Arial"/>
              </a:rPr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129282"/>
            <a:ext cx="5277459" cy="20116"/>
          </a:xfrm>
          <a:prstGeom prst="rect">
            <a:avLst/>
          </a:prstGeom>
          <a:solidFill>
            <a:srgbClr val="436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257298"/>
            <a:ext cx="5277459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40">
                <a:solidFill>
                  <a:srgbClr val="5B6377"/>
                </a:solidFill>
                <a:latin typeface="Arial"/>
              </a:rPr>
              <a:t>ASSOCIATED WITH LOWER |ΔLOG2FC|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476754"/>
            <a:ext cx="5277459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A1B0F7"/>
                </a:solidFill>
                <a:latin typeface="Arial"/>
              </a:rPr>
              <a:t>•  </a:t>
            </a:r>
            <a:r>
              <a:rPr sz="1150" b="0" i="0">
                <a:solidFill>
                  <a:srgbClr val="1B2130"/>
                </a:solidFill>
                <a:latin typeface="Arial"/>
              </a:rPr>
              <a:t>Higher protein sequence identity rho = −0.08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A1B0F7"/>
                </a:solidFill>
                <a:latin typeface="Arial"/>
              </a:rPr>
              <a:t>•  </a:t>
            </a:r>
            <a:r>
              <a:rPr sz="1150" b="0" i="0">
                <a:solidFill>
                  <a:srgbClr val="1B2130"/>
                </a:solidFill>
                <a:latin typeface="Arial"/>
              </a:rPr>
              <a:t>Greater TF availability and TF sharing rho = −0.017 / −0.013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A1B0F7"/>
                </a:solidFill>
                <a:latin typeface="Arial"/>
              </a:rPr>
              <a:t>•  </a:t>
            </a:r>
            <a:r>
              <a:rPr sz="1150" b="0" i="0">
                <a:solidFill>
                  <a:srgbClr val="1B2130"/>
                </a:solidFill>
                <a:latin typeface="Arial"/>
              </a:rPr>
              <a:t>Conserved promoter-like (PLS) signatures n.s.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3302762"/>
            <a:ext cx="5277459" cy="20116"/>
          </a:xfrm>
          <a:prstGeom prst="rect">
            <a:avLst/>
          </a:prstGeom>
          <a:solidFill>
            <a:srgbClr val="A1B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3430778"/>
            <a:ext cx="5277459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40">
                <a:solidFill>
                  <a:srgbClr val="5B6377"/>
                </a:solidFill>
                <a:latin typeface="Arial"/>
              </a:rPr>
              <a:t>ASSOCIATED WITH HIGHER |ΔLOG2FC|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3650234"/>
            <a:ext cx="5277459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A1B0F7"/>
                </a:solidFill>
                <a:latin typeface="Arial"/>
              </a:rPr>
              <a:t>•  </a:t>
            </a:r>
            <a:r>
              <a:rPr sz="1150" b="0" i="0">
                <a:solidFill>
                  <a:srgbClr val="1B2130"/>
                </a:solidFill>
                <a:latin typeface="Arial"/>
              </a:rPr>
              <a:t>Greater Kimura (K80) evolutionary distance rho = 0.10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A1B0F7"/>
                </a:solidFill>
                <a:latin typeface="Arial"/>
              </a:rPr>
              <a:t>•  </a:t>
            </a:r>
            <a:r>
              <a:rPr sz="1150" b="0" i="0">
                <a:solidFill>
                  <a:srgbClr val="1B2130"/>
                </a:solidFill>
                <a:latin typeface="Arial"/>
              </a:rPr>
              <a:t>Enhancer multiplicity — pELS / dELS counts rho = 0.036 / 0.039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A1B0F7"/>
                </a:solidFill>
                <a:latin typeface="Arial"/>
              </a:rPr>
              <a:t>•  </a:t>
            </a:r>
            <a:r>
              <a:rPr sz="1150" b="0" i="0">
                <a:solidFill>
                  <a:srgbClr val="1B2130"/>
                </a:solidFill>
                <a:latin typeface="Arial"/>
              </a:rPr>
              <a:t>CRE turnover and CTCF-bound pELS bound rho = 0.042</a:t>
            </a:r>
          </a:p>
        </p:txBody>
      </p:sp>
      <p:pic>
        <p:nvPicPr>
          <p:cNvPr id="16" name="Picture 15" descr="fig6-evolution-regu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4353" y="960120"/>
            <a:ext cx="4223367" cy="45262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347307" y="5596128"/>
            <a:ext cx="5277459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7"/>
                </a:solidFill>
                <a:latin typeface="Arial"/>
              </a:rPr>
              <a:t>Fig. 6a–e — protein sequence identity and Kimura distance (a), transcription factor availability (b), cis-regulatory element abundance (c), CRE conservation and turnover (d) and CTCF binding (e) against |ΔLog2FC|.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10896"/>
            <a:ext cx="91440" cy="50292"/>
          </a:xfrm>
          <a:prstGeom prst="rect">
            <a:avLst/>
          </a:prstGeom>
          <a:solidFill>
            <a:srgbClr val="4DB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310896"/>
            <a:ext cx="91440" cy="50292"/>
          </a:xfrm>
          <a:prstGeom prst="rect">
            <a:avLst/>
          </a:prstGeom>
          <a:solidFill>
            <a:srgbClr val="436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8" y="310896"/>
            <a:ext cx="91440" cy="50292"/>
          </a:xfrm>
          <a:prstGeom prst="rect">
            <a:avLst/>
          </a:prstGeom>
          <a:solidFill>
            <a:srgbClr val="A1B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55664"/>
            <a:ext cx="102348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40">
                <a:solidFill>
                  <a:srgbClr val="5B6377"/>
                </a:solidFill>
                <a:latin typeface="Arial"/>
              </a:rPr>
              <a:t>Mouse2Human · Lab meeting · September 2026 · Genes and Immunity (under review)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1807" y="6455664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40">
                <a:solidFill>
                  <a:srgbClr val="5B6377"/>
                </a:solidFill>
                <a:latin typeface="Arial"/>
              </a:rPr>
              <a:t>8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spc="160">
                <a:solidFill>
                  <a:srgbClr val="5B6377"/>
                </a:solidFill>
                <a:latin typeface="Arial"/>
              </a:rPr>
              <a:t>07 · RESULT — MULTILAYER MODELLING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960120"/>
            <a:ext cx="5277459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000000"/>
                </a:solidFill>
                <a:latin typeface="Merriweather"/>
              </a:rPr>
              <a:t>Layers turn near-chance transfer into </a:t>
            </a:r>
            <a:r>
              <a:rPr sz="2300" b="0" i="1">
                <a:solidFill>
                  <a:srgbClr val="000000"/>
                </a:solidFill>
                <a:latin typeface="Merriweather"/>
              </a:rPr>
              <a:t>useful</a:t>
            </a:r>
            <a:r>
              <a:rPr sz="2300" b="0" i="0">
                <a:solidFill>
                  <a:srgbClr val="000000"/>
                </a:solidFill>
                <a:latin typeface="Merriweather"/>
              </a:rPr>
              <a:t> prediction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762252"/>
            <a:ext cx="5277459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A1B0F7"/>
                </a:solidFill>
                <a:latin typeface="Arial"/>
              </a:rPr>
              <a:t>•  </a:t>
            </a:r>
            <a:r>
              <a:rPr sz="1200" b="0" i="0">
                <a:solidFill>
                  <a:srgbClr val="1B2130"/>
                </a:solidFill>
                <a:latin typeface="Arial"/>
              </a:rPr>
              <a:t>Mouse rank alone: </a:t>
            </a:r>
            <a:r>
              <a:rPr sz="1200" b="0" i="0">
                <a:solidFill>
                  <a:srgbClr val="1B2130"/>
                </a:solidFill>
                <a:latin typeface="Arial"/>
              </a:rPr>
              <a:t>R² = 0.001</a:t>
            </a:r>
            <a:r>
              <a:rPr sz="1200" b="0" i="0">
                <a:solidFill>
                  <a:srgbClr val="1B2130"/>
                </a:solidFill>
                <a:latin typeface="Arial"/>
              </a:rPr>
              <a:t> · mouse direction alone: </a:t>
            </a:r>
            <a:r>
              <a:rPr sz="1200" b="0" i="0">
                <a:solidFill>
                  <a:srgbClr val="1B2130"/>
                </a:solidFill>
                <a:latin typeface="Arial"/>
              </a:rPr>
              <a:t>ROC-AUC 0.511</a:t>
            </a:r>
            <a:r>
              <a:rPr sz="1200" b="0" i="0">
                <a:solidFill>
                  <a:srgbClr val="1B2130"/>
                </a:solidFill>
                <a:latin typeface="Arial"/>
              </a:rPr>
              <a:t> — no transfer.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A1B0F7"/>
                </a:solidFill>
                <a:latin typeface="Arial"/>
              </a:rPr>
              <a:t>•  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A1B0F7"/>
                </a:solidFill>
                <a:latin typeface="Arial"/>
              </a:rPr>
              <a:t>–  </a:t>
            </a:r>
            <a:r>
              <a:rPr sz="1100" b="0" i="0">
                <a:solidFill>
                  <a:srgbClr val="1B2130"/>
                </a:solidFill>
                <a:latin typeface="Arial"/>
              </a:rPr>
              <a:t>evolution, TF, CRE and BTM layers → random forest R² = 0.234 for human rank and ROC-AUC = 0.849 for direction.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A1B0F7"/>
                </a:solidFill>
                <a:latin typeface="Arial"/>
              </a:rPr>
              <a:t>•  </a:t>
            </a:r>
            <a:r>
              <a:rPr sz="1200" b="0" i="0">
                <a:solidFill>
                  <a:srgbClr val="1B2130"/>
                </a:solidFill>
                <a:latin typeface="Arial"/>
              </a:rPr>
              <a:t>Shared vs mouse-only LEGs stay hard: lasso best by a whisker (</a:t>
            </a:r>
            <a:r>
              <a:rPr sz="1200" b="0" i="0">
                <a:solidFill>
                  <a:srgbClr val="1B2130"/>
                </a:solidFill>
                <a:latin typeface="Arial"/>
              </a:rPr>
              <a:t>0.617</a:t>
            </a:r>
            <a:r>
              <a:rPr sz="1200" b="0" i="0">
                <a:solidFill>
                  <a:srgbClr val="1B2130"/>
                </a:solidFill>
                <a:latin typeface="Arial"/>
              </a:rPr>
              <a:t> predictive / </a:t>
            </a:r>
            <a:r>
              <a:rPr sz="1200" b="0" i="0">
                <a:solidFill>
                  <a:srgbClr val="1B2130"/>
                </a:solidFill>
                <a:latin typeface="Arial"/>
              </a:rPr>
              <a:t>0.627</a:t>
            </a:r>
            <a:r>
              <a:rPr sz="1200" b="0" i="0">
                <a:solidFill>
                  <a:srgbClr val="1B2130"/>
                </a:solidFill>
                <a:latin typeface="Arial"/>
              </a:rPr>
              <a:t> explanatory).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192272"/>
            <a:ext cx="5277459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B2130"/>
                </a:solidFill>
                <a:latin typeface="Arial"/>
              </a:rPr>
              <a:t>LOCO-CV (4 folds) · nested layers: DGE Baseline → Full + BTM</a:t>
            </a:r>
            <a:r>
              <a:rPr sz="1200" b="0" i="0">
                <a:solidFill>
                  <a:srgbClr val="1B2130"/>
                </a:solidFill>
                <a:latin typeface="Arial"/>
              </a:rPr>
              <a:t>
</a:t>
            </a:r>
            <a:r>
              <a:rPr sz="1200" b="0" i="0">
                <a:solidFill>
                  <a:srgbClr val="1B2130"/>
                </a:solidFill>
                <a:latin typeface="Arial"/>
              </a:rPr>
              <a:t> 4 algorithms: linear/logistic · lasso · random forest · neural network</a:t>
            </a:r>
          </a:p>
        </p:txBody>
      </p:sp>
      <p:pic>
        <p:nvPicPr>
          <p:cNvPr id="11" name="Picture 10" descr="fig7-mod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7307" y="960120"/>
            <a:ext cx="5277459" cy="27321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347307" y="3801948"/>
            <a:ext cx="5277459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7"/>
                </a:solidFill>
                <a:latin typeface="Arial"/>
              </a:rPr>
              <a:t>Fig. 7 — multilayer modelling: (a) layer integration workflow, (b) shared-LEG classification, (c) directional concordance and (d) human rank regression, across algorithms and feature layers.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10896"/>
            <a:ext cx="91440" cy="50292"/>
          </a:xfrm>
          <a:prstGeom prst="rect">
            <a:avLst/>
          </a:prstGeom>
          <a:solidFill>
            <a:srgbClr val="4DB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310896"/>
            <a:ext cx="91440" cy="50292"/>
          </a:xfrm>
          <a:prstGeom prst="rect">
            <a:avLst/>
          </a:prstGeom>
          <a:solidFill>
            <a:srgbClr val="436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8" y="310896"/>
            <a:ext cx="91440" cy="50292"/>
          </a:xfrm>
          <a:prstGeom prst="rect">
            <a:avLst/>
          </a:prstGeom>
          <a:solidFill>
            <a:srgbClr val="A1B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55664"/>
            <a:ext cx="102348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40">
                <a:solidFill>
                  <a:srgbClr val="5B6377"/>
                </a:solidFill>
                <a:latin typeface="Arial"/>
              </a:rPr>
              <a:t>Mouse2Human · Lab meeting · September 2026 · Genes and Immunity (under review)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1807" y="6455664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40">
                <a:solidFill>
                  <a:srgbClr val="5B6377"/>
                </a:solidFill>
                <a:latin typeface="Arial"/>
              </a:rPr>
              <a:t>9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spc="160">
                <a:solidFill>
                  <a:srgbClr val="5B6377"/>
                </a:solidFill>
                <a:latin typeface="Arial"/>
              </a:rPr>
              <a:t>08 · TAKE-AWAYS &amp; LIMITATIONS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841248"/>
            <a:ext cx="11057839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000000"/>
                </a:solidFill>
                <a:latin typeface="Merriweather"/>
              </a:rPr>
              <a:t>Translatability is a function of </a:t>
            </a:r>
            <a:r>
              <a:rPr sz="2600" b="0" i="1">
                <a:solidFill>
                  <a:srgbClr val="000000"/>
                </a:solidFill>
                <a:latin typeface="Merriweather"/>
              </a:rPr>
              <a:t>granularity</a:t>
            </a:r>
            <a:r>
              <a:rPr sz="2600" b="0" i="0">
                <a:solidFill>
                  <a:srgbClr val="000000"/>
                </a:solidFill>
                <a:latin typeface="Merriweather"/>
              </a:rPr>
              <a:t>, </a:t>
            </a:r>
            <a:r>
              <a:rPr sz="2600" b="0" i="1">
                <a:solidFill>
                  <a:srgbClr val="000000"/>
                </a:solidFill>
                <a:latin typeface="Merriweather"/>
              </a:rPr>
              <a:t>intensity</a:t>
            </a:r>
            <a:r>
              <a:rPr sz="2600" b="0" i="0">
                <a:solidFill>
                  <a:srgbClr val="000000"/>
                </a:solidFill>
                <a:latin typeface="Merriweather"/>
              </a:rPr>
              <a:t> and </a:t>
            </a:r>
            <a:r>
              <a:rPr sz="2600" b="0" i="1">
                <a:solidFill>
                  <a:srgbClr val="000000"/>
                </a:solidFill>
                <a:latin typeface="Merriweather"/>
              </a:rPr>
              <a:t>timing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769872"/>
            <a:ext cx="5277459" cy="20116"/>
          </a:xfrm>
          <a:prstGeom prst="rect">
            <a:avLst/>
          </a:prstGeom>
          <a:solidFill>
            <a:srgbClr val="436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897888"/>
            <a:ext cx="5277459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40">
                <a:solidFill>
                  <a:srgbClr val="5B6377"/>
                </a:solidFill>
                <a:latin typeface="Arial"/>
              </a:rPr>
              <a:t>WHAT THE STUDY ESTABLISHES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117344"/>
            <a:ext cx="5277459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A1B0F7"/>
                </a:solidFill>
                <a:latin typeface="Arial"/>
              </a:rPr>
              <a:t>•  </a:t>
            </a:r>
            <a:r>
              <a:rPr sz="1150" b="0" i="0">
                <a:solidFill>
                  <a:srgbClr val="1B2130"/>
                </a:solidFill>
                <a:latin typeface="Arial"/>
              </a:rPr>
              <a:t>Module-level analysis beats gene-level analysis for cross-species concordance.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A1B0F7"/>
                </a:solidFill>
                <a:latin typeface="Arial"/>
              </a:rPr>
              <a:t>•  </a:t>
            </a:r>
            <a:r>
              <a:rPr sz="1150" b="0" i="0">
                <a:solidFill>
                  <a:srgbClr val="1B2130"/>
                </a:solidFill>
                <a:latin typeface="Arial"/>
              </a:rPr>
              <a:t>Acute infection and injury translate; single-dose vaccination does not.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A1B0F7"/>
                </a:solidFill>
                <a:latin typeface="Arial"/>
              </a:rPr>
              <a:t>•  </a:t>
            </a:r>
            <a:r>
              <a:rPr sz="1150" b="0" i="0">
                <a:solidFill>
                  <a:srgbClr val="1B2130"/>
                </a:solidFill>
                <a:latin typeface="Arial"/>
              </a:rPr>
              <a:t>Evolutionary and regulatory layers carry a conserved signal beyond mouse DGE.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A1B0F7"/>
                </a:solidFill>
                <a:latin typeface="Arial"/>
              </a:rPr>
              <a:t>•  </a:t>
            </a:r>
            <a:r>
              <a:rPr sz="1150" b="0" i="0">
                <a:solidFill>
                  <a:srgbClr val="1B2130"/>
                </a:solidFill>
                <a:latin typeface="Arial"/>
              </a:rPr>
              <a:t>Four out-of-fold scores — score_shared , score_rank , score_direction , score_translational — prioritise candidate genes.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47307" y="1769872"/>
            <a:ext cx="5277459" cy="20116"/>
          </a:xfrm>
          <a:prstGeom prst="rect">
            <a:avLst/>
          </a:prstGeom>
          <a:solidFill>
            <a:srgbClr val="A1B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47307" y="1897888"/>
            <a:ext cx="5277459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40">
                <a:solidFill>
                  <a:srgbClr val="5B6377"/>
                </a:solidFill>
                <a:latin typeface="Arial"/>
              </a:rPr>
              <a:t>LIMITATIONS TO KEEP IN MIND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7307" y="2117344"/>
            <a:ext cx="5277459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A1B0F7"/>
                </a:solidFill>
                <a:latin typeface="Arial"/>
              </a:rPr>
              <a:t>•  </a:t>
            </a:r>
            <a:r>
              <a:rPr sz="1150" b="0" i="0">
                <a:solidFill>
                  <a:srgbClr val="1B2130"/>
                </a:solidFill>
                <a:latin typeface="Arial"/>
              </a:rPr>
              <a:t>Small murine cohorts; scarce harmonised metadata.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A1B0F7"/>
                </a:solidFill>
                <a:latin typeface="Arial"/>
              </a:rPr>
              <a:t>•  </a:t>
            </a:r>
            <a:r>
              <a:rPr sz="1150" b="0" i="0">
                <a:solidFill>
                  <a:srgbClr val="1B2130"/>
                </a:solidFill>
                <a:latin typeface="Arial"/>
              </a:rPr>
              <a:t>Two inbred strains only (C57BL/6, CB6F1) — strain choice shapes translatability.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A1B0F7"/>
                </a:solidFill>
                <a:latin typeface="Arial"/>
              </a:rPr>
              <a:t>•  </a:t>
            </a:r>
            <a:r>
              <a:rPr sz="1150" b="0" i="0">
                <a:solidFill>
                  <a:srgbClr val="1B2130"/>
                </a:solidFill>
                <a:latin typeface="Arial"/>
              </a:rPr>
              <a:t>Single-dose mouse vaccination vs. human prime-boost regimens.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A1B0F7"/>
                </a:solidFill>
                <a:latin typeface="Arial"/>
              </a:rPr>
              <a:t>•  </a:t>
            </a:r>
            <a:r>
              <a:rPr sz="1150" b="0" i="0">
                <a:solidFill>
                  <a:srgbClr val="1B2130"/>
                </a:solidFill>
                <a:latin typeface="Arial"/>
              </a:rPr>
              <a:t>Blood-based BTMs and one-to-one Ensembl orthologs — needs testing in other tissues and gene sets.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10896"/>
            <a:ext cx="91440" cy="50292"/>
          </a:xfrm>
          <a:prstGeom prst="rect">
            <a:avLst/>
          </a:prstGeom>
          <a:solidFill>
            <a:srgbClr val="4DB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310896"/>
            <a:ext cx="91440" cy="50292"/>
          </a:xfrm>
          <a:prstGeom prst="rect">
            <a:avLst/>
          </a:prstGeom>
          <a:solidFill>
            <a:srgbClr val="436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8" y="310896"/>
            <a:ext cx="91440" cy="50292"/>
          </a:xfrm>
          <a:prstGeom prst="rect">
            <a:avLst/>
          </a:prstGeom>
          <a:solidFill>
            <a:srgbClr val="A1B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55664"/>
            <a:ext cx="102348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40">
                <a:solidFill>
                  <a:srgbClr val="5B6377"/>
                </a:solidFill>
                <a:latin typeface="Arial"/>
              </a:rPr>
              <a:t>Mouse2Human · Lab meeting · September 2026 · Genes and Immunity (under review)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1807" y="6455664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40">
                <a:solidFill>
                  <a:srgbClr val="5B6377"/>
                </a:solidFill>
                <a:latin typeface="Arial"/>
              </a:rPr>
              <a:t>10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841248"/>
            <a:ext cx="11057839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000000"/>
                </a:solidFill>
                <a:latin typeface="Merriweather"/>
              </a:rPr>
              <a:t>Open code, trained models, and a notebook to </a:t>
            </a:r>
            <a:r>
              <a:rPr sz="2600" b="0" i="1">
                <a:solidFill>
                  <a:srgbClr val="000000"/>
                </a:solidFill>
                <a:latin typeface="Merriweather"/>
              </a:rPr>
              <a:t>apply</a:t>
            </a:r>
            <a:r>
              <a:rPr sz="2600" b="0" i="0">
                <a:solidFill>
                  <a:srgbClr val="000000"/>
                </a:solidFill>
                <a:latin typeface="Merriweather"/>
              </a:rPr>
              <a:t> them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511300"/>
            <a:ext cx="3503066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712468"/>
            <a:ext cx="3137306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50">
                <a:solidFill>
                  <a:srgbClr val="4DBBD5"/>
                </a:solidFill>
                <a:latin typeface="Arial"/>
              </a:rPr>
              <a:t>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986788"/>
            <a:ext cx="3137306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Merriweather"/>
              </a:rPr>
              <a:t>mousetohuman_multilayer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297684"/>
            <a:ext cx="3137306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B2130"/>
                </a:solidFill>
                <a:latin typeface="Arial"/>
              </a:rPr>
              <a:t>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563749"/>
            <a:ext cx="3137306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B2130"/>
                </a:solidFill>
                <a:latin typeface="Arial"/>
              </a:rPr>
              <a:t>Full R Markdown pipeline — curation, QC, limma DGE, GSEA, evolutionary and regulatory analyses, and the LOCO modelling script. Pinned with renv 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3353689"/>
            <a:ext cx="3137306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B2130"/>
                </a:solidFill>
                <a:latin typeface="Arial"/>
              </a:rPr>
              <a:t>github.com/wapsyed/mousetohuman_multilayer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3961892"/>
            <a:ext cx="313730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361EE"/>
                </a:solidFill>
                <a:latin typeface="Arial"/>
              </a:rPr>
              <a:t>github.com/wapsyed/mousetohuman_multilayer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4314" y="1511300"/>
            <a:ext cx="3503066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7194" y="1712468"/>
            <a:ext cx="3137306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50">
                <a:solidFill>
                  <a:srgbClr val="4DBBD5"/>
                </a:solidFill>
                <a:latin typeface="Arial"/>
              </a:rPr>
              <a:t>DOCUMENTATION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7194" y="1986788"/>
            <a:ext cx="3137306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Merriweather"/>
              </a:rPr>
              <a:t>Project site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7194" y="2297684"/>
            <a:ext cx="3137306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B2130"/>
                </a:solidFill>
                <a:latin typeface="Arial"/>
              </a:rPr>
              <a:t>Documentation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7194" y="2563749"/>
            <a:ext cx="3137306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B2130"/>
                </a:solidFill>
                <a:latin typeface="Arial"/>
              </a:rPr>
              <a:t>Overview, complete methodology — including the multilayer modelling pipeline — and the notebook map, in one place.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7194" y="3179064"/>
            <a:ext cx="3137306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B2130"/>
                </a:solidFill>
                <a:latin typeface="Arial"/>
              </a:rPr>
              <a:t>wapsyed.github.io/mousetohuman_multilayer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7194" y="3961892"/>
            <a:ext cx="313730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361EE"/>
                </a:solidFill>
                <a:latin typeface="Arial"/>
              </a:rPr>
              <a:t>wapsyed.github.io/mousetohuman_multilayer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21700" y="1511300"/>
            <a:ext cx="3503066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04580" y="1712468"/>
            <a:ext cx="3137306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50">
                <a:solidFill>
                  <a:srgbClr val="4DBBD5"/>
                </a:solidFill>
                <a:latin typeface="Arial"/>
              </a:rPr>
              <a:t>APPLY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4580" y="1986788"/>
            <a:ext cx="3137306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Merriweather"/>
              </a:rPr>
              <a:t>mousetohuman_predict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4580" y="2297684"/>
            <a:ext cx="3137306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B2130"/>
                </a:solidFill>
                <a:latin typeface="Arial"/>
              </a:rPr>
              <a:t>Apply 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04580" y="2563749"/>
            <a:ext cx="3137306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B2130"/>
                </a:solidFill>
                <a:latin typeface="Arial"/>
              </a:rPr>
              <a:t>Step-by-step notebook: from DGE input to GSEA, model prediction and visualisation of the four translational scores. Runs in RStudio via Binder.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04580" y="3353689"/>
            <a:ext cx="3137306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B2130"/>
                </a:solidFill>
                <a:latin typeface="Arial"/>
              </a:rPr>
              <a:t>github.com/wapsyed/mousetohuman_predict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04580" y="3961892"/>
            <a:ext cx="313730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361EE"/>
                </a:solidFill>
                <a:latin typeface="Arial"/>
              </a:rPr>
              <a:t>github.com/wapsyed/mousetohuman_predict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4848860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000000"/>
                </a:solidFill>
                <a:latin typeface="Merriweather"/>
              </a:rPr>
              <a:t>Thank you — questions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mice to humans — project overview</dc:title>
  <dc:subject>Multi-omic predictive framework for translational immunology — lab meeting</dc:subject>
  <dc:creator>Wasim Aluísio Prates-Syed · Cabral-Miranda Lab</dc:creator>
  <cp:keywords/>
  <dc:description>Editable PowerPoint built from the deck (build_pptx.py).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