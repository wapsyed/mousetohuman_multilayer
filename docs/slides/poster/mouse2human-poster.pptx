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9984" cy="1069198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984" cy="1481328"/>
          </a:xfrm>
          <a:prstGeom prst="rect">
            <a:avLst/>
          </a:prstGeom>
          <a:solidFill>
            <a:srgbClr val="0B0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59984" cy="50292"/>
          </a:xfrm>
          <a:prstGeom prst="rect">
            <a:avLst/>
          </a:prstGeom>
          <a:solidFill>
            <a:srgbClr val="4DB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19994" y="0"/>
            <a:ext cx="2519994" cy="50292"/>
          </a:xfrm>
          <a:prstGeom prst="rect">
            <a:avLst/>
          </a:prstGeom>
          <a:solidFill>
            <a:srgbClr val="436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39989" y="0"/>
            <a:ext cx="2519994" cy="50292"/>
          </a:xfrm>
          <a:prstGeom prst="rect">
            <a:avLst/>
          </a:prstGeom>
          <a:solidFill>
            <a:srgbClr val="A1B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46304"/>
            <a:ext cx="6956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60" b="0" i="0" spc="160">
                <a:solidFill>
                  <a:srgbClr val="9AA3B8"/>
                </a:solidFill>
                <a:latin typeface="Arial"/>
              </a:rPr>
              <a:t>LABORATORY OF GENETICS AND MOLECULAR CARDIOLOGY · INCOR — FMUSP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292608"/>
            <a:ext cx="6956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erriweather"/>
              </a:rPr>
              <a:t>From mice to humans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713232"/>
            <a:ext cx="6956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D8DEEC"/>
                </a:solidFill>
                <a:latin typeface="Merriweather"/>
              </a:rPr>
              <a:t>A multi-omic predictive framework for translational immunology — linking cross-species
      concordance to sequence evolution, cis-regulatory architecture and multilayer machine learning.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1005840"/>
            <a:ext cx="695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560" b="0" i="0">
                <a:solidFill>
                  <a:srgbClr val="E6E9F2"/>
                </a:solidFill>
                <a:latin typeface="Arial"/>
              </a:rPr>
              <a:t>Wasim Aluísio Prates-Syed · Lira AA · Cortes N · Silva JDQ · Hamaguchi B · Carvalho E ·
      Castillo-Chávez A · Durães-Carvalho R · Cabral-Marques O · Sabino EC · Krieger JE · Hagan T · Cabral-Miranda 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" y="1225296"/>
            <a:ext cx="695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540" b="0" i="0">
                <a:solidFill>
                  <a:srgbClr val="9AA3B8"/>
                </a:solidFill>
                <a:latin typeface="Arial"/>
              </a:rPr>
              <a:t>Genes and Immunity (under review) · September 2026 · wasim.syed@usp.br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1344168"/>
            <a:ext cx="6956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20" b="0" i="0">
                <a:solidFill>
                  <a:srgbClr val="A1B0F7"/>
                </a:solidFill>
                <a:latin typeface="Arial"/>
              </a:rPr>
              <a:t>github.com/wapsyed/mousetohuman_multilayer · wapsyed.github.io/mousetohuman_multilayer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" y="1481328"/>
            <a:ext cx="6956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" y="1527048"/>
            <a:ext cx="16293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4361EE"/>
                </a:solidFill>
                <a:latin typeface="Merriweather"/>
              </a:rPr>
              <a:t>0.89–0.97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709928"/>
            <a:ext cx="16293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80" b="0" i="0" spc="90">
                <a:solidFill>
                  <a:srgbClr val="5B6377"/>
                </a:solidFill>
                <a:latin typeface="Arial"/>
              </a:rPr>
              <a:t>MODULE-LEVEL (BTM) MOUSE–HUMAN CORRELATION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40872" y="1536192"/>
            <a:ext cx="5486" cy="329184"/>
          </a:xfrm>
          <a:prstGeom prst="rect">
            <a:avLst/>
          </a:prstGeom>
          <a:solidFill>
            <a:srgbClr val="D9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95736" y="1527048"/>
            <a:ext cx="16293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4361EE"/>
                </a:solidFill>
                <a:latin typeface="Merriweather"/>
              </a:rPr>
              <a:t>0.84–0.98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5736" y="1709928"/>
            <a:ext cx="16293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80" b="0" i="0" spc="90">
                <a:solidFill>
                  <a:srgbClr val="5B6377"/>
                </a:solidFill>
                <a:latin typeface="Arial"/>
              </a:rPr>
              <a:t>ROC-AUC · MOUSE BTMS CALLING HUMAN DIRECTION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79992" y="1536192"/>
            <a:ext cx="5486" cy="329184"/>
          </a:xfrm>
          <a:prstGeom prst="rect">
            <a:avLst/>
          </a:prstGeom>
          <a:solidFill>
            <a:srgbClr val="D9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34856" y="1527048"/>
            <a:ext cx="16293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4361EE"/>
                </a:solidFill>
                <a:latin typeface="Merriweather"/>
              </a:rPr>
              <a:t>R² 0.234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34856" y="1709928"/>
            <a:ext cx="16293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80" b="0" i="0" spc="90">
                <a:solidFill>
                  <a:srgbClr val="5B6377"/>
                </a:solidFill>
                <a:latin typeface="Arial"/>
              </a:rPr>
              <a:t>RANDOM-FOREST HUMAN-RANK REGRESSION (LOCO-CV)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19112" y="1536192"/>
            <a:ext cx="5486" cy="329184"/>
          </a:xfrm>
          <a:prstGeom prst="rect">
            <a:avLst/>
          </a:prstGeom>
          <a:solidFill>
            <a:srgbClr val="D9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3976" y="1527048"/>
            <a:ext cx="16293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Merriweather"/>
              </a:rPr>
              <a:t>AUC 0.849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3976" y="1709928"/>
            <a:ext cx="16293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80" b="0" i="0" spc="90">
                <a:solidFill>
                  <a:srgbClr val="5B6377"/>
                </a:solidFill>
                <a:latin typeface="Arial"/>
              </a:rPr>
              <a:t>MULTILAYER DIRECTIONAL CONCORDANCE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" y="2066544"/>
            <a:ext cx="3341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4DBBD5"/>
                </a:solidFill>
                <a:latin typeface="Merriweather"/>
              </a:rPr>
              <a:t>01</a:t>
            </a:r>
            <a:r>
              <a:rPr sz="819" b="1" i="0">
                <a:solidFill>
                  <a:srgbClr val="000000"/>
                </a:solidFill>
                <a:latin typeface="Merriweather"/>
              </a:rPr>
              <a:t> · The problem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" y="2185416"/>
            <a:ext cx="3341080" cy="1645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" y="2327148"/>
            <a:ext cx="3341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610" b="0" i="0">
                <a:solidFill>
                  <a:srgbClr val="1B2130"/>
                </a:solidFill>
                <a:latin typeface="Arial"/>
              </a:rPr>
              <a:t>Murine models underpin preclinical vaccine research, yet their translational value remains </a:t>
            </a:r>
            <a:r>
              <a:rPr sz="610" b="1" i="0">
                <a:solidFill>
                  <a:srgbClr val="000000"/>
                </a:solidFill>
                <a:latin typeface="Arial"/>
              </a:rPr>
              <a:t>contested</a:t>
            </a:r>
            <a:r>
              <a:rPr sz="610" b="0" i="0">
                <a:solidFill>
                  <a:srgbClr val="1B2130"/>
                </a:solidFill>
                <a:latin typeface="Arial"/>
              </a:rPr>
              <a:t>. Prior cross-species comparisons were largely </a:t>
            </a:r>
            <a:r>
              <a:rPr sz="610" b="1" i="0">
                <a:solidFill>
                  <a:srgbClr val="000000"/>
                </a:solidFill>
                <a:latin typeface="Arial"/>
              </a:rPr>
              <a:t>descriptive</a:t>
            </a:r>
            <a:r>
              <a:rPr sz="610" b="0" i="0">
                <a:solidFill>
                  <a:srgbClr val="1B2130"/>
                </a:solidFill>
                <a:latin typeface="Arial"/>
              </a:rPr>
              <a:t> — gene-centric and disconnected from sequence evolution and cis-regulatory architecture. </a:t>
            </a:r>
            <a:r>
              <a:rPr sz="610" b="1" i="0">
                <a:solidFill>
                  <a:srgbClr val="000000"/>
                </a:solidFill>
                <a:latin typeface="Arial"/>
              </a:rPr>
              <a:t>201</a:t>
            </a:r>
            <a:r>
              <a:rPr sz="610" b="0" i="0">
                <a:solidFill>
                  <a:srgbClr val="1B2130"/>
                </a:solidFill>
                <a:latin typeface="Arial"/>
              </a:rPr>
              <a:t> mouse immunization datasets were screened from GEO and </a:t>
            </a:r>
            <a:r>
              <a:rPr sz="610" b="1" i="0">
                <a:solidFill>
                  <a:srgbClr val="000000"/>
                </a:solidFill>
                <a:latin typeface="Arial"/>
              </a:rPr>
              <a:t>6</a:t>
            </a:r>
            <a:r>
              <a:rPr sz="610" b="0" i="0">
                <a:solidFill>
                  <a:srgbClr val="1B2130"/>
                </a:solidFill>
                <a:latin typeface="Arial"/>
              </a:rPr>
              <a:t> matched mouse–human conditions carried forward.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" y="2995676"/>
            <a:ext cx="3341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4DBBD5"/>
                </a:solidFill>
                <a:latin typeface="Merriweather"/>
              </a:rPr>
              <a:t>02</a:t>
            </a:r>
            <a:r>
              <a:rPr sz="819" b="1" i="0">
                <a:solidFill>
                  <a:srgbClr val="000000"/>
                </a:solidFill>
                <a:latin typeface="Merriweather"/>
              </a:rPr>
              <a:t> · Design &amp; harmonisation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" y="3114548"/>
            <a:ext cx="3341080" cy="1645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1752" y="3256280"/>
            <a:ext cx="3341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20"/>
              </a:spcAft>
            </a:pPr>
            <a:r>
              <a:rPr sz="610" b="1" i="0">
                <a:solidFill>
                  <a:srgbClr val="A1B0F7"/>
                </a:solidFill>
                <a:latin typeface="Arial"/>
              </a:rPr>
              <a:t>•  </a:t>
            </a:r>
            <a:r>
              <a:rPr sz="610" b="1" i="0">
                <a:solidFill>
                  <a:srgbClr val="000000"/>
                </a:solidFill>
                <a:latin typeface="Arial"/>
              </a:rPr>
              <a:t>Vaccination</a:t>
            </a:r>
            <a:r>
              <a:rPr sz="610" b="0" i="0">
                <a:solidFill>
                  <a:srgbClr val="1B2130"/>
                </a:solidFill>
                <a:latin typeface="Arial"/>
              </a:rPr>
              <a:t> — Fluad® (influenza), Engerix B® (hepatitis B)</a:t>
            </a:r>
          </a:p>
          <a:p>
            <a:pPr algn="l">
              <a:lnSpc>
                <a:spcPct val="130000"/>
              </a:lnSpc>
              <a:spcAft>
                <a:spcPts val="120"/>
              </a:spcAft>
            </a:pPr>
            <a:r>
              <a:rPr sz="610" b="1" i="0">
                <a:solidFill>
                  <a:srgbClr val="A1B0F7"/>
                </a:solidFill>
                <a:latin typeface="Arial"/>
              </a:rPr>
              <a:t>•  </a:t>
            </a:r>
            <a:r>
              <a:rPr sz="610" b="1" i="0">
                <a:solidFill>
                  <a:srgbClr val="000000"/>
                </a:solidFill>
                <a:latin typeface="Arial"/>
              </a:rPr>
              <a:t>Infection</a:t>
            </a:r>
            <a:r>
              <a:rPr sz="610" b="0" i="0">
                <a:solidFill>
                  <a:srgbClr val="1B2130"/>
                </a:solidFill>
                <a:latin typeface="Arial"/>
              </a:rPr>
              <a:t> — </a:t>
            </a:r>
            <a:r>
              <a:rPr sz="610" b="0" i="1">
                <a:solidFill>
                  <a:srgbClr val="1B2130"/>
                </a:solidFill>
                <a:latin typeface="Arial"/>
              </a:rPr>
              <a:t>S. aureus</a:t>
            </a:r>
            <a:r>
              <a:rPr sz="610" b="0" i="0">
                <a:solidFill>
                  <a:srgbClr val="1B2130"/>
                </a:solidFill>
                <a:latin typeface="Arial"/>
              </a:rPr>
              <a:t>, </a:t>
            </a:r>
            <a:r>
              <a:rPr sz="610" b="0" i="1">
                <a:solidFill>
                  <a:srgbClr val="1B2130"/>
                </a:solidFill>
                <a:latin typeface="Arial"/>
              </a:rPr>
              <a:t>E. coli</a:t>
            </a:r>
          </a:p>
          <a:p>
            <a:pPr algn="l">
              <a:lnSpc>
                <a:spcPct val="130000"/>
              </a:lnSpc>
              <a:spcAft>
                <a:spcPts val="120"/>
              </a:spcAft>
            </a:pPr>
            <a:r>
              <a:rPr sz="610" b="1" i="0">
                <a:solidFill>
                  <a:srgbClr val="A1B0F7"/>
                </a:solidFill>
                <a:latin typeface="Arial"/>
              </a:rPr>
              <a:t>•  </a:t>
            </a:r>
            <a:r>
              <a:rPr sz="610" b="1" i="0">
                <a:solidFill>
                  <a:srgbClr val="000000"/>
                </a:solidFill>
                <a:latin typeface="Arial"/>
              </a:rPr>
              <a:t>Injury</a:t>
            </a:r>
            <a:r>
              <a:rPr sz="610" b="0" i="0">
                <a:solidFill>
                  <a:srgbClr val="1B2130"/>
                </a:solidFill>
                <a:latin typeface="Arial"/>
              </a:rPr>
              <a:t> — burn, trauma-haemorrhage</a:t>
            </a:r>
          </a:p>
          <a:p>
            <a:pPr algn="l">
              <a:lnSpc>
                <a:spcPct val="130000"/>
              </a:lnSpc>
              <a:spcAft>
                <a:spcPts val="120"/>
              </a:spcAft>
            </a:pPr>
            <a:r>
              <a:rPr sz="610" b="1" i="0">
                <a:solidFill>
                  <a:srgbClr val="A1B0F7"/>
                </a:solidFill>
                <a:latin typeface="Arial"/>
              </a:rPr>
              <a:t>•  </a:t>
            </a:r>
            <a:r>
              <a:rPr sz="610" b="1" i="0">
                <a:solidFill>
                  <a:srgbClr val="000000"/>
                </a:solidFill>
                <a:latin typeface="Arial"/>
              </a:rPr>
              <a:t>+ DMD</a:t>
            </a:r>
            <a:r>
              <a:rPr sz="610" b="0" i="0">
                <a:solidFill>
                  <a:srgbClr val="1B2130"/>
                </a:solidFill>
                <a:latin typeface="Arial"/>
              </a:rPr>
              <a:t> (mdx mouse) as a biological negative 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" y="3872890"/>
            <a:ext cx="3341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610" b="0" i="0">
                <a:solidFill>
                  <a:srgbClr val="1B2130"/>
                </a:solidFill>
                <a:latin typeface="Arial"/>
              </a:rPr>
              <a:t>Blood transcriptomes · GEO / BioProject · limma + empirical Bayes · covariates (age, sex, ethnicity) · human downsampled to n = 5, 200 iterations, median statistics.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" y="4330700"/>
            <a:ext cx="3341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4DBBD5"/>
                </a:solidFill>
                <a:latin typeface="Merriweather"/>
              </a:rPr>
              <a:t>03</a:t>
            </a:r>
            <a:r>
              <a:rPr sz="819" b="1" i="0">
                <a:solidFill>
                  <a:srgbClr val="000000"/>
                </a:solidFill>
                <a:latin typeface="Merriweather"/>
              </a:rPr>
              <a:t> · Granularity: cells disagree, pathways agree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" y="4449572"/>
            <a:ext cx="3341080" cy="1645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01752" y="4591304"/>
            <a:ext cx="3341080" cy="16459"/>
          </a:xfrm>
          <a:prstGeom prst="rect">
            <a:avLst/>
          </a:prstGeom>
          <a:solidFill>
            <a:srgbClr val="A1B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2" y="4646168"/>
            <a:ext cx="33410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80" b="0" i="0" spc="90">
                <a:solidFill>
                  <a:srgbClr val="5B6377"/>
                </a:solidFill>
                <a:latin typeface="Arial"/>
              </a:rPr>
              <a:t>MODULE LEVEL (BTM NES) · PEARSON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" y="4746752"/>
            <a:ext cx="3341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E9DB7"/>
                </a:solidFill>
                <a:latin typeface="Merriweather"/>
              </a:rPr>
              <a:t>ρ = 0.89–0.97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" y="4911344"/>
            <a:ext cx="3341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610" b="0" i="0">
                <a:solidFill>
                  <a:srgbClr val="1B2130"/>
                </a:solidFill>
                <a:latin typeface="Arial"/>
              </a:rPr>
              <a:t>Gene-level effect sizes correlate only </a:t>
            </a:r>
            <a:r>
              <a:rPr sz="610" b="1" i="0">
                <a:solidFill>
                  <a:srgbClr val="000000"/>
                </a:solidFill>
                <a:latin typeface="Arial"/>
              </a:rPr>
              <a:t>moderately</a:t>
            </a:r>
            <a:r>
              <a:rPr sz="610" b="0" i="0">
                <a:solidFill>
                  <a:srgbClr val="1B2130"/>
                </a:solidFill>
                <a:latin typeface="Arial"/>
              </a:rPr>
              <a:t>; module activation is </a:t>
            </a:r>
            <a:r>
              <a:rPr sz="610" b="1" i="0">
                <a:solidFill>
                  <a:srgbClr val="000000"/>
                </a:solidFill>
                <a:latin typeface="Arial"/>
              </a:rPr>
              <a:t>highly conserved</a:t>
            </a:r>
            <a:r>
              <a:rPr sz="610" b="0" i="0">
                <a:solidFill>
                  <a:srgbClr val="1B2130"/>
                </a:solidFill>
                <a:latin typeface="Arial"/>
              </a:rPr>
              <a:t>. Shared leading-edge genes = </a:t>
            </a:r>
            <a:r>
              <a:rPr sz="610" b="1" i="0">
                <a:solidFill>
                  <a:srgbClr val="000000"/>
                </a:solidFill>
                <a:latin typeface="Arial"/>
              </a:rPr>
              <a:t>67.5–79%</a:t>
            </a:r>
            <a:r>
              <a:rPr sz="610" b="0" i="0">
                <a:solidFill>
                  <a:srgbClr val="1B2130"/>
                </a:solidFill>
                <a:latin typeface="Arial"/>
              </a:rPr>
              <a:t> of mouse LEGs (70.5% pooled): the translational signal lives in the leading edge, not in all genes.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" y="5405653"/>
            <a:ext cx="3341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4DBBD5"/>
                </a:solidFill>
                <a:latin typeface="Merriweather"/>
              </a:rPr>
              <a:t>04</a:t>
            </a:r>
            <a:r>
              <a:rPr sz="819" b="1" i="0">
                <a:solidFill>
                  <a:srgbClr val="000000"/>
                </a:solidFill>
                <a:latin typeface="Merriweather"/>
              </a:rPr>
              <a:t> · Intensity &amp; kinetics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" y="5524525"/>
            <a:ext cx="3341080" cy="1645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01752" y="5666257"/>
            <a:ext cx="3341080" cy="16459"/>
          </a:xfrm>
          <a:prstGeom prst="rect">
            <a:avLst/>
          </a:prstGeom>
          <a:solidFill>
            <a:srgbClr val="A1B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1752" y="5721121"/>
            <a:ext cx="33410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80" b="0" i="0" spc="90">
                <a:solidFill>
                  <a:srgbClr val="5B6377"/>
                </a:solidFill>
                <a:latin typeface="Arial"/>
              </a:rPr>
              <a:t>INFECTION &amp; INJURY — CONSERVED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1752" y="5821705"/>
            <a:ext cx="3341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E9DB7"/>
                </a:solidFill>
                <a:latin typeface="Merriweather"/>
              </a:rPr>
              <a:t>ρ = 0.41–0.59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1752" y="5986297"/>
            <a:ext cx="3341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610" b="0" i="0">
                <a:solidFill>
                  <a:srgbClr val="1B2130"/>
                </a:solidFill>
                <a:latin typeface="Arial"/>
              </a:rPr>
              <a:t>Acute </a:t>
            </a:r>
            <a:r>
              <a:rPr sz="610" b="0" i="1">
                <a:solidFill>
                  <a:srgbClr val="1B2130"/>
                </a:solidFill>
                <a:latin typeface="Arial"/>
              </a:rPr>
              <a:t>S. aureus</a:t>
            </a:r>
            <a:r>
              <a:rPr sz="610" b="0" i="0">
                <a:solidFill>
                  <a:srgbClr val="1B2130"/>
                </a:solidFill>
                <a:latin typeface="Arial"/>
              </a:rPr>
              <a:t>, </a:t>
            </a:r>
            <a:r>
              <a:rPr sz="610" b="0" i="1">
                <a:solidFill>
                  <a:srgbClr val="1B2130"/>
                </a:solidFill>
                <a:latin typeface="Arial"/>
              </a:rPr>
              <a:t>E. coli</a:t>
            </a:r>
            <a:r>
              <a:rPr sz="610" b="0" i="0">
                <a:solidFill>
                  <a:srgbClr val="1B2130"/>
                </a:solidFill>
                <a:latin typeface="Arial"/>
              </a:rPr>
              <a:t> and burn engage evolutionarily stable programs; |ΔLog2FC| differences are smaller than in negative controls (WMW P &lt; 1 × 10⁻¹⁵).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1752" y="6376797"/>
            <a:ext cx="3341080" cy="16459"/>
          </a:xfrm>
          <a:prstGeom prst="rect">
            <a:avLst/>
          </a:prstGeom>
          <a:solidFill>
            <a:srgbClr val="A1B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1752" y="6431661"/>
            <a:ext cx="33410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80" b="0" i="0" spc="90">
                <a:solidFill>
                  <a:srgbClr val="5B6377"/>
                </a:solidFill>
                <a:latin typeface="Arial"/>
              </a:rPr>
              <a:t>SINGLE-DOSE VACCINATION — DIVERGES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1752" y="6532245"/>
            <a:ext cx="3341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E9DB7"/>
                </a:solidFill>
                <a:latin typeface="Merriweather"/>
              </a:rPr>
              <a:t>ρ = −0.32–0.27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" y="6696837"/>
            <a:ext cx="3341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610" b="0" i="0">
                <a:solidFill>
                  <a:srgbClr val="1B2130"/>
                </a:solidFill>
                <a:latin typeface="Arial"/>
              </a:rPr>
              <a:t>Fluad® and Engerix B® stay near baseline; preclinical immunogenicity may need boosters or stronger adjuvants.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1752" y="7087336"/>
            <a:ext cx="3341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610" b="0" i="0">
                <a:solidFill>
                  <a:srgbClr val="1B2130"/>
                </a:solidFill>
                <a:latin typeface="Arial"/>
              </a:rPr>
              <a:t>Timing ≠ chronology · mouse 2–6 h matches the human peak inflammatory window (days 1–3) → align by biological equivalence.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1752" y="7439787"/>
            <a:ext cx="3341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4DBBD5"/>
                </a:solidFill>
                <a:latin typeface="Merriweather"/>
              </a:rPr>
              <a:t>05</a:t>
            </a:r>
            <a:r>
              <a:rPr sz="819" b="1" i="0">
                <a:solidFill>
                  <a:srgbClr val="000000"/>
                </a:solidFill>
                <a:latin typeface="Merriweather"/>
              </a:rPr>
              <a:t> · Classification performance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1752" y="7558659"/>
            <a:ext cx="3341080" cy="1645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01752" y="7700391"/>
            <a:ext cx="3341080" cy="16459"/>
          </a:xfrm>
          <a:prstGeom prst="rect">
            <a:avLst/>
          </a:prstGeom>
          <a:solidFill>
            <a:srgbClr val="A1B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1752" y="7755255"/>
            <a:ext cx="33410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80" b="0" i="0" spc="90">
                <a:solidFill>
                  <a:srgbClr val="5B6377"/>
                </a:solidFill>
                <a:latin typeface="Arial"/>
              </a:rPr>
              <a:t>MOUSE SIGNATURES CALL HUMAN DIRECTION — BEST AT MODULE LEVEL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1752" y="7855839"/>
            <a:ext cx="3341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E9DB7"/>
                </a:solidFill>
                <a:latin typeface="Merriweather"/>
              </a:rPr>
              <a:t>0.84–0.98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1752" y="8020431"/>
            <a:ext cx="3341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610" b="0" i="0">
                <a:solidFill>
                  <a:srgbClr val="1B2130"/>
                </a:solidFill>
                <a:latin typeface="Arial"/>
              </a:rPr>
              <a:t>Module-level ROC-AUC; gene-level signatures in infection &amp; injury </a:t>
            </a:r>
            <a:r>
              <a:rPr sz="610" b="1" i="0">
                <a:solidFill>
                  <a:srgbClr val="000000"/>
                </a:solidFill>
                <a:latin typeface="Arial"/>
              </a:rPr>
              <a:t>0.64–0.74</a:t>
            </a:r>
            <a:r>
              <a:rPr sz="610" b="0" i="0">
                <a:solidFill>
                  <a:srgbClr val="1B2130"/>
                </a:solidFill>
                <a:latin typeface="Arial"/>
              </a:rPr>
              <a:t>; DMD negative control </a:t>
            </a:r>
            <a:r>
              <a:rPr sz="610" b="1" i="0">
                <a:solidFill>
                  <a:srgbClr val="000000"/>
                </a:solidFill>
                <a:latin typeface="Arial"/>
              </a:rPr>
              <a:t>0.48–0.61</a:t>
            </a:r>
            <a:r>
              <a:rPr sz="610" b="0" i="0">
                <a:solidFill>
                  <a:srgbClr val="1B2130"/>
                </a:solidFill>
                <a:latin typeface="Arial"/>
              </a:rPr>
              <a:t> (near random).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17152" y="2066544"/>
            <a:ext cx="3341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4DBBD5"/>
                </a:solidFill>
                <a:latin typeface="Merriweather"/>
              </a:rPr>
              <a:t>06</a:t>
            </a:r>
            <a:r>
              <a:rPr sz="819" b="1" i="0">
                <a:solidFill>
                  <a:srgbClr val="000000"/>
                </a:solidFill>
                <a:latin typeface="Merriweather"/>
              </a:rPr>
              <a:t> · Why genes diverge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17152" y="2185416"/>
            <a:ext cx="3341080" cy="1645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17152" y="2327148"/>
            <a:ext cx="3341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20"/>
              </a:spcAft>
            </a:pPr>
            <a:r>
              <a:rPr sz="610" b="1" i="0">
                <a:solidFill>
                  <a:srgbClr val="A1B0F7"/>
                </a:solidFill>
                <a:latin typeface="Arial"/>
              </a:rPr>
              <a:t>•  </a:t>
            </a:r>
            <a:r>
              <a:rPr sz="610" b="0" i="0">
                <a:solidFill>
                  <a:srgbClr val="1B2130"/>
                </a:solidFill>
                <a:latin typeface="Arial"/>
              </a:rPr>
              <a:t>Higher protein sequence identity → lower |ΔLog2FC| </a:t>
            </a:r>
            <a:r>
              <a:rPr sz="610" b="0" i="0">
                <a:solidFill>
                  <a:srgbClr val="1B2130"/>
                </a:solidFill>
                <a:latin typeface="Arial"/>
              </a:rPr>
              <a:t>(ρ = −0.08)</a:t>
            </a:r>
          </a:p>
          <a:p>
            <a:pPr algn="l">
              <a:lnSpc>
                <a:spcPct val="130000"/>
              </a:lnSpc>
              <a:spcAft>
                <a:spcPts val="120"/>
              </a:spcAft>
            </a:pPr>
            <a:r>
              <a:rPr sz="610" b="1" i="0">
                <a:solidFill>
                  <a:srgbClr val="A1B0F7"/>
                </a:solidFill>
                <a:latin typeface="Arial"/>
              </a:rPr>
              <a:t>•  </a:t>
            </a:r>
            <a:r>
              <a:rPr sz="610" b="0" i="0">
                <a:solidFill>
                  <a:srgbClr val="1B2130"/>
                </a:solidFill>
                <a:latin typeface="Arial"/>
              </a:rPr>
              <a:t>Greater TF availability / sharing </a:t>
            </a:r>
            <a:r>
              <a:rPr sz="610" b="0" i="0">
                <a:solidFill>
                  <a:srgbClr val="1B2130"/>
                </a:solidFill>
                <a:latin typeface="Arial"/>
              </a:rPr>
              <a:t>(ρ = −0.017 / −0.013)</a:t>
            </a:r>
          </a:p>
          <a:p>
            <a:pPr algn="l">
              <a:lnSpc>
                <a:spcPct val="130000"/>
              </a:lnSpc>
              <a:spcAft>
                <a:spcPts val="120"/>
              </a:spcAft>
            </a:pPr>
            <a:r>
              <a:rPr sz="610" b="1" i="0">
                <a:solidFill>
                  <a:srgbClr val="A1B0F7"/>
                </a:solidFill>
                <a:latin typeface="Arial"/>
              </a:rPr>
              <a:t>•  </a:t>
            </a:r>
            <a:r>
              <a:rPr sz="610" b="0" i="0">
                <a:solidFill>
                  <a:srgbClr val="1B2130"/>
                </a:solidFill>
                <a:latin typeface="Arial"/>
              </a:rPr>
              <a:t>Greater Kimura K80 distance → higher |ΔLog2FC| </a:t>
            </a:r>
            <a:r>
              <a:rPr sz="610" b="0" i="0">
                <a:solidFill>
                  <a:srgbClr val="1B2130"/>
                </a:solidFill>
                <a:latin typeface="Arial"/>
              </a:rPr>
              <a:t>(ρ = 0.10)</a:t>
            </a:r>
          </a:p>
          <a:p>
            <a:pPr algn="l">
              <a:lnSpc>
                <a:spcPct val="130000"/>
              </a:lnSpc>
              <a:spcAft>
                <a:spcPts val="120"/>
              </a:spcAft>
            </a:pPr>
            <a:r>
              <a:rPr sz="610" b="1" i="0">
                <a:solidFill>
                  <a:srgbClr val="A1B0F7"/>
                </a:solidFill>
                <a:latin typeface="Arial"/>
              </a:rPr>
              <a:t>•  </a:t>
            </a:r>
            <a:r>
              <a:rPr sz="610" b="0" i="0">
                <a:solidFill>
                  <a:srgbClr val="1B2130"/>
                </a:solidFill>
                <a:latin typeface="Arial"/>
              </a:rPr>
              <a:t>Enhancer multiplicity, pELS / dELS </a:t>
            </a:r>
            <a:r>
              <a:rPr sz="610" b="0" i="0">
                <a:solidFill>
                  <a:srgbClr val="1B2130"/>
                </a:solidFill>
                <a:latin typeface="Arial"/>
              </a:rPr>
              <a:t>(ρ = 0.036 / 0.039)</a:t>
            </a:r>
          </a:p>
          <a:p>
            <a:pPr algn="l">
              <a:lnSpc>
                <a:spcPct val="130000"/>
              </a:lnSpc>
              <a:spcAft>
                <a:spcPts val="120"/>
              </a:spcAft>
            </a:pPr>
            <a:r>
              <a:rPr sz="610" b="1" i="0">
                <a:solidFill>
                  <a:srgbClr val="A1B0F7"/>
                </a:solidFill>
                <a:latin typeface="Arial"/>
              </a:rPr>
              <a:t>•  </a:t>
            </a:r>
            <a:r>
              <a:rPr sz="610" b="0" i="0">
                <a:solidFill>
                  <a:srgbClr val="1B2130"/>
                </a:solidFill>
                <a:latin typeface="Arial"/>
              </a:rPr>
              <a:t>CRE turnover &amp; CTCF-bound pELS </a:t>
            </a:r>
            <a:r>
              <a:rPr sz="610" b="0" i="0">
                <a:solidFill>
                  <a:srgbClr val="1B2130"/>
                </a:solidFill>
                <a:latin typeface="Arial"/>
              </a:rPr>
              <a:t>(ρ = 0.042)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7152" y="3062478"/>
            <a:ext cx="3341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610" b="0" i="0">
                <a:solidFill>
                  <a:srgbClr val="1B2130"/>
                </a:solidFill>
                <a:latin typeface="Arial"/>
              </a:rPr>
              <a:t>Small per-gene effects, but a consistent direction: sequence constraint tracks </a:t>
            </a:r>
            <a:r>
              <a:rPr sz="610" b="1" i="0">
                <a:solidFill>
                  <a:srgbClr val="000000"/>
                </a:solidFill>
                <a:latin typeface="Arial"/>
              </a:rPr>
              <a:t>stability</a:t>
            </a:r>
            <a:r>
              <a:rPr sz="610" b="0" i="0">
                <a:solidFill>
                  <a:srgbClr val="1B2130"/>
                </a:solidFill>
                <a:latin typeface="Arial"/>
              </a:rPr>
              <a:t>; regulatory plasticity tracks </a:t>
            </a:r>
            <a:r>
              <a:rPr sz="610" b="1" i="0">
                <a:solidFill>
                  <a:srgbClr val="000000"/>
                </a:solidFill>
                <a:latin typeface="Arial"/>
              </a:rPr>
              <a:t>divergence</a:t>
            </a:r>
            <a:r>
              <a:rPr sz="610" b="0" i="0">
                <a:solidFill>
                  <a:srgbClr val="1B2130"/>
                </a:solidFill>
                <a:latin typeface="Arial"/>
              </a:rPr>
              <a:t>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7152" y="3414928"/>
            <a:ext cx="3341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4DBBD5"/>
                </a:solidFill>
                <a:latin typeface="Merriweather"/>
              </a:rPr>
              <a:t>07</a:t>
            </a:r>
            <a:r>
              <a:rPr sz="819" b="1" i="0">
                <a:solidFill>
                  <a:srgbClr val="000000"/>
                </a:solidFill>
                <a:latin typeface="Merriweather"/>
              </a:rPr>
              <a:t> · Multilayer modelling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17152" y="3533800"/>
            <a:ext cx="3341080" cy="1645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917152" y="3675532"/>
            <a:ext cx="3341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610" b="0" i="0">
                <a:solidFill>
                  <a:srgbClr val="1B2130"/>
                </a:solidFill>
                <a:latin typeface="Arial"/>
              </a:rPr>
              <a:t>leave-one-condition-out CV (4 folds) · 4 algorithms: linear/logistic · lasso · random forest · neural network.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17152" y="4027982"/>
            <a:ext cx="3341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610" b="0" i="0">
                <a:solidFill>
                  <a:srgbClr val="1B2130"/>
                </a:solidFill>
                <a:latin typeface="Arial"/>
              </a:rPr>
              <a:t>Mouse rank alone </a:t>
            </a:r>
            <a:r>
              <a:rPr sz="610" b="1" i="0">
                <a:solidFill>
                  <a:srgbClr val="000000"/>
                </a:solidFill>
                <a:latin typeface="Arial"/>
              </a:rPr>
              <a:t>R² = 0.001</a:t>
            </a:r>
            <a:r>
              <a:rPr sz="610" b="0" i="0">
                <a:solidFill>
                  <a:srgbClr val="1B2130"/>
                </a:solidFill>
                <a:latin typeface="Arial"/>
              </a:rPr>
              <a:t> and direction alone </a:t>
            </a:r>
            <a:r>
              <a:rPr sz="610" b="1" i="0">
                <a:solidFill>
                  <a:srgbClr val="000000"/>
                </a:solidFill>
                <a:latin typeface="Arial"/>
              </a:rPr>
              <a:t>ROC-AUC 0.511</a:t>
            </a:r>
            <a:r>
              <a:rPr sz="610" b="0" i="0">
                <a:solidFill>
                  <a:srgbClr val="1B2130"/>
                </a:solidFill>
                <a:latin typeface="Arial"/>
              </a:rPr>
              <a:t> — no transfer. Adding the biological layers lifts the random forest to </a:t>
            </a:r>
            <a:r>
              <a:rPr sz="610" b="1" i="0">
                <a:solidFill>
                  <a:srgbClr val="000000"/>
                </a:solidFill>
                <a:latin typeface="Arial"/>
              </a:rPr>
              <a:t>R² = 0.234</a:t>
            </a:r>
            <a:r>
              <a:rPr sz="610" b="0" i="0">
                <a:solidFill>
                  <a:srgbClr val="1B2130"/>
                </a:solidFill>
                <a:latin typeface="Arial"/>
              </a:rPr>
              <a:t> (human rank) and </a:t>
            </a:r>
            <a:r>
              <a:rPr sz="610" b="1" i="0">
                <a:solidFill>
                  <a:srgbClr val="000000"/>
                </a:solidFill>
                <a:latin typeface="Arial"/>
              </a:rPr>
              <a:t>ROC-AUC = 0.849</a:t>
            </a:r>
            <a:r>
              <a:rPr sz="610" b="0" i="0">
                <a:solidFill>
                  <a:srgbClr val="1B2130"/>
                </a:solidFill>
                <a:latin typeface="Arial"/>
              </a:rPr>
              <a:t> (direction); shared-LEG lasso 0.617 / 0.627.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17152" y="4485792"/>
            <a:ext cx="3341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4DBBD5"/>
                </a:solidFill>
                <a:latin typeface="Merriweather"/>
              </a:rPr>
              <a:t>08</a:t>
            </a:r>
            <a:r>
              <a:rPr sz="819" b="1" i="0">
                <a:solidFill>
                  <a:srgbClr val="000000"/>
                </a:solidFill>
                <a:latin typeface="Merriweather"/>
              </a:rPr>
              <a:t> · Conclusions &amp; availability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917152" y="4604664"/>
            <a:ext cx="3341080" cy="1645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917152" y="4746396"/>
            <a:ext cx="3341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610" b="0" i="0">
                <a:solidFill>
                  <a:srgbClr val="1B2130"/>
                </a:solidFill>
                <a:latin typeface="Arial"/>
              </a:rPr>
              <a:t>Translatability is not a fixed property of the mouse: it is a function of </a:t>
            </a:r>
            <a:r>
              <a:rPr sz="610" b="1" i="0">
                <a:solidFill>
                  <a:srgbClr val="000000"/>
                </a:solidFill>
                <a:latin typeface="Arial"/>
              </a:rPr>
              <a:t>granularity</a:t>
            </a:r>
            <a:r>
              <a:rPr sz="610" b="0" i="0">
                <a:solidFill>
                  <a:srgbClr val="1B2130"/>
                </a:solidFill>
                <a:latin typeface="Arial"/>
              </a:rPr>
              <a:t>, </a:t>
            </a:r>
            <a:r>
              <a:rPr sz="610" b="1" i="0">
                <a:solidFill>
                  <a:srgbClr val="000000"/>
                </a:solidFill>
                <a:latin typeface="Arial"/>
              </a:rPr>
              <a:t>stimulus intensity</a:t>
            </a:r>
            <a:r>
              <a:rPr sz="610" b="0" i="0">
                <a:solidFill>
                  <a:srgbClr val="1B2130"/>
                </a:solidFill>
                <a:latin typeface="Arial"/>
              </a:rPr>
              <a:t> and </a:t>
            </a:r>
            <a:r>
              <a:rPr sz="610" b="1" i="0">
                <a:solidFill>
                  <a:srgbClr val="000000"/>
                </a:solidFill>
                <a:latin typeface="Arial"/>
              </a:rPr>
              <a:t>temporal alignment</a:t>
            </a:r>
            <a:r>
              <a:rPr sz="610" b="0" i="0">
                <a:solidFill>
                  <a:srgbClr val="1B2130"/>
                </a:solidFill>
                <a:latin typeface="Arial"/>
              </a:rPr>
              <a:t>. Four out-of-fold scores — </a:t>
            </a:r>
            <a:r>
              <a:rPr sz="610" b="0" i="0">
                <a:solidFill>
                  <a:srgbClr val="1B2130"/>
                </a:solidFill>
                <a:latin typeface="Arial"/>
              </a:rPr>
              <a:t>score_shared</a:t>
            </a:r>
            <a:r>
              <a:rPr sz="610" b="0" i="0">
                <a:solidFill>
                  <a:srgbClr val="1B2130"/>
                </a:solidFill>
                <a:latin typeface="Arial"/>
              </a:rPr>
              <a:t>, </a:t>
            </a:r>
            <a:r>
              <a:rPr sz="610" b="0" i="0">
                <a:solidFill>
                  <a:srgbClr val="1B2130"/>
                </a:solidFill>
                <a:latin typeface="Arial"/>
              </a:rPr>
              <a:t>score_rank</a:t>
            </a:r>
            <a:r>
              <a:rPr sz="610" b="0" i="0">
                <a:solidFill>
                  <a:srgbClr val="1B2130"/>
                </a:solidFill>
                <a:latin typeface="Arial"/>
              </a:rPr>
              <a:t>, </a:t>
            </a:r>
            <a:r>
              <a:rPr sz="610" b="0" i="0">
                <a:solidFill>
                  <a:srgbClr val="1B2130"/>
                </a:solidFill>
                <a:latin typeface="Arial"/>
              </a:rPr>
              <a:t>score_direction</a:t>
            </a:r>
            <a:r>
              <a:rPr sz="610" b="0" i="0">
                <a:solidFill>
                  <a:srgbClr val="1B2130"/>
                </a:solidFill>
                <a:latin typeface="Arial"/>
              </a:rPr>
              <a:t>, </a:t>
            </a:r>
            <a:r>
              <a:rPr sz="610" b="0" i="0">
                <a:solidFill>
                  <a:srgbClr val="1B2130"/>
                </a:solidFill>
                <a:latin typeface="Arial"/>
              </a:rPr>
              <a:t>score_translational</a:t>
            </a:r>
            <a:r>
              <a:rPr sz="610" b="0" i="0">
                <a:solidFill>
                  <a:srgbClr val="1B2130"/>
                </a:solidFill>
                <a:latin typeface="Arial"/>
              </a:rPr>
              <a:t> — prioritise candidate genes.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17152" y="5309565"/>
            <a:ext cx="3341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610" b="0" i="0">
                <a:solidFill>
                  <a:srgbClr val="1B2130"/>
                </a:solidFill>
                <a:latin typeface="Arial"/>
              </a:rPr>
              <a:t>Limitations: small murine cohorts; two inbred strains (C57BL/6, CB6F1); single-dose vs prime-boost; blood-only BTMs; one-to-one Ensembl orthologs.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917152" y="5662015"/>
            <a:ext cx="1077117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62872" y="5707735"/>
            <a:ext cx="985677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" b="0" i="0" spc="90">
                <a:solidFill>
                  <a:srgbClr val="4DBBD5"/>
                </a:solidFill>
                <a:latin typeface="Arial"/>
              </a:rPr>
              <a:t>PIPELINE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62872" y="5808319"/>
            <a:ext cx="985677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60" b="0" i="0">
                <a:solidFill>
                  <a:srgbClr val="000000"/>
                </a:solidFill>
                <a:latin typeface="Merriweather"/>
              </a:rPr>
              <a:t>mousetohuman_multilayer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62872" y="5918047"/>
            <a:ext cx="9856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450" b="0" i="0">
                <a:solidFill>
                  <a:srgbClr val="5B6377"/>
                </a:solidFill>
                <a:latin typeface="Arial"/>
              </a:rPr>
              <a:t>Full R Markdown pipeline: curation, QC, limma DGE, GSEA, evolution/regulation, LOCO modelling.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62872" y="6146647"/>
            <a:ext cx="985677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40" b="0" i="0">
                <a:solidFill>
                  <a:srgbClr val="4361EE"/>
                </a:solidFill>
                <a:latin typeface="Arial"/>
              </a:rPr>
              <a:t>github.com/wapsyed/mousetohuman_multilayer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49133" y="5662015"/>
            <a:ext cx="1077117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94853" y="5707735"/>
            <a:ext cx="985677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" b="0" i="0" spc="90">
                <a:solidFill>
                  <a:srgbClr val="4DBBD5"/>
                </a:solidFill>
                <a:latin typeface="Arial"/>
              </a:rPr>
              <a:t>DOCUMENTATION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94853" y="5808319"/>
            <a:ext cx="985677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60" b="0" i="0">
                <a:solidFill>
                  <a:srgbClr val="000000"/>
                </a:solidFill>
                <a:latin typeface="Merriweather"/>
              </a:rPr>
              <a:t>Project site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94853" y="5918047"/>
            <a:ext cx="9856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450" b="0" i="0">
                <a:solidFill>
                  <a:srgbClr val="5B6377"/>
                </a:solidFill>
                <a:latin typeface="Arial"/>
              </a:rPr>
              <a:t>Overview, complete methodology and the notebook map.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94853" y="6146647"/>
            <a:ext cx="985677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40" b="0" i="0">
                <a:solidFill>
                  <a:srgbClr val="4361EE"/>
                </a:solidFill>
                <a:latin typeface="Arial"/>
              </a:rPr>
              <a:t>wapsyed.github.io/mousetohuman_multilayer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81115" y="5662015"/>
            <a:ext cx="1077117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26835" y="5707735"/>
            <a:ext cx="985677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" b="0" i="0" spc="90">
                <a:solidFill>
                  <a:srgbClr val="4DBBD5"/>
                </a:solidFill>
                <a:latin typeface="Arial"/>
              </a:rPr>
              <a:t>APPLY IT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26835" y="5808319"/>
            <a:ext cx="985677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60" b="0" i="0">
                <a:solidFill>
                  <a:srgbClr val="000000"/>
                </a:solidFill>
                <a:latin typeface="Merriweather"/>
              </a:rPr>
              <a:t>mousetohuman_predict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26835" y="5918047"/>
            <a:ext cx="9856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450" b="0" i="0">
                <a:solidFill>
                  <a:srgbClr val="5B6377"/>
                </a:solidFill>
                <a:latin typeface="Arial"/>
              </a:rPr>
              <a:t>Notebook: DGE input → GSEA → prediction of the four scores. Runs via Binder.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26835" y="6146647"/>
            <a:ext cx="985677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40" b="0" i="0">
                <a:solidFill>
                  <a:srgbClr val="4361EE"/>
                </a:solidFill>
                <a:latin typeface="Arial"/>
              </a:rPr>
              <a:t>github.com/wapsyed/mousetohuman_predict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0" y="9210659"/>
            <a:ext cx="7559984" cy="1481328"/>
          </a:xfrm>
          <a:prstGeom prst="rect">
            <a:avLst/>
          </a:prstGeom>
          <a:solidFill>
            <a:srgbClr val="F6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0" y="9210659"/>
            <a:ext cx="7559984" cy="7315"/>
          </a:xfrm>
          <a:prstGeom prst="rect">
            <a:avLst/>
          </a:prstGeom>
          <a:solidFill>
            <a:srgbClr val="D9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01-graphical-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70" y="9283811"/>
            <a:ext cx="1071186" cy="65836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301752" y="9978755"/>
            <a:ext cx="165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30" b="1" i="0">
                <a:solidFill>
                  <a:srgbClr val="000000"/>
                </a:solidFill>
                <a:latin typeface="Arial"/>
              </a:rPr>
              <a:t>Graphical abstract</a:t>
            </a:r>
            <a:r>
              <a:rPr sz="430" b="0" i="0">
                <a:solidFill>
                  <a:srgbClr val="5B6377"/>
                </a:solidFill>
                <a:latin typeface="Arial"/>
              </a:rPr>
              <a:t> — from mouse expression and the sequence/regulatory layers to a human prediction.</a:t>
            </a:r>
          </a:p>
        </p:txBody>
      </p:sp>
      <p:pic>
        <p:nvPicPr>
          <p:cNvPr id="85" name="Picture 84" descr="fig4-modu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8002" y="9283811"/>
            <a:ext cx="1037428" cy="658368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2068304" y="9978755"/>
            <a:ext cx="165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30" b="1" i="0">
                <a:solidFill>
                  <a:srgbClr val="000000"/>
                </a:solidFill>
                <a:latin typeface="Arial"/>
              </a:rPr>
              <a:t>Fig. 4</a:t>
            </a:r>
            <a:r>
              <a:rPr sz="430" b="0" i="0">
                <a:solidFill>
                  <a:srgbClr val="5B6377"/>
                </a:solidFill>
                <a:latin typeface="Arial"/>
              </a:rPr>
              <a:t> — BTM module-level correlation and classification performance.</a:t>
            </a:r>
          </a:p>
        </p:txBody>
      </p:sp>
      <p:pic>
        <p:nvPicPr>
          <p:cNvPr id="87" name="Picture 86" descr="fig3-classific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6056" y="9283811"/>
            <a:ext cx="1114425" cy="658368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3834856" y="9978755"/>
            <a:ext cx="165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30" b="1" i="0">
                <a:solidFill>
                  <a:srgbClr val="000000"/>
                </a:solidFill>
                <a:latin typeface="Arial"/>
              </a:rPr>
              <a:t>Fig. 3</a:t>
            </a:r>
            <a:r>
              <a:rPr sz="430" b="0" i="0">
                <a:solidFill>
                  <a:srgbClr val="5B6377"/>
                </a:solidFill>
                <a:latin typeface="Arial"/>
              </a:rPr>
              <a:t> — ROC-AUC / PR-AUC matrices; DMD negative control.</a:t>
            </a:r>
          </a:p>
        </p:txBody>
      </p:sp>
      <p:pic>
        <p:nvPicPr>
          <p:cNvPr id="89" name="Picture 88" descr="fig7-mode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3952" y="9283811"/>
            <a:ext cx="1271736" cy="658368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5601408" y="9978755"/>
            <a:ext cx="165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30" b="1" i="0">
                <a:solidFill>
                  <a:srgbClr val="000000"/>
                </a:solidFill>
                <a:latin typeface="Arial"/>
              </a:rPr>
              <a:t>Fig. 7</a:t>
            </a:r>
            <a:r>
              <a:rPr sz="430" b="0" i="0">
                <a:solidFill>
                  <a:srgbClr val="5B6377"/>
                </a:solidFill>
                <a:latin typeface="Arial"/>
              </a:rPr>
              <a:t> — multilayer modelling across algorithms and feature layers.</a:t>
            </a:r>
          </a:p>
        </p:txBody>
      </p:sp>
      <p:sp>
        <p:nvSpPr>
          <p:cNvPr id="91" name="Rectangle 90"/>
          <p:cNvSpPr/>
          <p:nvPr/>
        </p:nvSpPr>
        <p:spPr>
          <a:xfrm>
            <a:off x="0" y="10472531"/>
            <a:ext cx="7559984" cy="7315"/>
          </a:xfrm>
          <a:prstGeom prst="rect">
            <a:avLst/>
          </a:prstGeom>
          <a:solidFill>
            <a:srgbClr val="D9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01752" y="10509107"/>
            <a:ext cx="34782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00" b="0" i="0">
                <a:solidFill>
                  <a:srgbClr val="5B6377"/>
                </a:solidFill>
                <a:latin typeface="Arial"/>
              </a:rPr>
              <a:t>Mouse2Human · multilayer — poster (A4) · September 2026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779992" y="10509107"/>
            <a:ext cx="34782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00" b="0" i="0">
                <a:solidFill>
                  <a:srgbClr val="4361EE"/>
                </a:solidFill>
                <a:latin typeface="Arial"/>
              </a:rPr>
              <a:t>Figures from the manuscript · Genes and Immunity (under review)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mice to humans — poster (A4)</dc:title>
  <dc:subject/>
  <dc:creator>Wasim Aluísio Prates-Syed · Cabral-Miranda Lab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